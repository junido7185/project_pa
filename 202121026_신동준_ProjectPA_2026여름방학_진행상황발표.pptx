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328" r:id="rId2"/>
    <p:sldId id="329" r:id="rId3"/>
    <p:sldId id="330" r:id="rId4"/>
    <p:sldId id="331" r:id="rId5"/>
    <p:sldId id="335" r:id="rId6"/>
    <p:sldId id="332" r:id="rId7"/>
    <p:sldId id="333" r:id="rId8"/>
    <p:sldId id="334" r:id="rId9"/>
  </p:sldIdLst>
  <p:sldSz cx="18288000" cy="10287000"/>
  <p:notesSz cx="6858000" cy="9144000"/>
  <p:embeddedFontLst>
    <p:embeddedFont>
      <p:font typeface="GangwonEduPower" panose="020B0600000101010101" charset="-127"/>
      <p:regular r:id="rId11"/>
    </p:embeddedFont>
    <p:embeddedFont>
      <p:font typeface="Pretendard" panose="02000503000000020004" pitchFamily="2" charset="-127"/>
      <p:regular r:id="rId12"/>
      <p:bold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4F"/>
    <a:srgbClr val="142235"/>
    <a:srgbClr val="D4714A"/>
    <a:srgbClr val="5BAFC0"/>
    <a:srgbClr val="06402B"/>
    <a:srgbClr val="15704D"/>
    <a:srgbClr val="C0504D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2" autoAdjust="0"/>
    <p:restoredTop sz="94622" autoAdjust="0"/>
  </p:normalViewPr>
  <p:slideViewPr>
    <p:cSldViewPr>
      <p:cViewPr varScale="1">
        <p:scale>
          <a:sx n="62" d="100"/>
          <a:sy n="62" d="100"/>
        </p:scale>
        <p:origin x="60" y="3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6FD693-78CC-42D8-BD8A-D4CB9079AFC9}" type="doc">
      <dgm:prSet loTypeId="urn:microsoft.com/office/officeart/2005/8/layout/cycle5" loCatId="cycle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pPr latinLnBrk="1"/>
          <a:endParaRPr lang="ko-KR" altLang="en-US"/>
        </a:p>
      </dgm:t>
    </dgm:pt>
    <dgm:pt modelId="{072E0934-D8F5-469D-8EB8-BB5258C0E381}">
      <dgm:prSet phldrT="[텍스트]"/>
      <dgm:spPr/>
      <dgm:t>
        <a:bodyPr/>
        <a:lstStyle/>
        <a:p>
          <a:pPr latinLnBrk="1">
            <a:buNone/>
          </a:pPr>
          <a:r>
            <a:rPr 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NPC </a:t>
          </a:r>
          <a:r>
            <a:rPr lang="en-US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생산</a:t>
          </a:r>
          <a:r>
            <a:rPr 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
</a:t>
          </a:r>
          <a:r>
            <a:rPr lang="en-US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농부</a:t>
          </a:r>
          <a:r>
            <a: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· </a:t>
          </a:r>
          <a:r>
            <a:rPr lang="en-US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광부</a:t>
          </a:r>
          <a:r>
            <a: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· </a:t>
          </a:r>
          <a:r>
            <a:rPr lang="en-US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벌목꾼</a:t>
          </a:r>
          <a:endParaRPr lang="ko-KR" altLang="en-US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EC3BA1EF-51BF-4154-9B06-8DD87651C4E9}" type="parTrans" cxnId="{3F965077-A4DF-49B2-8A82-96518E4CD35E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1F8903EE-907D-4554-A491-FEDA37DDD2D7}" type="sibTrans" cxnId="{3F965077-A4DF-49B2-8A82-96518E4CD35E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28E89DA9-D779-4D01-A390-2AFDDD21B145}">
      <dgm:prSet phldrT="[텍스트]"/>
      <dgm:spPr/>
      <dgm:t>
        <a:bodyPr/>
        <a:lstStyle/>
        <a:p>
          <a:pPr latinLnBrk="1">
            <a:buNone/>
          </a:pPr>
          <a:r>
            <a:rPr lang="en-US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플레이어 매입
</a:t>
          </a:r>
          <a:r>
            <a:rPr 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상점에서 원자재 구매</a:t>
          </a:r>
          <a:endParaRPr lang="ko-KR" altLang="en-US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09315D61-147A-4BA1-B119-84BEC249F3F6}" type="parTrans" cxnId="{60E3488A-B46D-4229-BCD6-218FF5DA693B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59E01E93-50D2-4DD9-AE8E-726EC982F585}" type="sibTrans" cxnId="{60E3488A-B46D-4229-BCD6-218FF5DA693B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A8F4FD7C-972D-441E-ACD7-0C502BB245C2}">
      <dgm:prSet phldrT="[텍스트]"/>
      <dgm:spPr/>
      <dgm:t>
        <a:bodyPr/>
        <a:lstStyle/>
        <a:p>
          <a:pPr latinLnBrk="1">
            <a:buNone/>
          </a:pPr>
          <a:r>
            <a:rPr lang="en-US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가공 / 제작
</a:t>
          </a:r>
          <a:r>
            <a:rPr 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공방 · 전문가 NPC</a:t>
          </a:r>
          <a:endParaRPr lang="ko-KR" altLang="en-US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AE60BD01-8084-4617-8B0C-1301FDCD8D80}" type="parTrans" cxnId="{28C33FE5-96DE-4F02-8702-F21E840B79BA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D4847339-7399-4065-88A6-EF8B90D96A6A}" type="sibTrans" cxnId="{28C33FE5-96DE-4F02-8702-F21E840B79BA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5FF6CDAE-241C-4C2C-A17D-1998E6191565}">
      <dgm:prSet phldrT="[텍스트]"/>
      <dgm:spPr/>
      <dgm:t>
        <a:bodyPr/>
        <a:lstStyle/>
        <a:p>
          <a:pPr latinLnBrk="1">
            <a:buNone/>
          </a:pPr>
          <a:r>
            <a:rPr lang="en-US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진열 · 가격 책정
</a:t>
          </a:r>
          <a:r>
            <a:rPr 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ShopSlot / DisplayPrice</a:t>
          </a:r>
          <a:endParaRPr lang="ko-KR" altLang="en-US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AE2E6AB6-31CE-4589-A242-3CD0E89B6B31}" type="parTrans" cxnId="{E32E0034-6398-47D6-9A12-40161D0E18A5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1BC1A3EA-FD0F-4486-814A-C6BA6E434413}" type="sibTrans" cxnId="{E32E0034-6398-47D6-9A12-40161D0E18A5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56A96A02-153A-4DC7-B855-7241DAB20E44}">
      <dgm:prSet phldrT="[텍스트]"/>
      <dgm:spPr/>
      <dgm:t>
        <a:bodyPr/>
        <a:lstStyle/>
        <a:p>
          <a:pPr latinLnBrk="1">
            <a:buNone/>
          </a:pPr>
          <a:r>
            <a:rPr lang="en-US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판매</a:t>
          </a:r>
          <a:r>
            <a:rPr 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· </a:t>
          </a:r>
          <a:r>
            <a:rPr lang="en-US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재투자</a:t>
          </a:r>
          <a:r>
            <a:rPr 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
</a:t>
          </a:r>
          <a:r>
            <a:rPr lang="en-US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매출</a:t>
          </a:r>
          <a:r>
            <a: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→ </a:t>
          </a:r>
          <a:r>
            <a:rPr lang="en-US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확장</a:t>
          </a:r>
          <a:r>
            <a: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/ </a:t>
          </a:r>
          <a:r>
            <a:rPr lang="en-US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고용</a:t>
          </a:r>
          <a:endParaRPr lang="ko-KR" altLang="en-US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B936E49E-C75A-4339-9474-5CB54536B17B}" type="parTrans" cxnId="{8DEA71DF-476A-4708-8F2C-B952EBF3CBB0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253C5E94-D9D4-4824-B9EA-B84C6BEC1966}" type="sibTrans" cxnId="{8DEA71DF-476A-4708-8F2C-B952EBF3CBB0}">
      <dgm:prSet/>
      <dgm:spPr/>
      <dgm:t>
        <a:bodyPr/>
        <a:lstStyle/>
        <a:p>
          <a:pPr latinLnBrk="1"/>
          <a:endParaRPr lang="ko-KR" altLang="en-US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gm:t>
    </dgm:pt>
    <dgm:pt modelId="{59F4D8FF-0E11-49A9-894B-A240DD1CC6BB}" type="pres">
      <dgm:prSet presAssocID="{C96FD693-78CC-42D8-BD8A-D4CB9079AFC9}" presName="cycle" presStyleCnt="0">
        <dgm:presLayoutVars>
          <dgm:dir/>
          <dgm:resizeHandles val="exact"/>
        </dgm:presLayoutVars>
      </dgm:prSet>
      <dgm:spPr/>
    </dgm:pt>
    <dgm:pt modelId="{CAF2F9F7-2E46-4185-887B-D0B34E4CE08B}" type="pres">
      <dgm:prSet presAssocID="{072E0934-D8F5-469D-8EB8-BB5258C0E381}" presName="node" presStyleLbl="node1" presStyleIdx="0" presStyleCnt="5">
        <dgm:presLayoutVars>
          <dgm:bulletEnabled val="1"/>
        </dgm:presLayoutVars>
      </dgm:prSet>
      <dgm:spPr/>
    </dgm:pt>
    <dgm:pt modelId="{F56F4874-2D4D-4CCE-8385-8D041952C691}" type="pres">
      <dgm:prSet presAssocID="{072E0934-D8F5-469D-8EB8-BB5258C0E381}" presName="spNode" presStyleCnt="0"/>
      <dgm:spPr/>
    </dgm:pt>
    <dgm:pt modelId="{F16F9EF0-03D2-4BA2-8271-742AA7900651}" type="pres">
      <dgm:prSet presAssocID="{1F8903EE-907D-4554-A491-FEDA37DDD2D7}" presName="sibTrans" presStyleLbl="sibTrans1D1" presStyleIdx="0" presStyleCnt="5"/>
      <dgm:spPr/>
    </dgm:pt>
    <dgm:pt modelId="{4562302A-528D-47BD-8947-4CEE5BA74660}" type="pres">
      <dgm:prSet presAssocID="{28E89DA9-D779-4D01-A390-2AFDDD21B145}" presName="node" presStyleLbl="node1" presStyleIdx="1" presStyleCnt="5">
        <dgm:presLayoutVars>
          <dgm:bulletEnabled val="1"/>
        </dgm:presLayoutVars>
      </dgm:prSet>
      <dgm:spPr/>
    </dgm:pt>
    <dgm:pt modelId="{9D5BF1CD-60C5-406E-9639-DBA7BD0D73F1}" type="pres">
      <dgm:prSet presAssocID="{28E89DA9-D779-4D01-A390-2AFDDD21B145}" presName="spNode" presStyleCnt="0"/>
      <dgm:spPr/>
    </dgm:pt>
    <dgm:pt modelId="{2CE36618-DFA4-4E7C-A3AF-C968C88C3230}" type="pres">
      <dgm:prSet presAssocID="{59E01E93-50D2-4DD9-AE8E-726EC982F585}" presName="sibTrans" presStyleLbl="sibTrans1D1" presStyleIdx="1" presStyleCnt="5"/>
      <dgm:spPr/>
    </dgm:pt>
    <dgm:pt modelId="{300AE22A-080A-4545-9EC1-24B951893B40}" type="pres">
      <dgm:prSet presAssocID="{A8F4FD7C-972D-441E-ACD7-0C502BB245C2}" presName="node" presStyleLbl="node1" presStyleIdx="2" presStyleCnt="5">
        <dgm:presLayoutVars>
          <dgm:bulletEnabled val="1"/>
        </dgm:presLayoutVars>
      </dgm:prSet>
      <dgm:spPr/>
    </dgm:pt>
    <dgm:pt modelId="{34F2FE60-AE81-4F64-92B0-8E1C255FC862}" type="pres">
      <dgm:prSet presAssocID="{A8F4FD7C-972D-441E-ACD7-0C502BB245C2}" presName="spNode" presStyleCnt="0"/>
      <dgm:spPr/>
    </dgm:pt>
    <dgm:pt modelId="{4E32A167-A341-4830-A691-4BBC10AD7AD2}" type="pres">
      <dgm:prSet presAssocID="{D4847339-7399-4065-88A6-EF8B90D96A6A}" presName="sibTrans" presStyleLbl="sibTrans1D1" presStyleIdx="2" presStyleCnt="5"/>
      <dgm:spPr/>
    </dgm:pt>
    <dgm:pt modelId="{257DCEF4-7D3A-4CDE-B3F4-451DDEEDA4EC}" type="pres">
      <dgm:prSet presAssocID="{5FF6CDAE-241C-4C2C-A17D-1998E6191565}" presName="node" presStyleLbl="node1" presStyleIdx="3" presStyleCnt="5">
        <dgm:presLayoutVars>
          <dgm:bulletEnabled val="1"/>
        </dgm:presLayoutVars>
      </dgm:prSet>
      <dgm:spPr/>
    </dgm:pt>
    <dgm:pt modelId="{94C265BE-5128-485B-A772-F6F9652FB426}" type="pres">
      <dgm:prSet presAssocID="{5FF6CDAE-241C-4C2C-A17D-1998E6191565}" presName="spNode" presStyleCnt="0"/>
      <dgm:spPr/>
    </dgm:pt>
    <dgm:pt modelId="{0B19DF6F-C736-4E56-9379-1BABF7B5F2DD}" type="pres">
      <dgm:prSet presAssocID="{1BC1A3EA-FD0F-4486-814A-C6BA6E434413}" presName="sibTrans" presStyleLbl="sibTrans1D1" presStyleIdx="3" presStyleCnt="5"/>
      <dgm:spPr/>
    </dgm:pt>
    <dgm:pt modelId="{CC5169A7-1912-4A55-B937-8810B28D37EA}" type="pres">
      <dgm:prSet presAssocID="{56A96A02-153A-4DC7-B855-7241DAB20E44}" presName="node" presStyleLbl="node1" presStyleIdx="4" presStyleCnt="5">
        <dgm:presLayoutVars>
          <dgm:bulletEnabled val="1"/>
        </dgm:presLayoutVars>
      </dgm:prSet>
      <dgm:spPr/>
    </dgm:pt>
    <dgm:pt modelId="{2E3E49FD-D74B-4AEA-9FBA-6AB2BBE91037}" type="pres">
      <dgm:prSet presAssocID="{56A96A02-153A-4DC7-B855-7241DAB20E44}" presName="spNode" presStyleCnt="0"/>
      <dgm:spPr/>
    </dgm:pt>
    <dgm:pt modelId="{100C7B82-6D7B-4D25-95FD-F9BBF0E3437B}" type="pres">
      <dgm:prSet presAssocID="{253C5E94-D9D4-4824-B9EA-B84C6BEC1966}" presName="sibTrans" presStyleLbl="sibTrans1D1" presStyleIdx="4" presStyleCnt="5"/>
      <dgm:spPr/>
    </dgm:pt>
  </dgm:ptLst>
  <dgm:cxnLst>
    <dgm:cxn modelId="{1DDEFC2E-B51A-476C-A3B5-12E2C75AB667}" type="presOf" srcId="{28E89DA9-D779-4D01-A390-2AFDDD21B145}" destId="{4562302A-528D-47BD-8947-4CEE5BA74660}" srcOrd="0" destOrd="0" presId="urn:microsoft.com/office/officeart/2005/8/layout/cycle5"/>
    <dgm:cxn modelId="{E32E0034-6398-47D6-9A12-40161D0E18A5}" srcId="{C96FD693-78CC-42D8-BD8A-D4CB9079AFC9}" destId="{5FF6CDAE-241C-4C2C-A17D-1998E6191565}" srcOrd="3" destOrd="0" parTransId="{AE2E6AB6-31CE-4589-A242-3CD0E89B6B31}" sibTransId="{1BC1A3EA-FD0F-4486-814A-C6BA6E434413}"/>
    <dgm:cxn modelId="{5FFD665D-0233-4727-A065-A2A64E1A56F3}" type="presOf" srcId="{59E01E93-50D2-4DD9-AE8E-726EC982F585}" destId="{2CE36618-DFA4-4E7C-A3AF-C968C88C3230}" srcOrd="0" destOrd="0" presId="urn:microsoft.com/office/officeart/2005/8/layout/cycle5"/>
    <dgm:cxn modelId="{06FDD265-65B5-4CEC-8EF6-4F0D451FCDB1}" type="presOf" srcId="{1BC1A3EA-FD0F-4486-814A-C6BA6E434413}" destId="{0B19DF6F-C736-4E56-9379-1BABF7B5F2DD}" srcOrd="0" destOrd="0" presId="urn:microsoft.com/office/officeart/2005/8/layout/cycle5"/>
    <dgm:cxn modelId="{3F965077-A4DF-49B2-8A82-96518E4CD35E}" srcId="{C96FD693-78CC-42D8-BD8A-D4CB9079AFC9}" destId="{072E0934-D8F5-469D-8EB8-BB5258C0E381}" srcOrd="0" destOrd="0" parTransId="{EC3BA1EF-51BF-4154-9B06-8DD87651C4E9}" sibTransId="{1F8903EE-907D-4554-A491-FEDA37DDD2D7}"/>
    <dgm:cxn modelId="{60E3488A-B46D-4229-BCD6-218FF5DA693B}" srcId="{C96FD693-78CC-42D8-BD8A-D4CB9079AFC9}" destId="{28E89DA9-D779-4D01-A390-2AFDDD21B145}" srcOrd="1" destOrd="0" parTransId="{09315D61-147A-4BA1-B119-84BEC249F3F6}" sibTransId="{59E01E93-50D2-4DD9-AE8E-726EC982F585}"/>
    <dgm:cxn modelId="{A58015A0-6DBC-4C0A-8B61-282BA6D54867}" type="presOf" srcId="{C96FD693-78CC-42D8-BD8A-D4CB9079AFC9}" destId="{59F4D8FF-0E11-49A9-894B-A240DD1CC6BB}" srcOrd="0" destOrd="0" presId="urn:microsoft.com/office/officeart/2005/8/layout/cycle5"/>
    <dgm:cxn modelId="{8BA17AA2-28F0-49EA-8548-E19EB63BFB96}" type="presOf" srcId="{5FF6CDAE-241C-4C2C-A17D-1998E6191565}" destId="{257DCEF4-7D3A-4CDE-B3F4-451DDEEDA4EC}" srcOrd="0" destOrd="0" presId="urn:microsoft.com/office/officeart/2005/8/layout/cycle5"/>
    <dgm:cxn modelId="{B440CAC5-272D-4DFA-B8F3-A765DF845E5D}" type="presOf" srcId="{D4847339-7399-4065-88A6-EF8B90D96A6A}" destId="{4E32A167-A341-4830-A691-4BBC10AD7AD2}" srcOrd="0" destOrd="0" presId="urn:microsoft.com/office/officeart/2005/8/layout/cycle5"/>
    <dgm:cxn modelId="{23A91DD2-AD12-4A5F-A42F-5767DD8295D2}" type="presOf" srcId="{1F8903EE-907D-4554-A491-FEDA37DDD2D7}" destId="{F16F9EF0-03D2-4BA2-8271-742AA7900651}" srcOrd="0" destOrd="0" presId="urn:microsoft.com/office/officeart/2005/8/layout/cycle5"/>
    <dgm:cxn modelId="{8DEA71DF-476A-4708-8F2C-B952EBF3CBB0}" srcId="{C96FD693-78CC-42D8-BD8A-D4CB9079AFC9}" destId="{56A96A02-153A-4DC7-B855-7241DAB20E44}" srcOrd="4" destOrd="0" parTransId="{B936E49E-C75A-4339-9474-5CB54536B17B}" sibTransId="{253C5E94-D9D4-4824-B9EA-B84C6BEC1966}"/>
    <dgm:cxn modelId="{8D47F9E1-EEC8-4460-AD5F-A6A57E9FF92E}" type="presOf" srcId="{072E0934-D8F5-469D-8EB8-BB5258C0E381}" destId="{CAF2F9F7-2E46-4185-887B-D0B34E4CE08B}" srcOrd="0" destOrd="0" presId="urn:microsoft.com/office/officeart/2005/8/layout/cycle5"/>
    <dgm:cxn modelId="{28C33FE5-96DE-4F02-8702-F21E840B79BA}" srcId="{C96FD693-78CC-42D8-BD8A-D4CB9079AFC9}" destId="{A8F4FD7C-972D-441E-ACD7-0C502BB245C2}" srcOrd="2" destOrd="0" parTransId="{AE60BD01-8084-4617-8B0C-1301FDCD8D80}" sibTransId="{D4847339-7399-4065-88A6-EF8B90D96A6A}"/>
    <dgm:cxn modelId="{8759F0E5-B634-41B9-A37B-687751497F3B}" type="presOf" srcId="{253C5E94-D9D4-4824-B9EA-B84C6BEC1966}" destId="{100C7B82-6D7B-4D25-95FD-F9BBF0E3437B}" srcOrd="0" destOrd="0" presId="urn:microsoft.com/office/officeart/2005/8/layout/cycle5"/>
    <dgm:cxn modelId="{6402EEEF-FD81-49D5-B2E0-02E5672A8219}" type="presOf" srcId="{A8F4FD7C-972D-441E-ACD7-0C502BB245C2}" destId="{300AE22A-080A-4545-9EC1-24B951893B40}" srcOrd="0" destOrd="0" presId="urn:microsoft.com/office/officeart/2005/8/layout/cycle5"/>
    <dgm:cxn modelId="{7AC7FEF0-828C-48C8-B330-6D8733B5A5CB}" type="presOf" srcId="{56A96A02-153A-4DC7-B855-7241DAB20E44}" destId="{CC5169A7-1912-4A55-B937-8810B28D37EA}" srcOrd="0" destOrd="0" presId="urn:microsoft.com/office/officeart/2005/8/layout/cycle5"/>
    <dgm:cxn modelId="{BB2271D7-14F2-47F2-924F-6B057F421E6A}" type="presParOf" srcId="{59F4D8FF-0E11-49A9-894B-A240DD1CC6BB}" destId="{CAF2F9F7-2E46-4185-887B-D0B34E4CE08B}" srcOrd="0" destOrd="0" presId="urn:microsoft.com/office/officeart/2005/8/layout/cycle5"/>
    <dgm:cxn modelId="{8740EDBD-179D-4E1A-9409-EDB27A7082A0}" type="presParOf" srcId="{59F4D8FF-0E11-49A9-894B-A240DD1CC6BB}" destId="{F56F4874-2D4D-4CCE-8385-8D041952C691}" srcOrd="1" destOrd="0" presId="urn:microsoft.com/office/officeart/2005/8/layout/cycle5"/>
    <dgm:cxn modelId="{390B123A-FF66-4826-B3F8-0C1A8EDC6755}" type="presParOf" srcId="{59F4D8FF-0E11-49A9-894B-A240DD1CC6BB}" destId="{F16F9EF0-03D2-4BA2-8271-742AA7900651}" srcOrd="2" destOrd="0" presId="urn:microsoft.com/office/officeart/2005/8/layout/cycle5"/>
    <dgm:cxn modelId="{C1656F1C-D68B-4F19-B86E-A0E214B685DD}" type="presParOf" srcId="{59F4D8FF-0E11-49A9-894B-A240DD1CC6BB}" destId="{4562302A-528D-47BD-8947-4CEE5BA74660}" srcOrd="3" destOrd="0" presId="urn:microsoft.com/office/officeart/2005/8/layout/cycle5"/>
    <dgm:cxn modelId="{EAA635B5-7CAE-4ABE-B90E-016FE3618B0E}" type="presParOf" srcId="{59F4D8FF-0E11-49A9-894B-A240DD1CC6BB}" destId="{9D5BF1CD-60C5-406E-9639-DBA7BD0D73F1}" srcOrd="4" destOrd="0" presId="urn:microsoft.com/office/officeart/2005/8/layout/cycle5"/>
    <dgm:cxn modelId="{F6342933-7C8C-4FCF-831B-46B38A53C7A2}" type="presParOf" srcId="{59F4D8FF-0E11-49A9-894B-A240DD1CC6BB}" destId="{2CE36618-DFA4-4E7C-A3AF-C968C88C3230}" srcOrd="5" destOrd="0" presId="urn:microsoft.com/office/officeart/2005/8/layout/cycle5"/>
    <dgm:cxn modelId="{7F43D856-2E35-47A2-86A3-B835161188DC}" type="presParOf" srcId="{59F4D8FF-0E11-49A9-894B-A240DD1CC6BB}" destId="{300AE22A-080A-4545-9EC1-24B951893B40}" srcOrd="6" destOrd="0" presId="urn:microsoft.com/office/officeart/2005/8/layout/cycle5"/>
    <dgm:cxn modelId="{16DB0235-A462-47F8-BCB1-8C6763434D7F}" type="presParOf" srcId="{59F4D8FF-0E11-49A9-894B-A240DD1CC6BB}" destId="{34F2FE60-AE81-4F64-92B0-8E1C255FC862}" srcOrd="7" destOrd="0" presId="urn:microsoft.com/office/officeart/2005/8/layout/cycle5"/>
    <dgm:cxn modelId="{296B5F4B-0B8C-4CDE-B1C8-60A0EB936B78}" type="presParOf" srcId="{59F4D8FF-0E11-49A9-894B-A240DD1CC6BB}" destId="{4E32A167-A341-4830-A691-4BBC10AD7AD2}" srcOrd="8" destOrd="0" presId="urn:microsoft.com/office/officeart/2005/8/layout/cycle5"/>
    <dgm:cxn modelId="{93E7F01C-1062-437C-A15B-AE9E60DE4CE4}" type="presParOf" srcId="{59F4D8FF-0E11-49A9-894B-A240DD1CC6BB}" destId="{257DCEF4-7D3A-4CDE-B3F4-451DDEEDA4EC}" srcOrd="9" destOrd="0" presId="urn:microsoft.com/office/officeart/2005/8/layout/cycle5"/>
    <dgm:cxn modelId="{10462682-C965-42FD-8044-C28177680029}" type="presParOf" srcId="{59F4D8FF-0E11-49A9-894B-A240DD1CC6BB}" destId="{94C265BE-5128-485B-A772-F6F9652FB426}" srcOrd="10" destOrd="0" presId="urn:microsoft.com/office/officeart/2005/8/layout/cycle5"/>
    <dgm:cxn modelId="{E005C72C-610D-4FA9-B1A8-3818DFA7B2E1}" type="presParOf" srcId="{59F4D8FF-0E11-49A9-894B-A240DD1CC6BB}" destId="{0B19DF6F-C736-4E56-9379-1BABF7B5F2DD}" srcOrd="11" destOrd="0" presId="urn:microsoft.com/office/officeart/2005/8/layout/cycle5"/>
    <dgm:cxn modelId="{7E3F10D3-F0D5-45BC-9451-F54308DDDDB5}" type="presParOf" srcId="{59F4D8FF-0E11-49A9-894B-A240DD1CC6BB}" destId="{CC5169A7-1912-4A55-B937-8810B28D37EA}" srcOrd="12" destOrd="0" presId="urn:microsoft.com/office/officeart/2005/8/layout/cycle5"/>
    <dgm:cxn modelId="{B5A445D8-5A6D-47E4-8B04-DF5CD3133B7F}" type="presParOf" srcId="{59F4D8FF-0E11-49A9-894B-A240DD1CC6BB}" destId="{2E3E49FD-D74B-4AEA-9FBA-6AB2BBE91037}" srcOrd="13" destOrd="0" presId="urn:microsoft.com/office/officeart/2005/8/layout/cycle5"/>
    <dgm:cxn modelId="{D25A5A51-89EA-4C06-B5E0-D58C0751E236}" type="presParOf" srcId="{59F4D8FF-0E11-49A9-894B-A240DD1CC6BB}" destId="{100C7B82-6D7B-4D25-95FD-F9BBF0E3437B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2F9F7-2E46-4185-887B-D0B34E4CE08B}">
      <dsp:nvSpPr>
        <dsp:cNvPr id="0" name=""/>
        <dsp:cNvSpPr/>
      </dsp:nvSpPr>
      <dsp:spPr>
        <a:xfrm>
          <a:off x="5619173" y="3212"/>
          <a:ext cx="2340493" cy="1521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NPC </a:t>
          </a:r>
          <a:r>
            <a:rPr lang="en-US" sz="2000" b="1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생산</a:t>
          </a:r>
          <a:r>
            <a:rPr lang="en-US" sz="2000" b="1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
</a:t>
          </a:r>
          <a:r>
            <a:rPr lang="en-US" sz="2000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농부</a:t>
          </a:r>
          <a:r>
            <a:rPr lang="en-US" sz="20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· </a:t>
          </a:r>
          <a:r>
            <a:rPr lang="en-US" sz="2000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광부</a:t>
          </a:r>
          <a:r>
            <a:rPr lang="en-US" sz="20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· </a:t>
          </a:r>
          <a:r>
            <a:rPr lang="en-US" sz="2000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벌목꾼</a:t>
          </a:r>
          <a:endParaRPr lang="ko-KR" altLang="en-US" sz="20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5693438" y="77477"/>
        <a:ext cx="2191963" cy="1372790"/>
      </dsp:txXfrm>
    </dsp:sp>
    <dsp:sp modelId="{F16F9EF0-03D2-4BA2-8271-742AA7900651}">
      <dsp:nvSpPr>
        <dsp:cNvPr id="0" name=""/>
        <dsp:cNvSpPr/>
      </dsp:nvSpPr>
      <dsp:spPr>
        <a:xfrm>
          <a:off x="3749204" y="763872"/>
          <a:ext cx="6080431" cy="6080431"/>
        </a:xfrm>
        <a:custGeom>
          <a:avLst/>
          <a:gdLst/>
          <a:ahLst/>
          <a:cxnLst/>
          <a:rect l="0" t="0" r="0" b="0"/>
          <a:pathLst>
            <a:path>
              <a:moveTo>
                <a:pt x="4524200" y="386783"/>
              </a:moveTo>
              <a:arcTo wR="3040215" hR="3040215" stAng="17953018" swAng="1212201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62302A-528D-47BD-8947-4CEE5BA74660}">
      <dsp:nvSpPr>
        <dsp:cNvPr id="0" name=""/>
        <dsp:cNvSpPr/>
      </dsp:nvSpPr>
      <dsp:spPr>
        <a:xfrm>
          <a:off x="8510590" y="2103949"/>
          <a:ext cx="2340493" cy="1521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플레이어 매입
</a:t>
          </a:r>
          <a:r>
            <a:rPr lang="en-US" sz="2000" kern="12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상점에서 원자재 구매</a:t>
          </a:r>
          <a:endParaRPr lang="ko-KR" altLang="en-US" sz="20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8584855" y="2178214"/>
        <a:ext cx="2191963" cy="1372790"/>
      </dsp:txXfrm>
    </dsp:sp>
    <dsp:sp modelId="{2CE36618-DFA4-4E7C-A3AF-C968C88C3230}">
      <dsp:nvSpPr>
        <dsp:cNvPr id="0" name=""/>
        <dsp:cNvSpPr/>
      </dsp:nvSpPr>
      <dsp:spPr>
        <a:xfrm>
          <a:off x="3749204" y="763872"/>
          <a:ext cx="6080431" cy="6080431"/>
        </a:xfrm>
        <a:custGeom>
          <a:avLst/>
          <a:gdLst/>
          <a:ahLst/>
          <a:cxnLst/>
          <a:rect l="0" t="0" r="0" b="0"/>
          <a:pathLst>
            <a:path>
              <a:moveTo>
                <a:pt x="6073152" y="3250476"/>
              </a:moveTo>
              <a:arcTo wR="3040215" hR="3040215" stAng="21837944" swAng="1360239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0AE22A-080A-4545-9EC1-24B951893B40}">
      <dsp:nvSpPr>
        <dsp:cNvPr id="0" name=""/>
        <dsp:cNvSpPr/>
      </dsp:nvSpPr>
      <dsp:spPr>
        <a:xfrm>
          <a:off x="7406167" y="5503014"/>
          <a:ext cx="2340493" cy="1521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가공 / 제작
</a:t>
          </a:r>
          <a:r>
            <a:rPr lang="en-US" sz="2000" kern="12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공방 · 전문가 NPC</a:t>
          </a:r>
          <a:endParaRPr lang="ko-KR" altLang="en-US" sz="20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7480432" y="5577279"/>
        <a:ext cx="2191963" cy="1372790"/>
      </dsp:txXfrm>
    </dsp:sp>
    <dsp:sp modelId="{4E32A167-A341-4830-A691-4BBC10AD7AD2}">
      <dsp:nvSpPr>
        <dsp:cNvPr id="0" name=""/>
        <dsp:cNvSpPr/>
      </dsp:nvSpPr>
      <dsp:spPr>
        <a:xfrm>
          <a:off x="3749204" y="763872"/>
          <a:ext cx="6080431" cy="6080431"/>
        </a:xfrm>
        <a:custGeom>
          <a:avLst/>
          <a:gdLst/>
          <a:ahLst/>
          <a:cxnLst/>
          <a:rect l="0" t="0" r="0" b="0"/>
          <a:pathLst>
            <a:path>
              <a:moveTo>
                <a:pt x="3413629" y="6057412"/>
              </a:moveTo>
              <a:arcTo wR="3040215" hR="3040215" stAng="4976691" swAng="846618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7DCEF4-7D3A-4CDE-B3F4-451DDEEDA4EC}">
      <dsp:nvSpPr>
        <dsp:cNvPr id="0" name=""/>
        <dsp:cNvSpPr/>
      </dsp:nvSpPr>
      <dsp:spPr>
        <a:xfrm>
          <a:off x="3832179" y="5503014"/>
          <a:ext cx="2340493" cy="1521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진열 · 가격 책정
</a:t>
          </a:r>
          <a:r>
            <a:rPr lang="en-US" sz="2000" kern="12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ShopSlot / DisplayPrice</a:t>
          </a:r>
          <a:endParaRPr lang="ko-KR" altLang="en-US" sz="20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3906444" y="5577279"/>
        <a:ext cx="2191963" cy="1372790"/>
      </dsp:txXfrm>
    </dsp:sp>
    <dsp:sp modelId="{0B19DF6F-C736-4E56-9379-1BABF7B5F2DD}">
      <dsp:nvSpPr>
        <dsp:cNvPr id="0" name=""/>
        <dsp:cNvSpPr/>
      </dsp:nvSpPr>
      <dsp:spPr>
        <a:xfrm>
          <a:off x="3749204" y="763872"/>
          <a:ext cx="6080431" cy="6080431"/>
        </a:xfrm>
        <a:custGeom>
          <a:avLst/>
          <a:gdLst/>
          <a:ahLst/>
          <a:cxnLst/>
          <a:rect l="0" t="0" r="0" b="0"/>
          <a:pathLst>
            <a:path>
              <a:moveTo>
                <a:pt x="322658" y="4403226"/>
              </a:moveTo>
              <a:arcTo wR="3040215" hR="3040215" stAng="9201817" swAng="1360239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5169A7-1912-4A55-B937-8810B28D37EA}">
      <dsp:nvSpPr>
        <dsp:cNvPr id="0" name=""/>
        <dsp:cNvSpPr/>
      </dsp:nvSpPr>
      <dsp:spPr>
        <a:xfrm>
          <a:off x="2727756" y="2103949"/>
          <a:ext cx="2340493" cy="15213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판매</a:t>
          </a:r>
          <a:r>
            <a:rPr lang="en-US" sz="2000" b="1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· </a:t>
          </a:r>
          <a:r>
            <a:rPr lang="en-US" sz="2000" b="1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재투자</a:t>
          </a:r>
          <a:r>
            <a:rPr lang="en-US" sz="2000" b="1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
</a:t>
          </a:r>
          <a:r>
            <a:rPr lang="en-US" sz="2000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매출</a:t>
          </a:r>
          <a:r>
            <a:rPr lang="en-US" sz="20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→ </a:t>
          </a:r>
          <a:r>
            <a:rPr lang="en-US" sz="2000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확장</a:t>
          </a:r>
          <a:r>
            <a:rPr lang="en-US" sz="2000" kern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 / </a:t>
          </a:r>
          <a:r>
            <a:rPr lang="en-US" sz="2000" kern="12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rPr>
            <a:t>고용</a:t>
          </a:r>
          <a:endParaRPr lang="ko-KR" altLang="en-US" sz="2000" kern="1200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endParaRPr>
        </a:p>
      </dsp:txBody>
      <dsp:txXfrm>
        <a:off x="2802021" y="2178214"/>
        <a:ext cx="2191963" cy="1372790"/>
      </dsp:txXfrm>
    </dsp:sp>
    <dsp:sp modelId="{100C7B82-6D7B-4D25-95FD-F9BBF0E3437B}">
      <dsp:nvSpPr>
        <dsp:cNvPr id="0" name=""/>
        <dsp:cNvSpPr/>
      </dsp:nvSpPr>
      <dsp:spPr>
        <a:xfrm>
          <a:off x="3749204" y="763872"/>
          <a:ext cx="6080431" cy="6080431"/>
        </a:xfrm>
        <a:custGeom>
          <a:avLst/>
          <a:gdLst/>
          <a:ahLst/>
          <a:cxnLst/>
          <a:rect l="0" t="0" r="0" b="0"/>
          <a:pathLst>
            <a:path>
              <a:moveTo>
                <a:pt x="731165" y="1062540"/>
              </a:moveTo>
              <a:arcTo wR="3040215" hR="3040215" stAng="13234781" swAng="1212201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32F63-008C-4802-B16B-9D9E9920C3C6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458F5-4817-4E5C-B875-B338C1326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29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컴퓨터공학과 신동준입니다</a:t>
            </a:r>
            <a:r>
              <a:rPr lang="en-US" altLang="ko-KR"/>
              <a:t>. Project P.A.</a:t>
            </a:r>
            <a:r>
              <a:rPr lang="ko-KR" altLang="en-US"/>
              <a:t>의 </a:t>
            </a:r>
            <a:r>
              <a:rPr lang="en-US" altLang="ko-KR"/>
              <a:t>2026</a:t>
            </a:r>
            <a:r>
              <a:rPr lang="ko-KR" altLang="en-US"/>
              <a:t>년 여름방학 개발 진행상황을 말씀드리겠습니다</a:t>
            </a:r>
            <a:r>
              <a:rPr lang="en-US" altLang="ko-KR"/>
              <a:t>. </a:t>
            </a:r>
            <a:r>
              <a:rPr lang="ko-KR" altLang="en-US"/>
              <a:t>오늘은 기능 목록보다</a:t>
            </a:r>
            <a:r>
              <a:rPr lang="en-US" altLang="ko-KR"/>
              <a:t>, 6</a:t>
            </a:r>
            <a:r>
              <a:rPr lang="ko-KR" altLang="en-US"/>
              <a:t>월 </a:t>
            </a:r>
            <a:r>
              <a:rPr lang="en-US" altLang="ko-KR"/>
              <a:t>26</a:t>
            </a:r>
            <a:r>
              <a:rPr lang="ko-KR" altLang="en-US"/>
              <a:t>일의 출발점에서 무엇이 실제 플레이로 연결됐고 무엇이 아직 막혀 있는지를 중심으로 설명드리겠습니다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[Sources]</a:t>
            </a:r>
          </a:p>
          <a:p>
            <a:r>
              <a:rPr lang="en-US" altLang="ko-KR"/>
              <a:t>- 2026-08-31_SUMMER_DEVELOPMENT_AUDIT.md</a:t>
            </a:r>
          </a:p>
          <a:p>
            <a:r>
              <a:rPr lang="en-US" altLang="ko-KR"/>
              <a:t>- git: adc5d2f5..29fb98f, author-date window 2026-06-26..2026-08-31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458F5-4817-4E5C-B875-B338C13263C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762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490E-4DA3-93C1-061F-A8DFCFF4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371FC-B0FF-D2C2-D973-9263D896F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EB714-232B-AA1E-D072-2E3107808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Project P.A.</a:t>
            </a:r>
            <a:r>
              <a:rPr lang="ko-KR" altLang="en-US"/>
              <a:t>는 낮에는 동물 마을에서 생활하고 자원을 얻으며</a:t>
            </a:r>
            <a:r>
              <a:rPr lang="en-US" altLang="ko-KR"/>
              <a:t>, </a:t>
            </a:r>
            <a:r>
              <a:rPr lang="ko-KR" altLang="en-US"/>
              <a:t>밤에는 그 마을의 유일한 잡화점을 운영하는 </a:t>
            </a:r>
            <a:r>
              <a:rPr lang="en-US" altLang="ko-KR"/>
              <a:t>3D </a:t>
            </a:r>
            <a:r>
              <a:rPr lang="ko-KR" altLang="en-US"/>
              <a:t>코지 라이프 시뮬레이션입니다</a:t>
            </a:r>
            <a:r>
              <a:rPr lang="en-US" altLang="ko-KR"/>
              <a:t>. </a:t>
            </a:r>
            <a:r>
              <a:rPr lang="ko-KR" altLang="en-US"/>
              <a:t>핵심은 물건을 파는 행위 자체가 아니라</a:t>
            </a:r>
            <a:r>
              <a:rPr lang="en-US" altLang="ko-KR"/>
              <a:t>, </a:t>
            </a:r>
            <a:r>
              <a:rPr lang="ko-KR" altLang="en-US"/>
              <a:t>무엇을 진열하고 어떤 가격을 정했는지가 </a:t>
            </a:r>
            <a:r>
              <a:rPr lang="en-US" altLang="ko-KR"/>
              <a:t>NPC</a:t>
            </a:r>
            <a:r>
              <a:rPr lang="ko-KR" altLang="en-US"/>
              <a:t>의 소비와 관계</a:t>
            </a:r>
            <a:r>
              <a:rPr lang="en-US" altLang="ko-KR"/>
              <a:t>, </a:t>
            </a:r>
            <a:r>
              <a:rPr lang="ko-KR" altLang="en-US"/>
              <a:t>다음 날 마을 풍경에 다시 영향을 주는 순환입니다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[Sources]</a:t>
            </a:r>
          </a:p>
          <a:p>
            <a:r>
              <a:rPr lang="en-US" altLang="ko-KR"/>
              <a:t>- AI_WORKFLOW/01_IDENTITY/PROJECT_PA_IDENTITY.md</a:t>
            </a:r>
          </a:p>
          <a:p>
            <a:r>
              <a:rPr lang="en-US" altLang="ko-KR"/>
              <a:t>- AI_WORKFLOW/01_IDENTITY/PROJECT_PA_SCOPE.md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59290-3A38-70B9-67BA-BDE1FB652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63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278B8-25AE-70E3-F4A1-1AC6FD46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1FCD4-A1F2-9E12-5450-BC4601751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EAFB3-AF44-3A95-085A-595941903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6</a:t>
            </a:r>
            <a:r>
              <a:rPr lang="ko-KR" altLang="en-US"/>
              <a:t>월 </a:t>
            </a:r>
            <a:r>
              <a:rPr lang="en-US" altLang="ko-KR"/>
              <a:t>26</a:t>
            </a:r>
            <a:r>
              <a:rPr lang="ko-KR" altLang="en-US"/>
              <a:t>일 기준으로 이동</a:t>
            </a:r>
            <a:r>
              <a:rPr lang="en-US" altLang="ko-KR"/>
              <a:t>, </a:t>
            </a:r>
            <a:r>
              <a:rPr lang="ko-KR" altLang="en-US"/>
              <a:t>인벤토리</a:t>
            </a:r>
            <a:r>
              <a:rPr lang="en-US" altLang="ko-KR"/>
              <a:t>, </a:t>
            </a:r>
            <a:r>
              <a:rPr lang="ko-KR" altLang="en-US"/>
              <a:t>핫바</a:t>
            </a:r>
            <a:r>
              <a:rPr lang="en-US" altLang="ko-KR"/>
              <a:t>, </a:t>
            </a:r>
            <a:r>
              <a:rPr lang="ko-KR" altLang="en-US"/>
              <a:t>진열과 가격</a:t>
            </a:r>
            <a:r>
              <a:rPr lang="en-US" altLang="ko-KR"/>
              <a:t>, NPC </a:t>
            </a:r>
            <a:r>
              <a:rPr lang="ko-KR" altLang="en-US"/>
              <a:t>구매 판단</a:t>
            </a:r>
            <a:r>
              <a:rPr lang="en-US" altLang="ko-KR"/>
              <a:t>, </a:t>
            </a:r>
            <a:r>
              <a:rPr lang="ko-KR" altLang="en-US"/>
              <a:t>경제와 기본 저장 같은 기능 단위 기반은 이미 있었습니다</a:t>
            </a:r>
            <a:r>
              <a:rPr lang="en-US" altLang="ko-KR"/>
              <a:t>. </a:t>
            </a:r>
            <a:r>
              <a:rPr lang="ko-KR" altLang="en-US"/>
              <a:t>그래서 이것들을 여름 성과로 다시 세지 않았습니다</a:t>
            </a:r>
            <a:r>
              <a:rPr lang="en-US" altLang="ko-KR"/>
              <a:t>. </a:t>
            </a:r>
            <a:r>
              <a:rPr lang="ko-KR" altLang="en-US"/>
              <a:t>당시의 핵심 문제는 낮 활동부터 밤 영업</a:t>
            </a:r>
            <a:r>
              <a:rPr lang="en-US" altLang="ko-KR"/>
              <a:t>, </a:t>
            </a:r>
            <a:r>
              <a:rPr lang="ko-KR" altLang="en-US"/>
              <a:t>결산과 다음 날 변화까지가 한 번의 플레이로 이어지지 않았다는 점이었습니다</a:t>
            </a:r>
            <a:r>
              <a:rPr lang="en-US" altLang="ko-KR"/>
              <a:t>. </a:t>
            </a:r>
            <a:r>
              <a:rPr lang="ko-KR" altLang="en-US"/>
              <a:t>방학 목표는 새 시스템을 많이 추가하는 것보다 기존 시스템을 보존하면서 연결성과 검증 신뢰도를 높이는 것이었습니다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[Sources]</a:t>
            </a:r>
          </a:p>
          <a:p>
            <a:r>
              <a:rPr lang="en-US" altLang="ko-KR"/>
              <a:t>- git tree: adc5d2f5eaa83b058b201eb15ec563cffd41275e</a:t>
            </a:r>
          </a:p>
          <a:p>
            <a:r>
              <a:rPr lang="en-US" altLang="ko-KR"/>
              <a:t>- 2026-08-31_SUMMER_DEVELOPMENT_AUDIT.md</a:t>
            </a:r>
          </a:p>
          <a:p>
            <a:r>
              <a:rPr lang="en-US" altLang="ko-KR"/>
              <a:t>- PROJECT_PA_STATUS.md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46068-12DB-ED15-E6AA-FDBB68136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376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1264-441E-FC84-5DA2-9E6D043C6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F18D5-5DBC-8B3E-851C-DF1EB5313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287E5-54E1-C5A6-46E5-2CFA97A22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방학의 진척은 네 가지로 정리할 수 있습니다</a:t>
            </a:r>
            <a:r>
              <a:rPr lang="en-US" altLang="ko-KR"/>
              <a:t>. </a:t>
            </a:r>
            <a:r>
              <a:rPr lang="ko-KR" altLang="en-US"/>
              <a:t>첫째</a:t>
            </a:r>
            <a:r>
              <a:rPr lang="en-US" altLang="ko-KR"/>
              <a:t>, </a:t>
            </a:r>
            <a:r>
              <a:rPr lang="ko-KR" altLang="en-US"/>
              <a:t>낚시와 광질</a:t>
            </a:r>
            <a:r>
              <a:rPr lang="en-US" altLang="ko-KR"/>
              <a:t>, </a:t>
            </a:r>
            <a:r>
              <a:rPr lang="ko-KR" altLang="en-US"/>
              <a:t>농사와 채집에서 가공</a:t>
            </a:r>
            <a:r>
              <a:rPr lang="en-US" altLang="ko-KR"/>
              <a:t>, </a:t>
            </a:r>
            <a:r>
              <a:rPr lang="ko-KR" altLang="en-US"/>
              <a:t>진열</a:t>
            </a:r>
            <a:r>
              <a:rPr lang="en-US" altLang="ko-KR"/>
              <a:t>, </a:t>
            </a:r>
            <a:r>
              <a:rPr lang="ko-KR" altLang="en-US"/>
              <a:t>판매</a:t>
            </a:r>
            <a:r>
              <a:rPr lang="en-US" altLang="ko-KR"/>
              <a:t>, </a:t>
            </a:r>
            <a:r>
              <a:rPr lang="ko-KR" altLang="en-US"/>
              <a:t>결산까지 핵심 루프를 연결했습니다</a:t>
            </a:r>
            <a:r>
              <a:rPr lang="en-US" altLang="ko-KR"/>
              <a:t>. </a:t>
            </a:r>
            <a:r>
              <a:rPr lang="ko-KR" altLang="en-US"/>
              <a:t>둘째</a:t>
            </a:r>
            <a:r>
              <a:rPr lang="en-US" altLang="ko-KR"/>
              <a:t>, </a:t>
            </a:r>
            <a:r>
              <a:rPr lang="ko-KR" altLang="en-US"/>
              <a:t>절차 섬과 </a:t>
            </a:r>
            <a:r>
              <a:rPr lang="en-US" altLang="ko-KR"/>
              <a:t>Terraform, </a:t>
            </a:r>
            <a:r>
              <a:rPr lang="ko-KR" altLang="en-US"/>
              <a:t>건물과 판매대</a:t>
            </a:r>
            <a:r>
              <a:rPr lang="en-US" altLang="ko-KR"/>
              <a:t>, Navigation</a:t>
            </a:r>
            <a:r>
              <a:rPr lang="ko-KR" altLang="en-US"/>
              <a:t>을 묶은 </a:t>
            </a:r>
            <a:r>
              <a:rPr lang="en-US" altLang="ko-KR"/>
              <a:t>WorldSandbox</a:t>
            </a:r>
            <a:r>
              <a:rPr lang="ko-KR" altLang="en-US"/>
              <a:t>를 만들었습니다</a:t>
            </a:r>
            <a:r>
              <a:rPr lang="en-US" altLang="ko-KR"/>
              <a:t>. </a:t>
            </a:r>
            <a:r>
              <a:rPr lang="ko-KR" altLang="en-US"/>
              <a:t>셋째</a:t>
            </a:r>
            <a:r>
              <a:rPr lang="en-US" altLang="ko-KR"/>
              <a:t>, NPC </a:t>
            </a:r>
            <a:r>
              <a:rPr lang="ko-KR" altLang="en-US"/>
              <a:t>성향별 구매와 거절</a:t>
            </a:r>
            <a:r>
              <a:rPr lang="en-US" altLang="ko-KR"/>
              <a:t>, </a:t>
            </a:r>
            <a:r>
              <a:rPr lang="ko-KR" altLang="en-US"/>
              <a:t>휴대폰 채용과 판매 </a:t>
            </a:r>
            <a:r>
              <a:rPr lang="en-US" altLang="ko-KR"/>
              <a:t>Feed, </a:t>
            </a:r>
            <a:r>
              <a:rPr lang="ko-KR" altLang="en-US"/>
              <a:t>다음 날 반응을 연결했습니다</a:t>
            </a:r>
            <a:r>
              <a:rPr lang="en-US" altLang="ko-KR"/>
              <a:t>. </a:t>
            </a:r>
            <a:r>
              <a:rPr lang="ko-KR" altLang="en-US"/>
              <a:t>넷째</a:t>
            </a:r>
            <a:r>
              <a:rPr lang="en-US" altLang="ko-KR"/>
              <a:t>, </a:t>
            </a:r>
            <a:r>
              <a:rPr lang="ko-KR" altLang="en-US"/>
              <a:t>저장 범위를 확장하고 </a:t>
            </a:r>
            <a:r>
              <a:rPr lang="en-US" altLang="ko-KR"/>
              <a:t>Golden, M70, BETA </a:t>
            </a:r>
            <a:r>
              <a:rPr lang="ko-KR" altLang="en-US"/>
              <a:t>검증을 쌓으면서 통합 복원 문제를 실제 </a:t>
            </a:r>
            <a:r>
              <a:rPr lang="en-US" altLang="ko-KR"/>
              <a:t>blocker</a:t>
            </a:r>
            <a:r>
              <a:rPr lang="ko-KR" altLang="en-US"/>
              <a:t>로 찾아냈습니다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[Sources]</a:t>
            </a:r>
          </a:p>
          <a:p>
            <a:r>
              <a:rPr lang="en-US" altLang="ko-KR"/>
              <a:t>- git: 776fd3a..e0b5678, 9bf71d6..1539923, 29fb98f</a:t>
            </a:r>
          </a:p>
          <a:p>
            <a:r>
              <a:rPr lang="en-US" altLang="ko-KR"/>
              <a:t>- AI_WORKFLOW/06_HANDOFF/HANDOFF_FOR_CODEX.md</a:t>
            </a:r>
          </a:p>
          <a:p>
            <a:r>
              <a:rPr lang="en-US" altLang="ko-KR"/>
              <a:t>- 2026-08-31_SUMMER_DEVELOPMENT_AUDIT.md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5A840-13DC-5B59-3F1E-730D079C3E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81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86A6-43C6-6989-F316-0B628172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BDBF5-1279-21A9-0230-36550CAB3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4F05E-4FA0-6A4E-1651-F8D583252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방학의 진척은 네 가지로 정리할 수 있습니다</a:t>
            </a:r>
            <a:r>
              <a:rPr lang="en-US" altLang="ko-KR"/>
              <a:t>. </a:t>
            </a:r>
            <a:r>
              <a:rPr lang="ko-KR" altLang="en-US"/>
              <a:t>첫째</a:t>
            </a:r>
            <a:r>
              <a:rPr lang="en-US" altLang="ko-KR"/>
              <a:t>, </a:t>
            </a:r>
            <a:r>
              <a:rPr lang="ko-KR" altLang="en-US"/>
              <a:t>낚시와 광질</a:t>
            </a:r>
            <a:r>
              <a:rPr lang="en-US" altLang="ko-KR"/>
              <a:t>, </a:t>
            </a:r>
            <a:r>
              <a:rPr lang="ko-KR" altLang="en-US"/>
              <a:t>농사와 채집에서 가공</a:t>
            </a:r>
            <a:r>
              <a:rPr lang="en-US" altLang="ko-KR"/>
              <a:t>, </a:t>
            </a:r>
            <a:r>
              <a:rPr lang="ko-KR" altLang="en-US"/>
              <a:t>진열</a:t>
            </a:r>
            <a:r>
              <a:rPr lang="en-US" altLang="ko-KR"/>
              <a:t>, </a:t>
            </a:r>
            <a:r>
              <a:rPr lang="ko-KR" altLang="en-US"/>
              <a:t>판매</a:t>
            </a:r>
            <a:r>
              <a:rPr lang="en-US" altLang="ko-KR"/>
              <a:t>, </a:t>
            </a:r>
            <a:r>
              <a:rPr lang="ko-KR" altLang="en-US"/>
              <a:t>결산까지 핵심 루프를 연결했습니다</a:t>
            </a:r>
            <a:r>
              <a:rPr lang="en-US" altLang="ko-KR"/>
              <a:t>. </a:t>
            </a:r>
            <a:r>
              <a:rPr lang="ko-KR" altLang="en-US"/>
              <a:t>둘째</a:t>
            </a:r>
            <a:r>
              <a:rPr lang="en-US" altLang="ko-KR"/>
              <a:t>, </a:t>
            </a:r>
            <a:r>
              <a:rPr lang="ko-KR" altLang="en-US"/>
              <a:t>절차 섬과 </a:t>
            </a:r>
            <a:r>
              <a:rPr lang="en-US" altLang="ko-KR"/>
              <a:t>Terraform, </a:t>
            </a:r>
            <a:r>
              <a:rPr lang="ko-KR" altLang="en-US"/>
              <a:t>건물과 판매대</a:t>
            </a:r>
            <a:r>
              <a:rPr lang="en-US" altLang="ko-KR"/>
              <a:t>, Navigation</a:t>
            </a:r>
            <a:r>
              <a:rPr lang="ko-KR" altLang="en-US"/>
              <a:t>을 묶은 </a:t>
            </a:r>
            <a:r>
              <a:rPr lang="en-US" altLang="ko-KR"/>
              <a:t>WorldSandbox</a:t>
            </a:r>
            <a:r>
              <a:rPr lang="ko-KR" altLang="en-US"/>
              <a:t>를 만들었습니다</a:t>
            </a:r>
            <a:r>
              <a:rPr lang="en-US" altLang="ko-KR"/>
              <a:t>. </a:t>
            </a:r>
            <a:r>
              <a:rPr lang="ko-KR" altLang="en-US"/>
              <a:t>셋째</a:t>
            </a:r>
            <a:r>
              <a:rPr lang="en-US" altLang="ko-KR"/>
              <a:t>, NPC </a:t>
            </a:r>
            <a:r>
              <a:rPr lang="ko-KR" altLang="en-US"/>
              <a:t>성향별 구매와 거절</a:t>
            </a:r>
            <a:r>
              <a:rPr lang="en-US" altLang="ko-KR"/>
              <a:t>, </a:t>
            </a:r>
            <a:r>
              <a:rPr lang="ko-KR" altLang="en-US"/>
              <a:t>휴대폰 채용과 판매 </a:t>
            </a:r>
            <a:r>
              <a:rPr lang="en-US" altLang="ko-KR"/>
              <a:t>Feed, </a:t>
            </a:r>
            <a:r>
              <a:rPr lang="ko-KR" altLang="en-US"/>
              <a:t>다음 날 반응을 연결했습니다</a:t>
            </a:r>
            <a:r>
              <a:rPr lang="en-US" altLang="ko-KR"/>
              <a:t>. </a:t>
            </a:r>
            <a:r>
              <a:rPr lang="ko-KR" altLang="en-US"/>
              <a:t>넷째</a:t>
            </a:r>
            <a:r>
              <a:rPr lang="en-US" altLang="ko-KR"/>
              <a:t>, </a:t>
            </a:r>
            <a:r>
              <a:rPr lang="ko-KR" altLang="en-US"/>
              <a:t>저장 범위를 확장하고 </a:t>
            </a:r>
            <a:r>
              <a:rPr lang="en-US" altLang="ko-KR"/>
              <a:t>Golden, M70, BETA </a:t>
            </a:r>
            <a:r>
              <a:rPr lang="ko-KR" altLang="en-US"/>
              <a:t>검증을 쌓으면서 통합 복원 문제를 실제 </a:t>
            </a:r>
            <a:r>
              <a:rPr lang="en-US" altLang="ko-KR"/>
              <a:t>blocker</a:t>
            </a:r>
            <a:r>
              <a:rPr lang="ko-KR" altLang="en-US"/>
              <a:t>로 찾아냈습니다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[Sources]</a:t>
            </a:r>
          </a:p>
          <a:p>
            <a:r>
              <a:rPr lang="en-US" altLang="ko-KR"/>
              <a:t>- git: 776fd3a..e0b5678, 9bf71d6..1539923, 29fb98f</a:t>
            </a:r>
          </a:p>
          <a:p>
            <a:r>
              <a:rPr lang="en-US" altLang="ko-KR"/>
              <a:t>- AI_WORKFLOW/06_HANDOFF/HANDOFF_FOR_CODEX.md</a:t>
            </a:r>
          </a:p>
          <a:p>
            <a:r>
              <a:rPr lang="en-US" altLang="ko-KR"/>
              <a:t>- 2026-08-31_SUMMER_DEVELOPMENT_AUDIT.md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EA5CA-48BE-EE22-B02B-A2BFE1CF2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74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BD426-B06A-32E0-4BD5-034A18C74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86A6E8-D1F5-AB6A-F8BE-0047D46A4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E1ECB4-0CBD-B0E7-8919-B52372A99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상태는 완성과 미완성을 함께 봐야 합니다</a:t>
            </a:r>
            <a:r>
              <a:rPr lang="en-US" altLang="ko-KR"/>
              <a:t>. Prototype_FirstDay</a:t>
            </a:r>
            <a:r>
              <a:rPr lang="ko-KR" altLang="en-US"/>
              <a:t>에서는 안내를 동반하면 가격 조정</a:t>
            </a:r>
            <a:r>
              <a:rPr lang="en-US" altLang="ko-KR"/>
              <a:t>, NPC </a:t>
            </a:r>
            <a:r>
              <a:rPr lang="ko-KR" altLang="en-US"/>
              <a:t>반응</a:t>
            </a:r>
            <a:r>
              <a:rPr lang="en-US" altLang="ko-KR"/>
              <a:t>, </a:t>
            </a:r>
            <a:r>
              <a:rPr lang="ko-KR" altLang="en-US"/>
              <a:t>실제 판매와 감사</a:t>
            </a:r>
            <a:r>
              <a:rPr lang="en-US" altLang="ko-KR"/>
              <a:t>, Day 1 </a:t>
            </a:r>
            <a:r>
              <a:rPr lang="ko-KR" altLang="en-US"/>
              <a:t>결산까지 부분 시연할 수 있습니다</a:t>
            </a:r>
            <a:r>
              <a:rPr lang="en-US" altLang="ko-KR"/>
              <a:t>. </a:t>
            </a:r>
            <a:r>
              <a:rPr lang="ko-KR" altLang="en-US"/>
              <a:t>실제 관찰에서는 잔액이 </a:t>
            </a:r>
            <a:r>
              <a:rPr lang="en-US" altLang="ko-KR"/>
              <a:t>500G</a:t>
            </a:r>
            <a:r>
              <a:rPr lang="ko-KR" altLang="en-US"/>
              <a:t>에서 </a:t>
            </a:r>
            <a:r>
              <a:rPr lang="en-US" altLang="ko-KR"/>
              <a:t>530G</a:t>
            </a:r>
            <a:r>
              <a:rPr lang="ko-KR" altLang="en-US"/>
              <a:t>로 바뀌고 감사 화면에 </a:t>
            </a:r>
            <a:r>
              <a:rPr lang="en-US" altLang="ko-KR"/>
              <a:t>30G</a:t>
            </a:r>
            <a:r>
              <a:rPr lang="ko-KR" altLang="en-US"/>
              <a:t>가 반영됐습니다</a:t>
            </a:r>
            <a:r>
              <a:rPr lang="en-US" altLang="ko-KR"/>
              <a:t>. </a:t>
            </a:r>
            <a:r>
              <a:rPr lang="ko-KR" altLang="en-US"/>
              <a:t>하지만 최신 </a:t>
            </a:r>
            <a:r>
              <a:rPr lang="en-US" altLang="ko-KR"/>
              <a:t>M85 </a:t>
            </a:r>
            <a:r>
              <a:rPr lang="ko-KR" altLang="en-US"/>
              <a:t>루프가 있는 </a:t>
            </a:r>
            <a:r>
              <a:rPr lang="en-US" altLang="ko-KR"/>
              <a:t>WorldSandbox</a:t>
            </a:r>
            <a:r>
              <a:rPr lang="ko-KR" altLang="en-US"/>
              <a:t>는 </a:t>
            </a:r>
            <a:r>
              <a:rPr lang="en-US" altLang="ko-KR"/>
              <a:t>Build Settings</a:t>
            </a:r>
            <a:r>
              <a:rPr lang="ko-KR" altLang="en-US"/>
              <a:t>에 없어 일반 실행 경로에서 도달할 수 없고</a:t>
            </a:r>
            <a:r>
              <a:rPr lang="en-US" altLang="ko-KR"/>
              <a:t>, </a:t>
            </a:r>
            <a:r>
              <a:rPr lang="ko-KR" altLang="en-US"/>
              <a:t>저장 후 방향 복원은 </a:t>
            </a:r>
            <a:r>
              <a:rPr lang="en-US" altLang="ko-KR"/>
              <a:t>137</a:t>
            </a:r>
            <a:r>
              <a:rPr lang="ko-KR" altLang="en-US"/>
              <a:t>도 오차로 </a:t>
            </a:r>
            <a:r>
              <a:rPr lang="en-US" altLang="ko-KR"/>
              <a:t>BETA-010</a:t>
            </a:r>
            <a:r>
              <a:rPr lang="ko-KR" altLang="en-US"/>
              <a:t>이 막혀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[Sources]</a:t>
            </a:r>
          </a:p>
          <a:p>
            <a:r>
              <a:rPr lang="en-US" altLang="ko-KR"/>
              <a:t>- Docs/VisualAudit/2026-08-25-29fb98f/VISUAL_BASELINE.md</a:t>
            </a:r>
          </a:p>
          <a:p>
            <a:r>
              <a:rPr lang="en-US" altLang="ko-KR"/>
              <a:t>- ProjectSettings/EditorBuildSettings.asset</a:t>
            </a:r>
          </a:p>
          <a:p>
            <a:r>
              <a:rPr lang="en-US" altLang="ko-KR"/>
              <a:t>- Docs/VisualAudit/2026-08-25-29fb98f/11_shop_price.png</a:t>
            </a:r>
          </a:p>
          <a:p>
            <a:r>
              <a:rPr lang="en-US" altLang="ko-KR"/>
              <a:t>- Docs/VisualAudit/2026-08-25-29fb98f/13_npc_feedback.png</a:t>
            </a:r>
          </a:p>
          <a:p>
            <a:r>
              <a:rPr lang="en-US" altLang="ko-KR"/>
              <a:t>- Docs/VisualAudit/2026-08-25-29fb98f/14_audit_app.png</a:t>
            </a:r>
          </a:p>
          <a:p>
            <a:r>
              <a:rPr lang="en-US" altLang="ko-KR"/>
              <a:t>[/Sources]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401E00-7117-8836-6878-F3D8BA27E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458F5-4817-4E5C-B875-B338C13263C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139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0F64-5EFC-75B7-88E3-AFE6E965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FB2D1-04E8-3DB8-9639-83BEF444E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974F5-D52A-D1B8-6D65-E1C1D04B5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중간평가 피드백은 기능이 있느냐보다</a:t>
            </a:r>
            <a:r>
              <a:rPr lang="en-US" altLang="ko-KR"/>
              <a:t>, </a:t>
            </a:r>
            <a:r>
              <a:rPr lang="ko-KR" altLang="en-US"/>
              <a:t>처음 보는 관람객이 짧은 시간 안에 게임을 이해하고 체험할 수 있느냐로 정리했습니다</a:t>
            </a:r>
            <a:r>
              <a:rPr lang="en-US" altLang="ko-KR"/>
              <a:t>. </a:t>
            </a:r>
            <a:r>
              <a:rPr lang="ko-KR" altLang="en-US"/>
              <a:t>그래서 졸업전시 목표를 </a:t>
            </a:r>
            <a:r>
              <a:rPr lang="en-US" altLang="ko-KR"/>
              <a:t>3</a:t>
            </a:r>
            <a:r>
              <a:rPr lang="ko-KR" altLang="en-US"/>
              <a:t>단계로 바꿨습니다</a:t>
            </a:r>
            <a:r>
              <a:rPr lang="en-US" altLang="ko-KR"/>
              <a:t>. 30</a:t>
            </a:r>
            <a:r>
              <a:rPr lang="ko-KR" altLang="en-US"/>
              <a:t>초 안에 잡화점 주인이라는 역할과 목표를 이해하고</a:t>
            </a:r>
            <a:r>
              <a:rPr lang="en-US" altLang="ko-KR"/>
              <a:t>, 3</a:t>
            </a:r>
            <a:r>
              <a:rPr lang="ko-KR" altLang="en-US"/>
              <a:t>분 안에 상품 선택과 진열</a:t>
            </a:r>
            <a:r>
              <a:rPr lang="en-US" altLang="ko-KR"/>
              <a:t>, </a:t>
            </a:r>
            <a:r>
              <a:rPr lang="ko-KR" altLang="en-US"/>
              <a:t>가격 판단</a:t>
            </a:r>
            <a:r>
              <a:rPr lang="en-US" altLang="ko-KR"/>
              <a:t>, NPC </a:t>
            </a:r>
            <a:r>
              <a:rPr lang="ko-KR" altLang="en-US"/>
              <a:t>반응을 경험하고</a:t>
            </a:r>
            <a:r>
              <a:rPr lang="en-US" altLang="ko-KR"/>
              <a:t>, 5</a:t>
            </a:r>
            <a:r>
              <a:rPr lang="ko-KR" altLang="en-US"/>
              <a:t>분 안에 매출과 관계</a:t>
            </a:r>
            <a:r>
              <a:rPr lang="en-US" altLang="ko-KR"/>
              <a:t>, </a:t>
            </a:r>
            <a:r>
              <a:rPr lang="ko-KR" altLang="en-US"/>
              <a:t>마을 변화와 결산으로 한 사이클을 닫는 </a:t>
            </a:r>
            <a:r>
              <a:rPr lang="en-US" altLang="ko-KR"/>
              <a:t>Vertical Slice Demo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[Sources]</a:t>
            </a:r>
          </a:p>
          <a:p>
            <a:r>
              <a:rPr lang="en-US" altLang="ko-KR"/>
              <a:t>- User-provided final integrated presentation brief</a:t>
            </a:r>
          </a:p>
          <a:p>
            <a:r>
              <a:rPr lang="en-US" altLang="ko-KR"/>
              <a:t>- PROJECT_PA_TODO.md</a:t>
            </a:r>
          </a:p>
          <a:p>
            <a:r>
              <a:rPr lang="en-US" altLang="ko-KR"/>
              <a:t>- PROJECT_PA_STATUS.md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4ED6-7453-350F-B395-B61412E1C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2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ED1F-C719-F83A-7876-856B887B9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548E5-F626-93E8-935F-44849BF58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5996D-2C55-23EF-B521-C8B599210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이번 학기의 우선순위는 명확합니다</a:t>
            </a:r>
            <a:r>
              <a:rPr lang="en-US" altLang="ko-KR"/>
              <a:t>. P0</a:t>
            </a:r>
            <a:r>
              <a:rPr lang="ko-KR" altLang="en-US"/>
              <a:t>는 방향 복원 </a:t>
            </a:r>
            <a:r>
              <a:rPr lang="en-US" altLang="ko-KR"/>
              <a:t>blocker</a:t>
            </a:r>
            <a:r>
              <a:rPr lang="ko-KR" altLang="en-US"/>
              <a:t>와 분리된 진입점을 해결해 종료 후 재실행이 통과하는 하나의 데모 경로를 만드는 것입니다</a:t>
            </a:r>
            <a:r>
              <a:rPr lang="en-US" altLang="ko-KR"/>
              <a:t>. P1</a:t>
            </a:r>
            <a:r>
              <a:rPr lang="ko-KR" altLang="en-US"/>
              <a:t>은 판단</a:t>
            </a:r>
            <a:r>
              <a:rPr lang="en-US" altLang="ko-KR"/>
              <a:t>, </a:t>
            </a:r>
            <a:r>
              <a:rPr lang="ko-KR" altLang="en-US"/>
              <a:t>반응</a:t>
            </a:r>
            <a:r>
              <a:rPr lang="en-US" altLang="ko-KR"/>
              <a:t>, </a:t>
            </a:r>
            <a:r>
              <a:rPr lang="ko-KR" altLang="en-US"/>
              <a:t>결과</a:t>
            </a:r>
            <a:r>
              <a:rPr lang="en-US" altLang="ko-KR"/>
              <a:t>, </a:t>
            </a:r>
            <a:r>
              <a:rPr lang="ko-KR" altLang="en-US"/>
              <a:t>결산</a:t>
            </a:r>
            <a:r>
              <a:rPr lang="en-US" altLang="ko-KR"/>
              <a:t>, Reset</a:t>
            </a:r>
            <a:r>
              <a:rPr lang="ko-KR" altLang="en-US"/>
              <a:t>을 </a:t>
            </a:r>
            <a:r>
              <a:rPr lang="en-US" altLang="ko-KR"/>
              <a:t>3~5</a:t>
            </a:r>
            <a:r>
              <a:rPr lang="ko-KR" altLang="en-US"/>
              <a:t>분 안에 닫는 것입니다</a:t>
            </a:r>
            <a:r>
              <a:rPr lang="en-US" altLang="ko-KR"/>
              <a:t>. P2</a:t>
            </a:r>
            <a:r>
              <a:rPr lang="ko-KR" altLang="en-US"/>
              <a:t>는 </a:t>
            </a:r>
            <a:r>
              <a:rPr lang="en-US" altLang="ko-KR"/>
              <a:t>1920×1080</a:t>
            </a:r>
            <a:r>
              <a:rPr lang="ko-KR" altLang="en-US"/>
              <a:t>에서 </a:t>
            </a:r>
            <a:r>
              <a:rPr lang="en-US" altLang="ko-KR"/>
              <a:t>HUD</a:t>
            </a:r>
            <a:r>
              <a:rPr lang="ko-KR" altLang="en-US"/>
              <a:t>와 카메라</a:t>
            </a:r>
            <a:r>
              <a:rPr lang="en-US" altLang="ko-KR"/>
              <a:t>, </a:t>
            </a:r>
            <a:r>
              <a:rPr lang="ko-KR" altLang="en-US"/>
              <a:t>상점 동선을 읽기 쉽게 만드는 것이고</a:t>
            </a:r>
            <a:r>
              <a:rPr lang="en-US" altLang="ko-KR"/>
              <a:t>, P3</a:t>
            </a:r>
            <a:r>
              <a:rPr lang="ko-KR" altLang="en-US"/>
              <a:t>는 </a:t>
            </a:r>
            <a:r>
              <a:rPr lang="en-US" altLang="ko-KR"/>
              <a:t>standalone, </a:t>
            </a:r>
            <a:r>
              <a:rPr lang="ko-KR" altLang="en-US"/>
              <a:t>오디오와 비주얼 폴리싱</a:t>
            </a:r>
            <a:r>
              <a:rPr lang="en-US" altLang="ko-KR"/>
              <a:t>, </a:t>
            </a:r>
            <a:r>
              <a:rPr lang="ko-KR" altLang="en-US"/>
              <a:t>반복 관람객 플레이와 실패 대비입니다</a:t>
            </a:r>
            <a:r>
              <a:rPr lang="en-US" altLang="ko-KR"/>
              <a:t>. </a:t>
            </a:r>
            <a:r>
              <a:rPr lang="ko-KR" altLang="en-US"/>
              <a:t>최종 목표는 기능 수가 아니라</a:t>
            </a:r>
            <a:r>
              <a:rPr lang="en-US" altLang="ko-KR"/>
              <a:t>, </a:t>
            </a:r>
            <a:r>
              <a:rPr lang="ko-KR" altLang="en-US"/>
              <a:t>졸업전시에서 안정적으로 반복 가능한 </a:t>
            </a:r>
            <a:r>
              <a:rPr lang="en-US" altLang="ko-KR"/>
              <a:t>3~5</a:t>
            </a:r>
            <a:r>
              <a:rPr lang="ko-KR" altLang="en-US"/>
              <a:t>분 </a:t>
            </a:r>
            <a:r>
              <a:rPr lang="en-US" altLang="ko-KR"/>
              <a:t>Demo </a:t>
            </a:r>
            <a:r>
              <a:rPr lang="ko-KR" altLang="en-US"/>
              <a:t>완성입니다</a:t>
            </a:r>
            <a:r>
              <a:rPr lang="en-US" altLang="ko-KR"/>
              <a:t>. </a:t>
            </a:r>
            <a:r>
              <a:rPr lang="ko-KR" altLang="en-US"/>
              <a:t>감사합니다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[Sources]</a:t>
            </a:r>
          </a:p>
          <a:p>
            <a:r>
              <a:rPr lang="en-US" altLang="ko-KR"/>
              <a:t>- 2026-08-31_SUMMER_DEVELOPMENT_AUDIT.md</a:t>
            </a:r>
          </a:p>
          <a:p>
            <a:r>
              <a:rPr lang="en-US" altLang="ko-KR"/>
              <a:t>- PROJECT_PA_TODO.md</a:t>
            </a:r>
          </a:p>
          <a:p>
            <a:r>
              <a:rPr lang="en-US" altLang="ko-KR"/>
              <a:t>- Docs/VisualAudit/2026-08-25-29fb98f/VISUAL_BASELINE.md</a:t>
            </a:r>
          </a:p>
          <a:p>
            <a:r>
              <a:rPr lang="en-US" altLang="ko-KR"/>
              <a:t>- AI_WORKFLOW/04_VERIFICATION/VERIFICATION_RULES.md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F7D7A-2705-2A8C-B918-55F920BDC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38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52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CB195-AE26-7ADC-5DA0-69226065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1569EF7-0FD7-5119-FEB2-26E85F725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0" y="838200"/>
            <a:ext cx="185801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D55F47B-4550-0CED-D11A-8402D93AA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423400"/>
            <a:ext cx="18288000" cy="863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73C4A4B-50D6-2BFD-FC13-69B3385A6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9200" y="4686300"/>
            <a:ext cx="2603500" cy="260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4D60F58-34C5-F238-AA60-22B98541CA00}"/>
              </a:ext>
            </a:extLst>
          </p:cNvPr>
          <p:cNvSpPr txBox="1"/>
          <p:nvPr/>
        </p:nvSpPr>
        <p:spPr>
          <a:xfrm>
            <a:off x="3663950" y="4838700"/>
            <a:ext cx="10972800" cy="2793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000" b="0" i="0" u="none" strike="noStrike" dirty="0">
                <a:solidFill>
                  <a:srgbClr val="15704D"/>
                </a:solidFill>
                <a:latin typeface="GangwonEduPower"/>
              </a:rPr>
              <a:t>Project P.A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8EE4DA-779D-3099-D82B-CDE6C0780A31}"/>
              </a:ext>
            </a:extLst>
          </p:cNvPr>
          <p:cNvSpPr txBox="1"/>
          <p:nvPr/>
        </p:nvSpPr>
        <p:spPr>
          <a:xfrm>
            <a:off x="3676650" y="3572793"/>
            <a:ext cx="10934700" cy="43213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6800" b="0" i="0" u="none" strike="noStrike" dirty="0">
                <a:solidFill>
                  <a:srgbClr val="06402B"/>
                </a:solidFill>
                <a:latin typeface="GangwonEduPower" panose="020B0600000101010101" charset="-127"/>
                <a:ea typeface="GangwonEduPower" panose="020B0600000101010101" charset="-127"/>
              </a:rPr>
              <a:t>2026 </a:t>
            </a:r>
            <a:r>
              <a:rPr lang="ko-KR" altLang="en-US" sz="6800" b="0" i="0" u="none" strike="noStrike" dirty="0">
                <a:solidFill>
                  <a:srgbClr val="06402B"/>
                </a:solidFill>
                <a:latin typeface="GangwonEduPower" panose="020B0600000101010101" charset="-127"/>
                <a:ea typeface="GangwonEduPower" panose="020B0600000101010101" charset="-127"/>
              </a:rPr>
              <a:t>여름방학 개발 진행상황</a:t>
            </a:r>
            <a:endParaRPr lang="ko-KR" sz="6800" b="0" i="0" u="none" strike="noStrike" dirty="0">
              <a:solidFill>
                <a:srgbClr val="06402B"/>
              </a:solidFill>
              <a:latin typeface="GangwonEduPower" panose="020B0600000101010101" charset="-127"/>
              <a:ea typeface="GangwonEduPower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1A30E12-698E-B13F-E239-10AD22CA53FA}"/>
              </a:ext>
            </a:extLst>
          </p:cNvPr>
          <p:cNvSpPr txBox="1"/>
          <p:nvPr/>
        </p:nvSpPr>
        <p:spPr>
          <a:xfrm>
            <a:off x="0" y="8560400"/>
            <a:ext cx="8561294" cy="85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800" b="0" i="0" u="none" strike="noStrike" dirty="0">
                <a:solidFill>
                  <a:srgbClr val="5B7763"/>
                </a:solidFill>
                <a:latin typeface="GangwonEduPower"/>
              </a:rPr>
              <a:t>202121026 </a:t>
            </a:r>
            <a:r>
              <a:rPr lang="ko-KR" sz="4800" b="0" i="0" u="none" strike="noStrike" dirty="0">
                <a:solidFill>
                  <a:srgbClr val="5B7763"/>
                </a:solidFill>
                <a:ea typeface="GangwonEduPower"/>
              </a:rPr>
              <a:t>컴퓨터공학과</a:t>
            </a:r>
            <a:r>
              <a:rPr lang="en-US" sz="4800" b="0" i="0" u="none" strike="noStrike" dirty="0">
                <a:solidFill>
                  <a:srgbClr val="5B7763"/>
                </a:solidFill>
                <a:latin typeface="GangwonEduPower"/>
              </a:rPr>
              <a:t> </a:t>
            </a:r>
            <a:r>
              <a:rPr lang="ko-KR" sz="4800" b="0" i="0" u="none" strike="noStrike" dirty="0">
                <a:solidFill>
                  <a:srgbClr val="5B7763"/>
                </a:solidFill>
                <a:ea typeface="GangwonEduPower"/>
              </a:rPr>
              <a:t>신동준</a:t>
            </a:r>
          </a:p>
        </p:txBody>
      </p:sp>
    </p:spTree>
    <p:extLst>
      <p:ext uri="{BB962C8B-B14F-4D97-AF65-F5344CB8AC3E}">
        <p14:creationId xmlns:p14="http://schemas.microsoft.com/office/powerpoint/2010/main" val="235534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587F0-C9DF-FA76-E7DA-1FACDDAF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다이어그램 22">
            <a:extLst>
              <a:ext uri="{FF2B5EF4-FFF2-40B4-BE49-F238E27FC236}">
                <a16:creationId xmlns:a16="http://schemas.microsoft.com/office/drawing/2014/main" id="{424D426C-7686-B836-3467-C8DAE0F0B4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0836347"/>
              </p:ext>
            </p:extLst>
          </p:nvPr>
        </p:nvGraphicFramePr>
        <p:xfrm>
          <a:off x="1905000" y="1444124"/>
          <a:ext cx="13578840" cy="7128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4A99B4D2-085D-05CD-DAA9-546721B22722}"/>
              </a:ext>
            </a:extLst>
          </p:cNvPr>
          <p:cNvSpPr/>
          <p:nvPr/>
        </p:nvSpPr>
        <p:spPr>
          <a:xfrm>
            <a:off x="1" y="0"/>
            <a:ext cx="18287543" cy="219456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B54111C-2FAE-3116-BE19-381A4AA23AC7}"/>
              </a:ext>
            </a:extLst>
          </p:cNvPr>
          <p:cNvSpPr/>
          <p:nvPr/>
        </p:nvSpPr>
        <p:spPr>
          <a:xfrm>
            <a:off x="1" y="10040112"/>
            <a:ext cx="18287543" cy="24688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D0452A-81D5-BD52-C62F-5D708DEF3FB7}"/>
              </a:ext>
            </a:extLst>
          </p:cNvPr>
          <p:cNvSpPr/>
          <p:nvPr/>
        </p:nvSpPr>
        <p:spPr>
          <a:xfrm>
            <a:off x="864108" y="891540"/>
            <a:ext cx="82296" cy="644652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969F3E5-5BAB-F4E1-E00F-84A087260A6C}"/>
              </a:ext>
            </a:extLst>
          </p:cNvPr>
          <p:cNvSpPr/>
          <p:nvPr/>
        </p:nvSpPr>
        <p:spPr>
          <a:xfrm>
            <a:off x="1152144" y="927802"/>
            <a:ext cx="16047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49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만들고자 하는 </a:t>
            </a:r>
            <a:r>
              <a:rPr lang="en-US" altLang="ko-KR" sz="49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Project P.A.</a:t>
            </a:r>
            <a:endParaRPr lang="en-US" sz="4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C270D44-25E8-A25B-80C2-13CCCA638940}"/>
              </a:ext>
            </a:extLst>
          </p:cNvPr>
          <p:cNvSpPr/>
          <p:nvPr/>
        </p:nvSpPr>
        <p:spPr>
          <a:xfrm>
            <a:off x="17323308" y="96972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2F1041D-03F0-BF01-2AE7-E40D6900EB44}"/>
              </a:ext>
            </a:extLst>
          </p:cNvPr>
          <p:cNvGrpSpPr/>
          <p:nvPr/>
        </p:nvGrpSpPr>
        <p:grpSpPr>
          <a:xfrm>
            <a:off x="6899910" y="4606290"/>
            <a:ext cx="3589020" cy="1074420"/>
            <a:chOff x="6240780" y="3813048"/>
            <a:chExt cx="5829300" cy="1261872"/>
          </a:xfrm>
        </p:grpSpPr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B5076201-8061-6BE1-AF42-0825CED24CBF}"/>
                </a:ext>
              </a:extLst>
            </p:cNvPr>
            <p:cNvSpPr/>
            <p:nvPr/>
          </p:nvSpPr>
          <p:spPr>
            <a:xfrm>
              <a:off x="6240780" y="3813048"/>
              <a:ext cx="5829300" cy="1261872"/>
            </a:xfrm>
            <a:prstGeom prst="roundRect">
              <a:avLst>
                <a:gd name="adj" fmla="val 10870"/>
              </a:avLst>
            </a:prstGeom>
            <a:solidFill>
              <a:srgbClr val="E2F0EA"/>
            </a:solidFill>
            <a:ln w="12700">
              <a:solidFill>
                <a:srgbClr val="E2F0EA"/>
              </a:solidFill>
              <a:prstDash val="solid"/>
            </a:ln>
            <a:effectLst>
              <a:outerShdw blurRad="12700" dist="50800" dir="2700000" algn="bl" rotWithShape="0">
                <a:srgbClr val="B8C2B9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7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81482E92-02F9-828F-EF68-59E5DCF1D30B}"/>
                </a:ext>
              </a:extLst>
            </p:cNvPr>
            <p:cNvSpPr/>
            <p:nvPr/>
          </p:nvSpPr>
          <p:spPr>
            <a:xfrm>
              <a:off x="7018359" y="4224528"/>
              <a:ext cx="4250826" cy="43891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77500" lnSpcReduction="20000"/>
            </a:bodyPr>
            <a:lstStyle/>
            <a:p>
              <a:pPr algn="ctr"/>
              <a:r>
                <a:rPr lang="en-US" sz="3000" b="1" dirty="0">
                  <a:solidFill>
                    <a:srgbClr val="006B4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상점 = 섬 경제의 엔진</a:t>
              </a:r>
              <a:endParaRPr lang="en-US" sz="3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1" name="Text 19">
            <a:extLst>
              <a:ext uri="{FF2B5EF4-FFF2-40B4-BE49-F238E27FC236}">
                <a16:creationId xmlns:a16="http://schemas.microsoft.com/office/drawing/2014/main" id="{7E8EA91F-5EEB-CCF8-50CA-E9B4A78318D9}"/>
              </a:ext>
            </a:extLst>
          </p:cNvPr>
          <p:cNvSpPr/>
          <p:nvPr/>
        </p:nvSpPr>
        <p:spPr>
          <a:xfrm>
            <a:off x="2263140" y="8572500"/>
            <a:ext cx="13578840" cy="4663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ko-KR" altLang="en-US" sz="200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직접 일하는 주민</a:t>
            </a:r>
            <a:r>
              <a:rPr lang="en-US" altLang="ko-KR" sz="200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200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점주에서</a:t>
            </a:r>
            <a:r>
              <a:rPr lang="en-US" altLang="ko-KR" sz="200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사람과 경제를 운영하는 </a:t>
            </a:r>
            <a:r>
              <a:rPr lang="en-US" altLang="ko-KR" sz="200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P.A. </a:t>
            </a:r>
            <a:r>
              <a:rPr lang="ko-KR" altLang="en-US" sz="200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관리자로 성장한다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F39A7331-3179-E637-F5A0-C530203BDE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9423400"/>
            <a:ext cx="18288000" cy="863600"/>
          </a:xfrm>
          <a:prstGeom prst="rect">
            <a:avLst/>
          </a:prstGeom>
        </p:spPr>
      </p:pic>
      <p:pic>
        <p:nvPicPr>
          <p:cNvPr id="25" name="Picture 22" descr="slide-36.png">
            <a:extLst>
              <a:ext uri="{FF2B5EF4-FFF2-40B4-BE49-F238E27FC236}">
                <a16:creationId xmlns:a16="http://schemas.microsoft.com/office/drawing/2014/main" id="{EFF92493-D3C5-A9FD-1186-64EB6A833C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98536" y="5609560"/>
            <a:ext cx="4761976" cy="2753764"/>
          </a:xfrm>
          <a:prstGeom prst="rect">
            <a:avLst/>
          </a:prstGeom>
        </p:spPr>
      </p:pic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3083E17D-C2A2-83E2-F831-AD83024A0A3A}"/>
              </a:ext>
            </a:extLst>
          </p:cNvPr>
          <p:cNvSpPr/>
          <p:nvPr/>
        </p:nvSpPr>
        <p:spPr>
          <a:xfrm>
            <a:off x="12598536" y="5673986"/>
            <a:ext cx="1292276" cy="329184"/>
          </a:xfrm>
          <a:prstGeom prst="roundRect">
            <a:avLst/>
          </a:prstGeom>
          <a:solidFill>
            <a:srgbClr val="006446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sz="1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sz="1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</a:t>
            </a:r>
            <a:endParaRPr kumimoji="0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436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FB4A-6993-987C-06FD-635CE41BF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F3F8D3-1F6B-1747-DF79-613AA198EFA7}"/>
              </a:ext>
            </a:extLst>
          </p:cNvPr>
          <p:cNvSpPr/>
          <p:nvPr/>
        </p:nvSpPr>
        <p:spPr>
          <a:xfrm>
            <a:off x="1" y="0"/>
            <a:ext cx="18287543" cy="219456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pPr defTabSz="1371600"/>
            <a:endParaRPr lang="ko-KR" altLang="en-US" sz="270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E0F6B04-28AF-F113-A989-7DD678B1BBAC}"/>
              </a:ext>
            </a:extLst>
          </p:cNvPr>
          <p:cNvSpPr/>
          <p:nvPr/>
        </p:nvSpPr>
        <p:spPr>
          <a:xfrm>
            <a:off x="1" y="10040112"/>
            <a:ext cx="18287543" cy="24688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pPr defTabSz="1371600"/>
            <a:endParaRPr lang="ko-KR" altLang="en-US" sz="270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EA7235-B534-3AED-AC36-44EE524FC54F}"/>
              </a:ext>
            </a:extLst>
          </p:cNvPr>
          <p:cNvSpPr/>
          <p:nvPr/>
        </p:nvSpPr>
        <p:spPr>
          <a:xfrm>
            <a:off x="864108" y="891540"/>
            <a:ext cx="82296" cy="644652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pPr defTabSz="1371600"/>
            <a:endParaRPr lang="ko-KR" altLang="en-US" sz="270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30A467-55F0-E3D2-C414-2DFEB218CB3A}"/>
              </a:ext>
            </a:extLst>
          </p:cNvPr>
          <p:cNvSpPr/>
          <p:nvPr/>
        </p:nvSpPr>
        <p:spPr>
          <a:xfrm>
            <a:off x="1152144" y="800100"/>
            <a:ext cx="13706856" cy="780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defTabSz="1371600"/>
            <a:r>
              <a:rPr lang="ko-KR" altLang="en-US" sz="4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방학 시작 당시</a:t>
            </a:r>
            <a:endParaRPr lang="en-US" sz="47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4F7B2A-546B-09FF-38D3-2F6B139542A7}"/>
              </a:ext>
            </a:extLst>
          </p:cNvPr>
          <p:cNvSpPr/>
          <p:nvPr/>
        </p:nvSpPr>
        <p:spPr>
          <a:xfrm>
            <a:off x="17323308" y="96972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defTabSz="1371600"/>
            <a:r>
              <a:rPr lang="en-US" sz="1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4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1B1E632-FD94-6F11-DC46-C579BCCB6418}"/>
              </a:ext>
            </a:extLst>
          </p:cNvPr>
          <p:cNvSpPr/>
          <p:nvPr/>
        </p:nvSpPr>
        <p:spPr>
          <a:xfrm>
            <a:off x="4098902" y="1873952"/>
            <a:ext cx="4042762" cy="4676902"/>
          </a:xfrm>
          <a:prstGeom prst="roundRect">
            <a:avLst>
              <a:gd name="adj" fmla="val 2899"/>
            </a:avLst>
          </a:prstGeom>
          <a:solidFill>
            <a:srgbClr val="142235"/>
          </a:solidFill>
          <a:ln w="12700">
            <a:solidFill>
              <a:srgbClr val="142235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pPr defTabSz="1371600"/>
            <a:endParaRPr lang="ko-KR" altLang="en-US" sz="270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75E4D43-46BD-ADCF-5BB7-42593647DB8E}"/>
              </a:ext>
            </a:extLst>
          </p:cNvPr>
          <p:cNvSpPr/>
          <p:nvPr/>
        </p:nvSpPr>
        <p:spPr>
          <a:xfrm>
            <a:off x="4195400" y="2229679"/>
            <a:ext cx="3977640" cy="4800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 defTabSz="1371600"/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 구현</a:t>
            </a:r>
            <a:endParaRPr lang="en-US" sz="27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B3AD88D-AC10-3287-13FD-1B8830043958}"/>
              </a:ext>
            </a:extLst>
          </p:cNvPr>
          <p:cNvSpPr/>
          <p:nvPr/>
        </p:nvSpPr>
        <p:spPr>
          <a:xfrm>
            <a:off x="4339828" y="3213633"/>
            <a:ext cx="3560910" cy="24500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algn="ctr" defTabSz="1371600"/>
            <a:r>
              <a:rPr lang="en-US" altLang="ko-KR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이동 </a:t>
            </a:r>
            <a:r>
              <a:rPr lang="en-US" altLang="ko-KR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상호작용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인벤토리 </a:t>
            </a:r>
            <a:r>
              <a:rPr lang="en-US" altLang="ko-KR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24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핫바</a:t>
            </a:r>
            <a:r>
              <a:rPr lang="ko-KR" altLang="en-US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 진열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가격 조정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 </a:t>
            </a:r>
            <a:r>
              <a:rPr lang="ko-KR" altLang="en-US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구매 판단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기본 경제 </a:t>
            </a:r>
            <a:r>
              <a:rPr lang="en-US" altLang="ko-KR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 FSM / MBTI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C9249E6-6AF5-10E4-762C-6069D2233B19}"/>
              </a:ext>
            </a:extLst>
          </p:cNvPr>
          <p:cNvSpPr/>
          <p:nvPr/>
        </p:nvSpPr>
        <p:spPr>
          <a:xfrm>
            <a:off x="10211458" y="1853781"/>
            <a:ext cx="3977640" cy="4615434"/>
          </a:xfrm>
          <a:prstGeom prst="roundRect">
            <a:avLst>
              <a:gd name="adj" fmla="val 3279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pPr defTabSz="1371600"/>
            <a:endParaRPr lang="ko-KR" altLang="en-US" sz="270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0BC730-71D4-5698-71F9-1B1560C74C27}"/>
              </a:ext>
            </a:extLst>
          </p:cNvPr>
          <p:cNvSpPr/>
          <p:nvPr/>
        </p:nvSpPr>
        <p:spPr>
          <a:xfrm>
            <a:off x="10595506" y="2196681"/>
            <a:ext cx="3401568" cy="4800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 defTabSz="1371600"/>
            <a:r>
              <a:rPr lang="ko-KR" altLang="en-US" sz="2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아직 부족했던 것</a:t>
            </a:r>
            <a:endParaRPr lang="en-US" sz="27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703327A-F5D6-30BF-F1D6-2123E9A3D460}"/>
              </a:ext>
            </a:extLst>
          </p:cNvPr>
          <p:cNvSpPr/>
          <p:nvPr/>
        </p:nvSpPr>
        <p:spPr>
          <a:xfrm>
            <a:off x="10211458" y="3422733"/>
            <a:ext cx="3977640" cy="18516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 활동이 배치된 월드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제작과 생산의 확장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 </a:t>
            </a:r>
            <a:r>
              <a:rPr lang="ko-KR" altLang="en-US" sz="2400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채용 </a:t>
            </a:r>
            <a:r>
              <a:rPr lang="en-US" altLang="ko-KR" sz="2400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2400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 연결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상점과 건물 성장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 날짜 진행 </a:t>
            </a:r>
          </a:p>
          <a:p>
            <a:pPr marL="342900" indent="-342900" algn="ctr" defTabSz="13716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상태 복구와 통합 검증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77D5BFC-DBC2-63E2-07BD-EC81A7D88EF9}"/>
              </a:ext>
            </a:extLst>
          </p:cNvPr>
          <p:cNvSpPr/>
          <p:nvPr/>
        </p:nvSpPr>
        <p:spPr>
          <a:xfrm>
            <a:off x="4038372" y="6973109"/>
            <a:ext cx="10210800" cy="132677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4D8D4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pPr defTabSz="1371600"/>
            <a:endParaRPr lang="ko-KR" altLang="en-US" sz="270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B1A826A-C4AC-7318-3BBE-A0ED3A878719}"/>
              </a:ext>
            </a:extLst>
          </p:cNvPr>
          <p:cNvSpPr/>
          <p:nvPr/>
        </p:nvSpPr>
        <p:spPr>
          <a:xfrm>
            <a:off x="3952251" y="7397568"/>
            <a:ext cx="3360420" cy="4800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 defTabSz="1371600"/>
            <a:r>
              <a:rPr lang="ko-KR" altLang="en-US" sz="2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방학 핵심 목표</a:t>
            </a:r>
            <a:endParaRPr lang="en-US" sz="27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1CEC5D1-9983-60C6-8B67-9160E4EBCD92}"/>
              </a:ext>
            </a:extLst>
          </p:cNvPr>
          <p:cNvSpPr/>
          <p:nvPr/>
        </p:nvSpPr>
        <p:spPr>
          <a:xfrm>
            <a:off x="7992125" y="7252448"/>
            <a:ext cx="5362743" cy="7680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 defTabSz="1371600"/>
            <a:r>
              <a:rPr lang="ko-KR" altLang="en-US" sz="2100" b="1" dirty="0">
                <a:solidFill>
                  <a:srgbClr val="D471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상점 </a:t>
            </a:r>
            <a:r>
              <a:rPr lang="en-US" altLang="ko-KR" sz="2100" b="1" dirty="0">
                <a:solidFill>
                  <a:srgbClr val="D471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Prototype</a:t>
            </a:r>
            <a:r>
              <a:rPr lang="ko-KR" altLang="en-US" sz="2100" b="1" dirty="0">
                <a:solidFill>
                  <a:srgbClr val="D471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더 큰 게임으로의 확장</a:t>
            </a:r>
            <a:endParaRPr lang="en-US" sz="21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15AB6C4C-F639-A346-416E-BFB5CD45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3400"/>
            <a:ext cx="18288000" cy="863600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242DEE2-B7B4-8EE0-9B75-B95F8EF942B8}"/>
              </a:ext>
            </a:extLst>
          </p:cNvPr>
          <p:cNvCxnSpPr>
            <a:cxnSpLocks/>
          </p:cNvCxnSpPr>
          <p:nvPr/>
        </p:nvCxnSpPr>
        <p:spPr>
          <a:xfrm>
            <a:off x="6934200" y="7636496"/>
            <a:ext cx="838200" cy="0"/>
          </a:xfrm>
          <a:prstGeom prst="straightConnector1">
            <a:avLst/>
          </a:prstGeom>
          <a:ln>
            <a:solidFill>
              <a:srgbClr val="0640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82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F618-C791-CEE2-B645-F6A16A81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D63359-AEE3-418F-25F4-E4C5020E683C}"/>
              </a:ext>
            </a:extLst>
          </p:cNvPr>
          <p:cNvSpPr/>
          <p:nvPr/>
        </p:nvSpPr>
        <p:spPr>
          <a:xfrm>
            <a:off x="1" y="0"/>
            <a:ext cx="18287543" cy="219456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5A8A6A-7A97-BE36-DBFD-1434A0DA0582}"/>
              </a:ext>
            </a:extLst>
          </p:cNvPr>
          <p:cNvSpPr/>
          <p:nvPr/>
        </p:nvSpPr>
        <p:spPr>
          <a:xfrm>
            <a:off x="1" y="10040112"/>
            <a:ext cx="18287543" cy="24688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2CE449-D1B3-2A89-4376-A2D67C9706E9}"/>
              </a:ext>
            </a:extLst>
          </p:cNvPr>
          <p:cNvSpPr/>
          <p:nvPr/>
        </p:nvSpPr>
        <p:spPr>
          <a:xfrm>
            <a:off x="14196060" y="41148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ko-KR" altLang="en-US" sz="160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방학 진척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DFB9F8-AABD-9B67-054A-0EA7CCB7CF5F}"/>
              </a:ext>
            </a:extLst>
          </p:cNvPr>
          <p:cNvSpPr/>
          <p:nvPr/>
        </p:nvSpPr>
        <p:spPr>
          <a:xfrm>
            <a:off x="864108" y="891540"/>
            <a:ext cx="82296" cy="644652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803CD9-05EA-E15A-F60E-B2722B058014}"/>
              </a:ext>
            </a:extLst>
          </p:cNvPr>
          <p:cNvSpPr/>
          <p:nvPr/>
        </p:nvSpPr>
        <p:spPr>
          <a:xfrm>
            <a:off x="1124712" y="931164"/>
            <a:ext cx="16047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42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방학 동안 실제로 추가</a:t>
            </a:r>
            <a:r>
              <a:rPr lang="en-US" altLang="ko-KR" sz="42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42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확장한 플레이</a:t>
            </a:r>
            <a:endParaRPr lang="en-US" sz="4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8F7820-DDDD-13AB-BE6C-DBC6DE0912F5}"/>
              </a:ext>
            </a:extLst>
          </p:cNvPr>
          <p:cNvSpPr/>
          <p:nvPr/>
        </p:nvSpPr>
        <p:spPr>
          <a:xfrm>
            <a:off x="17323308" y="96972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71E054B-A7A7-6C27-16E1-D16A51D82E50}"/>
              </a:ext>
            </a:extLst>
          </p:cNvPr>
          <p:cNvSpPr/>
          <p:nvPr/>
        </p:nvSpPr>
        <p:spPr>
          <a:xfrm>
            <a:off x="5417820" y="3383280"/>
            <a:ext cx="3497580" cy="33604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4D8D4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EA7FAB7-F8C0-BCB8-4843-BD158157D4C8}"/>
              </a:ext>
            </a:extLst>
          </p:cNvPr>
          <p:cNvSpPr/>
          <p:nvPr/>
        </p:nvSpPr>
        <p:spPr>
          <a:xfrm>
            <a:off x="5760720" y="3726180"/>
            <a:ext cx="2811780" cy="576072"/>
          </a:xfrm>
          <a:prstGeom prst="roundRect">
            <a:avLst>
              <a:gd name="adj" fmla="val 28571"/>
            </a:avLst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59A6184-FDAE-7535-E84A-6021CE35EEF4}"/>
              </a:ext>
            </a:extLst>
          </p:cNvPr>
          <p:cNvSpPr/>
          <p:nvPr/>
        </p:nvSpPr>
        <p:spPr>
          <a:xfrm>
            <a:off x="5870448" y="3794760"/>
            <a:ext cx="259232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 </a:t>
            </a:r>
            <a:r>
              <a:rPr lang="ko-KR" altLang="en-US" sz="2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활동 </a:t>
            </a:r>
            <a:r>
              <a:rPr lang="en-US" altLang="ko-KR" sz="2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2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 연결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9B4ACD4-0BB6-AA97-446F-DB5E7BA7D450}"/>
              </a:ext>
            </a:extLst>
          </p:cNvPr>
          <p:cNvSpPr/>
          <p:nvPr/>
        </p:nvSpPr>
        <p:spPr>
          <a:xfrm>
            <a:off x="6189793" y="4762500"/>
            <a:ext cx="1953634" cy="1289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숲 → 채집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초원 → 농사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고지대 → </a:t>
            </a:r>
            <a:r>
              <a:rPr lang="ko-KR" altLang="en-US" dirty="0" err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광질</a:t>
            </a:r>
            <a:r>
              <a:rPr lang="ko-KR" altLang="en-US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연못 → 낚시</a:t>
            </a: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5B293CE-74CB-88D8-3179-AF9BCF25E96D}"/>
              </a:ext>
            </a:extLst>
          </p:cNvPr>
          <p:cNvSpPr/>
          <p:nvPr/>
        </p:nvSpPr>
        <p:spPr>
          <a:xfrm>
            <a:off x="9669780" y="3383280"/>
            <a:ext cx="3497580" cy="33604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4D8D4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endParaRPr lang="ko-KR" altLang="en-US"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AF47903-CF86-0670-72CF-B19E1D6C741D}"/>
              </a:ext>
            </a:extLst>
          </p:cNvPr>
          <p:cNvSpPr/>
          <p:nvPr/>
        </p:nvSpPr>
        <p:spPr>
          <a:xfrm>
            <a:off x="10012680" y="3726180"/>
            <a:ext cx="2811780" cy="576072"/>
          </a:xfrm>
          <a:prstGeom prst="roundRect">
            <a:avLst>
              <a:gd name="adj" fmla="val 28571"/>
            </a:avLst>
          </a:prstGeom>
          <a:solidFill>
            <a:srgbClr val="D4714A"/>
          </a:solidFill>
          <a:ln w="12700">
            <a:solidFill>
              <a:srgbClr val="D4714A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7E266F8-5737-E705-A8D9-E80C624069EE}"/>
              </a:ext>
            </a:extLst>
          </p:cNvPr>
          <p:cNvSpPr/>
          <p:nvPr/>
        </p:nvSpPr>
        <p:spPr>
          <a:xfrm>
            <a:off x="10122408" y="3794760"/>
            <a:ext cx="259232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sz="2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 </a:t>
            </a:r>
            <a:r>
              <a:rPr lang="ko-KR" altLang="en-US" sz="2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 자원 획득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C78A724-408F-8C39-EF3A-2AF598AE8F64}"/>
              </a:ext>
            </a:extLst>
          </p:cNvPr>
          <p:cNvSpPr/>
          <p:nvPr/>
        </p:nvSpPr>
        <p:spPr>
          <a:xfrm>
            <a:off x="10706100" y="4792621"/>
            <a:ext cx="1424940" cy="1289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Carrot ×2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Wheat ×3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Ore ×2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Fish ×2</a:t>
            </a: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BD297C0-6183-D9E6-E06E-1BE8744D088D}"/>
              </a:ext>
            </a:extLst>
          </p:cNvPr>
          <p:cNvSpPr/>
          <p:nvPr/>
        </p:nvSpPr>
        <p:spPr>
          <a:xfrm>
            <a:off x="13921740" y="3383280"/>
            <a:ext cx="3497580" cy="33604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4D8D4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CAC632C-A660-CD6D-4E5E-A3D99EC78935}"/>
              </a:ext>
            </a:extLst>
          </p:cNvPr>
          <p:cNvSpPr/>
          <p:nvPr/>
        </p:nvSpPr>
        <p:spPr>
          <a:xfrm>
            <a:off x="14264640" y="3726180"/>
            <a:ext cx="2811780" cy="576072"/>
          </a:xfrm>
          <a:prstGeom prst="roundRect">
            <a:avLst>
              <a:gd name="adj" fmla="val 28571"/>
            </a:avLst>
          </a:prstGeom>
          <a:solidFill>
            <a:srgbClr val="142235"/>
          </a:solidFill>
          <a:ln w="12700">
            <a:solidFill>
              <a:srgbClr val="142235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BA3B4A1-01E2-0283-7C7D-756D4768FB32}"/>
              </a:ext>
            </a:extLst>
          </p:cNvPr>
          <p:cNvSpPr/>
          <p:nvPr/>
        </p:nvSpPr>
        <p:spPr>
          <a:xfrm>
            <a:off x="14374368" y="3794760"/>
            <a:ext cx="259232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altLang="ko-KR" sz="2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 </a:t>
            </a:r>
            <a:r>
              <a:rPr lang="ko-KR" altLang="en-US" sz="2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제작까지 연결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F27B7F7-90DC-B21D-6F92-FF3C884358F2}"/>
              </a:ext>
            </a:extLst>
          </p:cNvPr>
          <p:cNvSpPr/>
          <p:nvPr/>
        </p:nvSpPr>
        <p:spPr>
          <a:xfrm>
            <a:off x="14744700" y="4734560"/>
            <a:ext cx="2674620" cy="1289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ko-KR" altLang="en-US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채집 </a:t>
            </a:r>
            <a:r>
              <a:rPr lang="en-US" altLang="ko-KR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인벤토리 </a:t>
            </a:r>
            <a:r>
              <a:rPr lang="en-US" altLang="ko-KR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dirty="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제작대에서의 소모 및 산출물의 인벤토리 연결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7" name="Picture 3">
            <a:extLst>
              <a:ext uri="{FF2B5EF4-FFF2-40B4-BE49-F238E27FC236}">
                <a16:creationId xmlns:a16="http://schemas.microsoft.com/office/drawing/2014/main" id="{8974C74E-313E-2461-AD3C-391278797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3400"/>
            <a:ext cx="18288000" cy="86360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2701BCF0-115C-E23E-28FD-AF99A360B8BD}"/>
              </a:ext>
            </a:extLst>
          </p:cNvPr>
          <p:cNvGrpSpPr/>
          <p:nvPr/>
        </p:nvGrpSpPr>
        <p:grpSpPr>
          <a:xfrm>
            <a:off x="1165860" y="3383280"/>
            <a:ext cx="3497580" cy="3360420"/>
            <a:chOff x="1165860" y="4526280"/>
            <a:chExt cx="3497580" cy="3360420"/>
          </a:xfrm>
        </p:grpSpPr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DA371029-57F0-01AF-3B50-74FC9337FFF3}"/>
                </a:ext>
              </a:extLst>
            </p:cNvPr>
            <p:cNvSpPr/>
            <p:nvPr/>
          </p:nvSpPr>
          <p:spPr>
            <a:xfrm>
              <a:off x="1165860" y="4526280"/>
              <a:ext cx="3497580" cy="336042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2700">
              <a:solidFill>
                <a:srgbClr val="D4D8D4"/>
              </a:solidFill>
              <a:prstDash val="solid"/>
            </a:ln>
            <a:effectLst>
              <a:outerShdw blurRad="12700" dist="50800" dir="2700000" algn="bl" rotWithShape="0">
                <a:srgbClr val="B8C2B9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7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EC99037E-A956-A374-68B0-34346FF54C1B}"/>
                </a:ext>
              </a:extLst>
            </p:cNvPr>
            <p:cNvSpPr/>
            <p:nvPr/>
          </p:nvSpPr>
          <p:spPr>
            <a:xfrm>
              <a:off x="1508760" y="4869180"/>
              <a:ext cx="2811780" cy="576072"/>
            </a:xfrm>
            <a:prstGeom prst="roundRect">
              <a:avLst>
                <a:gd name="adj" fmla="val 28571"/>
              </a:avLst>
            </a:prstGeom>
            <a:solidFill>
              <a:srgbClr val="5BAFC0"/>
            </a:solidFill>
            <a:ln w="12700">
              <a:solidFill>
                <a:srgbClr val="5BAFC0"/>
              </a:solidFill>
              <a:prstDash val="solid"/>
            </a:ln>
          </p:spPr>
          <p:txBody>
            <a:bodyPr/>
            <a:lstStyle/>
            <a:p>
              <a:endParaRPr lang="ko-KR" altLang="en-US" sz="27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9F1BB482-0BAC-EE29-BEB2-BBD621A8C0F6}"/>
                </a:ext>
              </a:extLst>
            </p:cNvPr>
            <p:cNvSpPr/>
            <p:nvPr/>
          </p:nvSpPr>
          <p:spPr>
            <a:xfrm>
              <a:off x="1618488" y="4937760"/>
              <a:ext cx="2592324" cy="43891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Autofit/>
            </a:bodyPr>
            <a:lstStyle/>
            <a:p>
              <a:pPr algn="ctr"/>
              <a:r>
                <a:rPr lang="en-US" altLang="ko-KR" sz="23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01 </a:t>
              </a:r>
              <a:r>
                <a:rPr lang="ko-KR" altLang="en-US" sz="23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플레이 월드 구축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03C7B650-3190-692A-9C8F-F95983965A6A}"/>
                </a:ext>
              </a:extLst>
            </p:cNvPr>
            <p:cNvSpPr/>
            <p:nvPr/>
          </p:nvSpPr>
          <p:spPr>
            <a:xfrm>
              <a:off x="1645920" y="6050758"/>
              <a:ext cx="2674620" cy="12893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64 Chunk </a:t>
              </a: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월드 생성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지형 </a:t>
              </a:r>
              <a:r>
                <a:rPr lang="en-US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 </a:t>
              </a: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해안 </a:t>
              </a:r>
              <a:r>
                <a:rPr lang="en-US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 </a:t>
              </a: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이동 영역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Terraform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건물 배치</a:t>
              </a:r>
              <a:r>
                <a:rPr lang="en-US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</a:t>
              </a: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이동</a:t>
              </a:r>
              <a:r>
                <a:rPr lang="en-US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</a:t>
              </a: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회전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지역 </a:t>
              </a:r>
              <a:r>
                <a:rPr lang="en-US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Navigation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BFFBC52-C8A2-DD9C-D2CE-35CAB22C0A96}"/>
                </a:ext>
              </a:extLst>
            </p:cNvPr>
            <p:cNvSpPr txBox="1"/>
            <p:nvPr/>
          </p:nvSpPr>
          <p:spPr>
            <a:xfrm>
              <a:off x="1735791" y="5480214"/>
              <a:ext cx="23577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5BAF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128 × 128 WORLD</a:t>
              </a:r>
              <a:endParaRPr lang="ko-KR" altLang="en-US" dirty="0">
                <a:solidFill>
                  <a:srgbClr val="5BAF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5DD76C5-F9CB-96BA-65EF-E63184A36109}"/>
              </a:ext>
            </a:extLst>
          </p:cNvPr>
          <p:cNvSpPr txBox="1"/>
          <p:nvPr/>
        </p:nvSpPr>
        <p:spPr>
          <a:xfrm>
            <a:off x="5987751" y="4393168"/>
            <a:ext cx="2357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006B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 ACTIVITIES</a:t>
            </a:r>
            <a:endParaRPr lang="ko-KR" altLang="en-US" dirty="0">
              <a:solidFill>
                <a:srgbClr val="006B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1BECFC-247D-FB7C-6C7E-E4845D0831C5}"/>
              </a:ext>
            </a:extLst>
          </p:cNvPr>
          <p:cNvSpPr txBox="1"/>
          <p:nvPr/>
        </p:nvSpPr>
        <p:spPr>
          <a:xfrm>
            <a:off x="10239711" y="4393168"/>
            <a:ext cx="2357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D471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RESOURCE</a:t>
            </a:r>
            <a:endParaRPr lang="ko-KR" altLang="en-US" dirty="0">
              <a:solidFill>
                <a:srgbClr val="D4714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349705-34CC-69A4-DF30-74D8BC3095F8}"/>
              </a:ext>
            </a:extLst>
          </p:cNvPr>
          <p:cNvSpPr txBox="1"/>
          <p:nvPr/>
        </p:nvSpPr>
        <p:spPr>
          <a:xfrm>
            <a:off x="14491671" y="4393168"/>
            <a:ext cx="2357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4223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CRAFT</a:t>
            </a:r>
            <a:endParaRPr lang="ko-KR" altLang="en-US" dirty="0">
              <a:solidFill>
                <a:srgbClr val="142235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319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0F3A8-D4D3-AE15-269F-6601FF220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692B5C-6F8B-148A-7994-4A35EEBC58C3}"/>
              </a:ext>
            </a:extLst>
          </p:cNvPr>
          <p:cNvSpPr/>
          <p:nvPr/>
        </p:nvSpPr>
        <p:spPr>
          <a:xfrm>
            <a:off x="1" y="0"/>
            <a:ext cx="18287543" cy="219456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CE74CF-1B20-7C7B-E5F5-059B37A2219E}"/>
              </a:ext>
            </a:extLst>
          </p:cNvPr>
          <p:cNvSpPr/>
          <p:nvPr/>
        </p:nvSpPr>
        <p:spPr>
          <a:xfrm>
            <a:off x="1" y="10040112"/>
            <a:ext cx="18287543" cy="24688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1F693F-6E8B-B011-1DBF-5708AF844AAF}"/>
              </a:ext>
            </a:extLst>
          </p:cNvPr>
          <p:cNvSpPr/>
          <p:nvPr/>
        </p:nvSpPr>
        <p:spPr>
          <a:xfrm>
            <a:off x="14196060" y="41148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ko-KR" altLang="en-US" sz="160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방학 진척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A408AD-DFCA-1B52-3040-0EE72CD21718}"/>
              </a:ext>
            </a:extLst>
          </p:cNvPr>
          <p:cNvSpPr/>
          <p:nvPr/>
        </p:nvSpPr>
        <p:spPr>
          <a:xfrm>
            <a:off x="17323308" y="96972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7" name="Picture 3">
            <a:extLst>
              <a:ext uri="{FF2B5EF4-FFF2-40B4-BE49-F238E27FC236}">
                <a16:creationId xmlns:a16="http://schemas.microsoft.com/office/drawing/2014/main" id="{ABD1D4C2-AB13-D3F7-8E44-BBF078EF6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3400"/>
            <a:ext cx="18288000" cy="863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5978B6-CD0D-6CEB-1C5A-8E73CACE33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7960" y="5479318"/>
            <a:ext cx="2798991" cy="288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6A17A8-04F2-2BE0-6C0D-9729FA70BD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5467142"/>
            <a:ext cx="2720134" cy="288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3DD3126-B94F-D2B4-E52D-07B957B4B6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505" y="5467142"/>
            <a:ext cx="2458537" cy="288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5DA0256-C91D-38A1-AC89-C04EB1335A3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169" y="5467142"/>
            <a:ext cx="2914664" cy="288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C7C9A92-845C-6483-270E-BCA88BE3E5F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908" y="1416251"/>
            <a:ext cx="2462176" cy="288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54CE7B4-0018-71D3-352B-0BBADCB915A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59" y="1416251"/>
            <a:ext cx="2637073" cy="288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DE106A2-BA17-C419-547C-A5DEF191C9B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31" y="1416251"/>
            <a:ext cx="2580164" cy="2880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2FB7B46-0E3C-4031-9215-4EE07B91C72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5342" y="1425300"/>
            <a:ext cx="2880000" cy="2880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B628449-63CB-EC60-EFF1-E15D66F2179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83" y="1354893"/>
            <a:ext cx="2880000" cy="28800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6161961-5299-7C06-DF79-8F9D36489B4E}"/>
              </a:ext>
            </a:extLst>
          </p:cNvPr>
          <p:cNvSpPr txBox="1"/>
          <p:nvPr/>
        </p:nvSpPr>
        <p:spPr>
          <a:xfrm>
            <a:off x="4569204" y="713232"/>
            <a:ext cx="91491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3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월드 구축과 채집 활동 연결</a:t>
            </a:r>
            <a:endParaRPr lang="en-US" altLang="ko-KR" sz="2300" dirty="0">
              <a:solidFill>
                <a:srgbClr val="006B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9BF4A4-596A-0830-5BDB-000E8D78D3CA}"/>
              </a:ext>
            </a:extLst>
          </p:cNvPr>
          <p:cNvSpPr txBox="1"/>
          <p:nvPr/>
        </p:nvSpPr>
        <p:spPr>
          <a:xfrm>
            <a:off x="4382428" y="4748730"/>
            <a:ext cx="91491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3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획득한 자원을 </a:t>
            </a:r>
            <a:r>
              <a:rPr lang="ko-KR" altLang="en-US" sz="2300" b="1" dirty="0" err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제작대</a:t>
            </a:r>
            <a:r>
              <a:rPr lang="ko-KR" altLang="en-US" sz="23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별로 제작까지 연결</a:t>
            </a:r>
            <a:endParaRPr lang="en-US" altLang="ko-KR" sz="2300" dirty="0">
              <a:solidFill>
                <a:srgbClr val="006B4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960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6C61-775B-800E-64D8-B4093377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064E607-9578-FFAA-71DE-8731160B8A2E}"/>
              </a:ext>
            </a:extLst>
          </p:cNvPr>
          <p:cNvSpPr/>
          <p:nvPr/>
        </p:nvSpPr>
        <p:spPr>
          <a:xfrm>
            <a:off x="1" y="9944100"/>
            <a:ext cx="18287999" cy="342900"/>
          </a:xfrm>
          <a:prstGeom prst="rect">
            <a:avLst/>
          </a:prstGeom>
          <a:solidFill>
            <a:srgbClr val="0A6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132AFF61-8D1C-49CF-9234-178178508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3400"/>
            <a:ext cx="18288000" cy="8636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1CFF890A-77C3-0D15-4FAD-7DD23C414C57}"/>
              </a:ext>
            </a:extLst>
          </p:cNvPr>
          <p:cNvSpPr/>
          <p:nvPr/>
        </p:nvSpPr>
        <p:spPr>
          <a:xfrm>
            <a:off x="1" y="0"/>
            <a:ext cx="18287543" cy="219456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pPr defTabSz="1371600"/>
            <a:endParaRPr lang="ko-KR" altLang="en-US" sz="270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8D158F3-92F5-4C9B-2BBA-79C9956F361A}"/>
              </a:ext>
            </a:extLst>
          </p:cNvPr>
          <p:cNvSpPr/>
          <p:nvPr/>
        </p:nvSpPr>
        <p:spPr>
          <a:xfrm>
            <a:off x="864108" y="891540"/>
            <a:ext cx="82296" cy="644652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pPr defTabSz="1371600"/>
            <a:endParaRPr lang="ko-KR" altLang="en-US" sz="270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F4BA2D1-10D2-B105-A32C-41E4A0AC9D87}"/>
              </a:ext>
            </a:extLst>
          </p:cNvPr>
          <p:cNvSpPr/>
          <p:nvPr/>
        </p:nvSpPr>
        <p:spPr>
          <a:xfrm>
            <a:off x="1152144" y="800100"/>
            <a:ext cx="13706856" cy="780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48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방학 작업</a:t>
            </a:r>
            <a:r>
              <a:rPr lang="en-US" altLang="ko-KR" sz="4800" b="1" dirty="0">
                <a:solidFill>
                  <a:srgbClr val="15704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-2</a:t>
            </a:r>
            <a:endParaRPr lang="ko-KR" altLang="en-US" sz="4800" b="1" dirty="0">
              <a:solidFill>
                <a:srgbClr val="15704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0888617-F954-F159-F0ED-2FE03D696650}"/>
              </a:ext>
            </a:extLst>
          </p:cNvPr>
          <p:cNvGrpSpPr/>
          <p:nvPr/>
        </p:nvGrpSpPr>
        <p:grpSpPr>
          <a:xfrm>
            <a:off x="1531620" y="3141218"/>
            <a:ext cx="3497580" cy="4288282"/>
            <a:chOff x="1165860" y="4526280"/>
            <a:chExt cx="3497580" cy="3360420"/>
          </a:xfrm>
        </p:grpSpPr>
        <p:sp>
          <p:nvSpPr>
            <p:cNvPr id="5" name="Shape 25">
              <a:extLst>
                <a:ext uri="{FF2B5EF4-FFF2-40B4-BE49-F238E27FC236}">
                  <a16:creationId xmlns:a16="http://schemas.microsoft.com/office/drawing/2014/main" id="{2238E925-0FDF-B955-519A-49EAB7BDB4DA}"/>
                </a:ext>
              </a:extLst>
            </p:cNvPr>
            <p:cNvSpPr/>
            <p:nvPr/>
          </p:nvSpPr>
          <p:spPr>
            <a:xfrm>
              <a:off x="1165860" y="4526280"/>
              <a:ext cx="3497580" cy="336042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2700">
              <a:solidFill>
                <a:srgbClr val="D4D8D4"/>
              </a:solidFill>
              <a:prstDash val="solid"/>
            </a:ln>
            <a:effectLst>
              <a:outerShdw blurRad="12700" dist="50800" dir="2700000" algn="bl" rotWithShape="0">
                <a:srgbClr val="B8C2B9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7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" name="Shape 26">
              <a:extLst>
                <a:ext uri="{FF2B5EF4-FFF2-40B4-BE49-F238E27FC236}">
                  <a16:creationId xmlns:a16="http://schemas.microsoft.com/office/drawing/2014/main" id="{A9D767BD-4FC5-D333-A4C1-313832A63A02}"/>
                </a:ext>
              </a:extLst>
            </p:cNvPr>
            <p:cNvSpPr/>
            <p:nvPr/>
          </p:nvSpPr>
          <p:spPr>
            <a:xfrm>
              <a:off x="1508760" y="4869180"/>
              <a:ext cx="2811780" cy="576072"/>
            </a:xfrm>
            <a:prstGeom prst="roundRect">
              <a:avLst>
                <a:gd name="adj" fmla="val 28571"/>
              </a:avLst>
            </a:prstGeom>
            <a:solidFill>
              <a:srgbClr val="5BAFC0"/>
            </a:solidFill>
            <a:ln w="12700">
              <a:solidFill>
                <a:srgbClr val="5BAFC0"/>
              </a:solidFill>
              <a:prstDash val="solid"/>
            </a:ln>
          </p:spPr>
          <p:txBody>
            <a:bodyPr/>
            <a:lstStyle/>
            <a:p>
              <a:endParaRPr lang="ko-KR" altLang="en-US" sz="27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" name="Text 27">
              <a:extLst>
                <a:ext uri="{FF2B5EF4-FFF2-40B4-BE49-F238E27FC236}">
                  <a16:creationId xmlns:a16="http://schemas.microsoft.com/office/drawing/2014/main" id="{17DC36C9-CA66-C09F-85AA-7532475351CD}"/>
                </a:ext>
              </a:extLst>
            </p:cNvPr>
            <p:cNvSpPr/>
            <p:nvPr/>
          </p:nvSpPr>
          <p:spPr>
            <a:xfrm>
              <a:off x="1618488" y="4937760"/>
              <a:ext cx="2592324" cy="43891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Autofit/>
            </a:bodyPr>
            <a:lstStyle/>
            <a:p>
              <a:pPr algn="ctr"/>
              <a:r>
                <a:rPr lang="ko-KR" altLang="en-US" sz="23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상점 성장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" name="Text 28">
              <a:extLst>
                <a:ext uri="{FF2B5EF4-FFF2-40B4-BE49-F238E27FC236}">
                  <a16:creationId xmlns:a16="http://schemas.microsoft.com/office/drawing/2014/main" id="{C4EAB012-CE00-98BF-D8F4-50031AC4F2AC}"/>
                </a:ext>
              </a:extLst>
            </p:cNvPr>
            <p:cNvSpPr/>
            <p:nvPr/>
          </p:nvSpPr>
          <p:spPr>
            <a:xfrm>
              <a:off x="1645920" y="6050758"/>
              <a:ext cx="2674620" cy="12893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Tier 0 = B10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Tier 1 = B02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Tier 2 = B03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Tier 3+ = B04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11FE3C7-5437-B948-32DF-FC2D5CD6AD8D}"/>
                </a:ext>
              </a:extLst>
            </p:cNvPr>
            <p:cNvSpPr txBox="1"/>
            <p:nvPr/>
          </p:nvSpPr>
          <p:spPr>
            <a:xfrm>
              <a:off x="1730412" y="5672493"/>
              <a:ext cx="23577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solidFill>
                    <a:srgbClr val="5BAF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상점 외관 </a:t>
              </a:r>
              <a:r>
                <a:rPr lang="en-US" altLang="ko-KR" dirty="0">
                  <a:solidFill>
                    <a:srgbClr val="5BAF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lang="ko-KR" altLang="en-US" dirty="0">
                  <a:solidFill>
                    <a:srgbClr val="5BAF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단계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C28A1CC-F780-E908-E3D2-CC8F08BE4440}"/>
              </a:ext>
            </a:extLst>
          </p:cNvPr>
          <p:cNvGrpSpPr/>
          <p:nvPr/>
        </p:nvGrpSpPr>
        <p:grpSpPr>
          <a:xfrm>
            <a:off x="6096000" y="3141218"/>
            <a:ext cx="3497580" cy="4288282"/>
            <a:chOff x="1165860" y="4526280"/>
            <a:chExt cx="3497580" cy="3360420"/>
          </a:xfrm>
        </p:grpSpPr>
        <p:sp>
          <p:nvSpPr>
            <p:cNvPr id="21" name="Shape 25">
              <a:extLst>
                <a:ext uri="{FF2B5EF4-FFF2-40B4-BE49-F238E27FC236}">
                  <a16:creationId xmlns:a16="http://schemas.microsoft.com/office/drawing/2014/main" id="{2E8841D2-4377-CA70-08DC-6E4F8FEA49FF}"/>
                </a:ext>
              </a:extLst>
            </p:cNvPr>
            <p:cNvSpPr/>
            <p:nvPr/>
          </p:nvSpPr>
          <p:spPr>
            <a:xfrm>
              <a:off x="1165860" y="4526280"/>
              <a:ext cx="3497580" cy="336042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2700">
              <a:solidFill>
                <a:srgbClr val="D4D8D4"/>
              </a:solidFill>
              <a:prstDash val="solid"/>
            </a:ln>
            <a:effectLst>
              <a:outerShdw blurRad="12700" dist="50800" dir="2700000" algn="bl" rotWithShape="0">
                <a:srgbClr val="B8C2B9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7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3" name="Shape 26">
              <a:extLst>
                <a:ext uri="{FF2B5EF4-FFF2-40B4-BE49-F238E27FC236}">
                  <a16:creationId xmlns:a16="http://schemas.microsoft.com/office/drawing/2014/main" id="{ADF23641-EAD9-E4E8-8A1D-28F5FAE62BBD}"/>
                </a:ext>
              </a:extLst>
            </p:cNvPr>
            <p:cNvSpPr/>
            <p:nvPr/>
          </p:nvSpPr>
          <p:spPr>
            <a:xfrm>
              <a:off x="1508760" y="4869180"/>
              <a:ext cx="2811780" cy="576072"/>
            </a:xfrm>
            <a:prstGeom prst="roundRect">
              <a:avLst>
                <a:gd name="adj" fmla="val 28571"/>
              </a:avLst>
            </a:prstGeom>
            <a:solidFill>
              <a:srgbClr val="5BAFC0"/>
            </a:solidFill>
            <a:ln w="12700">
              <a:solidFill>
                <a:srgbClr val="5BAFC0"/>
              </a:solidFill>
              <a:prstDash val="solid"/>
            </a:ln>
          </p:spPr>
          <p:txBody>
            <a:bodyPr/>
            <a:lstStyle/>
            <a:p>
              <a:endParaRPr lang="ko-KR" altLang="en-US" sz="27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5" name="Text 27">
              <a:extLst>
                <a:ext uri="{FF2B5EF4-FFF2-40B4-BE49-F238E27FC236}">
                  <a16:creationId xmlns:a16="http://schemas.microsoft.com/office/drawing/2014/main" id="{7DCF1A37-3189-4088-C1B8-BEB058B52B3F}"/>
                </a:ext>
              </a:extLst>
            </p:cNvPr>
            <p:cNvSpPr/>
            <p:nvPr/>
          </p:nvSpPr>
          <p:spPr>
            <a:xfrm>
              <a:off x="1618488" y="4937760"/>
              <a:ext cx="2592324" cy="43891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Autofit/>
            </a:bodyPr>
            <a:lstStyle/>
            <a:p>
              <a:pPr algn="ctr"/>
              <a:r>
                <a:rPr lang="en-US" altLang="ko-KR" sz="23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NPC </a:t>
              </a:r>
              <a:r>
                <a:rPr lang="ko-KR" altLang="en-US" sz="23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캐릭터 </a:t>
              </a:r>
              <a:r>
                <a:rPr lang="en-US" altLang="ko-KR" sz="23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 </a:t>
              </a:r>
              <a:r>
                <a:rPr lang="ko-KR" altLang="en-US" sz="23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채용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8" name="Text 28">
              <a:extLst>
                <a:ext uri="{FF2B5EF4-FFF2-40B4-BE49-F238E27FC236}">
                  <a16:creationId xmlns:a16="http://schemas.microsoft.com/office/drawing/2014/main" id="{B4E7DE7A-B337-DAF7-2FF4-0AAFBC21C47A}"/>
                </a:ext>
              </a:extLst>
            </p:cNvPr>
            <p:cNvSpPr/>
            <p:nvPr/>
          </p:nvSpPr>
          <p:spPr>
            <a:xfrm>
              <a:off x="1645920" y="6050758"/>
              <a:ext cx="2674620" cy="12893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생산자</a:t>
              </a:r>
              <a:r>
                <a:rPr lang="en-US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농부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광부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err="1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벌목꾼</a:t>
              </a: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어부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전문가</a:t>
              </a:r>
              <a:r>
                <a:rPr lang="en-US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셰프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대장장이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재봉사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목수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CECAD27-9EB1-864B-700B-452FA1176B69}"/>
              </a:ext>
            </a:extLst>
          </p:cNvPr>
          <p:cNvGrpSpPr/>
          <p:nvPr/>
        </p:nvGrpSpPr>
        <p:grpSpPr>
          <a:xfrm>
            <a:off x="12877800" y="3141218"/>
            <a:ext cx="3497580" cy="4288282"/>
            <a:chOff x="1165860" y="4526280"/>
            <a:chExt cx="3497580" cy="3360420"/>
          </a:xfrm>
        </p:grpSpPr>
        <p:sp>
          <p:nvSpPr>
            <p:cNvPr id="41" name="Shape 25">
              <a:extLst>
                <a:ext uri="{FF2B5EF4-FFF2-40B4-BE49-F238E27FC236}">
                  <a16:creationId xmlns:a16="http://schemas.microsoft.com/office/drawing/2014/main" id="{7FDD80C1-7649-01FC-A6AB-A599308E30E2}"/>
                </a:ext>
              </a:extLst>
            </p:cNvPr>
            <p:cNvSpPr/>
            <p:nvPr/>
          </p:nvSpPr>
          <p:spPr>
            <a:xfrm>
              <a:off x="1165860" y="4526280"/>
              <a:ext cx="3497580" cy="336042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2700">
              <a:solidFill>
                <a:srgbClr val="D4D8D4"/>
              </a:solidFill>
              <a:prstDash val="solid"/>
            </a:ln>
            <a:effectLst>
              <a:outerShdw blurRad="12700" dist="50800" dir="2700000" algn="bl" rotWithShape="0">
                <a:srgbClr val="B8C2B9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27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2" name="Shape 26">
              <a:extLst>
                <a:ext uri="{FF2B5EF4-FFF2-40B4-BE49-F238E27FC236}">
                  <a16:creationId xmlns:a16="http://schemas.microsoft.com/office/drawing/2014/main" id="{BD1CE4F2-C9AE-EBA3-2327-CA394CD6B1D8}"/>
                </a:ext>
              </a:extLst>
            </p:cNvPr>
            <p:cNvSpPr/>
            <p:nvPr/>
          </p:nvSpPr>
          <p:spPr>
            <a:xfrm>
              <a:off x="1508760" y="4869180"/>
              <a:ext cx="2811780" cy="576072"/>
            </a:xfrm>
            <a:prstGeom prst="roundRect">
              <a:avLst>
                <a:gd name="adj" fmla="val 28571"/>
              </a:avLst>
            </a:prstGeom>
            <a:solidFill>
              <a:srgbClr val="5BAFC0"/>
            </a:solidFill>
            <a:ln w="12700">
              <a:solidFill>
                <a:srgbClr val="5BAFC0"/>
              </a:solidFill>
              <a:prstDash val="solid"/>
            </a:ln>
          </p:spPr>
          <p:txBody>
            <a:bodyPr/>
            <a:lstStyle/>
            <a:p>
              <a:endParaRPr lang="ko-KR" altLang="en-US" sz="27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3" name="Text 27">
              <a:extLst>
                <a:ext uri="{FF2B5EF4-FFF2-40B4-BE49-F238E27FC236}">
                  <a16:creationId xmlns:a16="http://schemas.microsoft.com/office/drawing/2014/main" id="{B6AC7D6C-861C-5A9A-741A-982B13544277}"/>
                </a:ext>
              </a:extLst>
            </p:cNvPr>
            <p:cNvSpPr/>
            <p:nvPr/>
          </p:nvSpPr>
          <p:spPr>
            <a:xfrm>
              <a:off x="1618488" y="4937760"/>
              <a:ext cx="2592324" cy="43891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Autofit/>
            </a:bodyPr>
            <a:lstStyle/>
            <a:p>
              <a:pPr algn="ctr"/>
              <a:r>
                <a:rPr lang="ko-KR" altLang="en-US" sz="23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저장</a:t>
              </a:r>
              <a:endPara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Text 28">
              <a:extLst>
                <a:ext uri="{FF2B5EF4-FFF2-40B4-BE49-F238E27FC236}">
                  <a16:creationId xmlns:a16="http://schemas.microsoft.com/office/drawing/2014/main" id="{034C051D-7FD3-07FA-D3E8-F6FAA9083062}"/>
                </a:ext>
              </a:extLst>
            </p:cNvPr>
            <p:cNvSpPr/>
            <p:nvPr/>
          </p:nvSpPr>
          <p:spPr>
            <a:xfrm>
              <a:off x="1645920" y="6050758"/>
              <a:ext cx="2674620" cy="12893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Golden Regression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WORLD Regression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BETA Validation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실제 </a:t>
              </a:r>
              <a:r>
                <a:rPr lang="de-DE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Restart / Load </a:t>
              </a: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검증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현재 </a:t>
              </a:r>
              <a:r>
                <a:rPr lang="de-DE" altLang="ko-KR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BETA-010 blocker</a:t>
              </a:r>
              <a:r>
                <a:rPr lang="ko-KR" altLang="en-US" dirty="0">
                  <a:solidFill>
                    <a:srgbClr val="14223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까지 식별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35DEF76-92B5-3363-23E7-073DC6C3C15F}"/>
                </a:ext>
              </a:extLst>
            </p:cNvPr>
            <p:cNvSpPr txBox="1"/>
            <p:nvPr/>
          </p:nvSpPr>
          <p:spPr>
            <a:xfrm>
              <a:off x="1735791" y="5480214"/>
              <a:ext cx="2357718" cy="506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solidFill>
                    <a:srgbClr val="5BAF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늘어난 기능에 저장 기능 연결</a:t>
              </a:r>
            </a:p>
          </p:txBody>
        </p:sp>
      </p:grpSp>
      <p:pic>
        <p:nvPicPr>
          <p:cNvPr id="47" name="그림 46">
            <a:extLst>
              <a:ext uri="{FF2B5EF4-FFF2-40B4-BE49-F238E27FC236}">
                <a16:creationId xmlns:a16="http://schemas.microsoft.com/office/drawing/2014/main" id="{C88B669F-48A1-3960-8C6F-3D822FD8BE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1513" y="3141900"/>
            <a:ext cx="2356034" cy="428760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55457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1ECE-73AD-F284-6376-7AE25057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F52F27-0E9F-9C7E-1752-BAB430BFE2BB}"/>
              </a:ext>
            </a:extLst>
          </p:cNvPr>
          <p:cNvSpPr/>
          <p:nvPr/>
        </p:nvSpPr>
        <p:spPr>
          <a:xfrm>
            <a:off x="1" y="0"/>
            <a:ext cx="18287543" cy="219456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9ADAFD-D819-F6AD-BEF2-A4F9053FF4F3}"/>
              </a:ext>
            </a:extLst>
          </p:cNvPr>
          <p:cNvSpPr/>
          <p:nvPr/>
        </p:nvSpPr>
        <p:spPr>
          <a:xfrm>
            <a:off x="1" y="10040112"/>
            <a:ext cx="18287543" cy="24688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D85827-277B-6399-6D76-05877D6102F2}"/>
              </a:ext>
            </a:extLst>
          </p:cNvPr>
          <p:cNvSpPr/>
          <p:nvPr/>
        </p:nvSpPr>
        <p:spPr>
          <a:xfrm>
            <a:off x="864108" y="891540"/>
            <a:ext cx="82296" cy="644652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334C76-1B66-4B30-7D96-C9E88346800D}"/>
              </a:ext>
            </a:extLst>
          </p:cNvPr>
          <p:cNvSpPr/>
          <p:nvPr/>
        </p:nvSpPr>
        <p:spPr>
          <a:xfrm>
            <a:off x="1124712" y="876300"/>
            <a:ext cx="16047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47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 구현에서 ‘전시 경험’ 완성으로</a:t>
            </a:r>
            <a:endParaRPr lang="en-US" sz="4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F66FD7-75B7-BE96-6657-302908EC3AD3}"/>
              </a:ext>
            </a:extLst>
          </p:cNvPr>
          <p:cNvSpPr/>
          <p:nvPr/>
        </p:nvSpPr>
        <p:spPr>
          <a:xfrm>
            <a:off x="17323308" y="96972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43CB871-29C7-087A-C0C0-14C3BF58EDBD}"/>
              </a:ext>
            </a:extLst>
          </p:cNvPr>
          <p:cNvSpPr/>
          <p:nvPr/>
        </p:nvSpPr>
        <p:spPr>
          <a:xfrm>
            <a:off x="1165860" y="2125980"/>
            <a:ext cx="15979140" cy="1371600"/>
          </a:xfrm>
          <a:prstGeom prst="roundRect">
            <a:avLst>
              <a:gd name="adj" fmla="val 10000"/>
            </a:avLst>
          </a:prstGeom>
          <a:solidFill>
            <a:srgbClr val="142235"/>
          </a:solidFill>
          <a:ln w="12700">
            <a:solidFill>
              <a:srgbClr val="142235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88A5ABD-BD57-03F0-1429-B482D73CDE25}"/>
              </a:ext>
            </a:extLst>
          </p:cNvPr>
          <p:cNvSpPr/>
          <p:nvPr/>
        </p:nvSpPr>
        <p:spPr>
          <a:xfrm>
            <a:off x="1645920" y="2496312"/>
            <a:ext cx="19888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ko-KR" altLang="en-US" b="1">
                <a:solidFill>
                  <a:srgbClr val="F5D7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중간평가 피드백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C2E2CCE-246F-1483-9FE1-27F7BF90C0AC}"/>
              </a:ext>
            </a:extLst>
          </p:cNvPr>
          <p:cNvSpPr/>
          <p:nvPr/>
        </p:nvSpPr>
        <p:spPr>
          <a:xfrm>
            <a:off x="3886200" y="2564892"/>
            <a:ext cx="11727180" cy="521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ko-KR" altLang="en-US" sz="2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처음 보는 관람객이 짧은 시간 안에 게임을 이해하고 체험할 수 있는가</a:t>
            </a:r>
            <a:r>
              <a:rPr lang="en-US" altLang="ko-KR" sz="2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en-US"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3930D66-A7AA-29F0-C722-CAE763F8B249}"/>
              </a:ext>
            </a:extLst>
          </p:cNvPr>
          <p:cNvSpPr/>
          <p:nvPr/>
        </p:nvSpPr>
        <p:spPr>
          <a:xfrm>
            <a:off x="1508760" y="4216908"/>
            <a:ext cx="45262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8D4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8612724-108B-F429-65E5-72DD55882849}"/>
              </a:ext>
            </a:extLst>
          </p:cNvPr>
          <p:cNvSpPr/>
          <p:nvPr/>
        </p:nvSpPr>
        <p:spPr>
          <a:xfrm>
            <a:off x="1892808" y="4587240"/>
            <a:ext cx="1234440" cy="521208"/>
          </a:xfrm>
          <a:prstGeom prst="roundRect">
            <a:avLst>
              <a:gd name="adj" fmla="val 31579"/>
            </a:avLst>
          </a:prstGeom>
          <a:solidFill>
            <a:srgbClr val="5BAFC0"/>
          </a:solidFill>
          <a:ln w="12700">
            <a:solidFill>
              <a:srgbClr val="5BAFC0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B2BF1C0-F832-83A2-CC09-F5F50585AB32}"/>
              </a:ext>
            </a:extLst>
          </p:cNvPr>
          <p:cNvSpPr/>
          <p:nvPr/>
        </p:nvSpPr>
        <p:spPr>
          <a:xfrm>
            <a:off x="2002536" y="4655820"/>
            <a:ext cx="101498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altLang="ko-KR" sz="21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0~30</a:t>
            </a:r>
            <a:r>
              <a:rPr lang="ko-KR" altLang="en-US" sz="21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</a:t>
            </a:r>
            <a:endParaRPr lang="en-US" sz="2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D7291A4-9521-2389-E1C0-3BDD36B1CB24}"/>
              </a:ext>
            </a:extLst>
          </p:cNvPr>
          <p:cNvSpPr/>
          <p:nvPr/>
        </p:nvSpPr>
        <p:spPr>
          <a:xfrm>
            <a:off x="1988820" y="5327904"/>
            <a:ext cx="36347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lang="en-US" altLang="ko-KR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목표 이해</a:t>
            </a:r>
          </a:p>
          <a:p>
            <a:pPr algn="ctr"/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나는 마을의 잡화점 주인</a:t>
            </a:r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7814D45-D201-0FA0-36E3-32563B46DDD9}"/>
              </a:ext>
            </a:extLst>
          </p:cNvPr>
          <p:cNvSpPr/>
          <p:nvPr/>
        </p:nvSpPr>
        <p:spPr>
          <a:xfrm>
            <a:off x="6240780" y="5245608"/>
            <a:ext cx="548640" cy="0"/>
          </a:xfrm>
          <a:prstGeom prst="line">
            <a:avLst/>
          </a:prstGeom>
          <a:noFill/>
          <a:ln w="22860">
            <a:solidFill>
              <a:srgbClr val="006B4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BE0EC0D-E0F7-999F-B0FE-2949F269903F}"/>
              </a:ext>
            </a:extLst>
          </p:cNvPr>
          <p:cNvSpPr/>
          <p:nvPr/>
        </p:nvSpPr>
        <p:spPr>
          <a:xfrm>
            <a:off x="7063740" y="4216908"/>
            <a:ext cx="45262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8D4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FE1DEB9-BA16-A1A2-135D-CA944A980D3E}"/>
              </a:ext>
            </a:extLst>
          </p:cNvPr>
          <p:cNvSpPr/>
          <p:nvPr/>
        </p:nvSpPr>
        <p:spPr>
          <a:xfrm>
            <a:off x="7447788" y="4587240"/>
            <a:ext cx="1234440" cy="521208"/>
          </a:xfrm>
          <a:prstGeom prst="roundRect">
            <a:avLst>
              <a:gd name="adj" fmla="val 31579"/>
            </a:avLst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E780D40-7495-AD7A-86AE-1A53DF99DED8}"/>
              </a:ext>
            </a:extLst>
          </p:cNvPr>
          <p:cNvSpPr/>
          <p:nvPr/>
        </p:nvSpPr>
        <p:spPr>
          <a:xfrm>
            <a:off x="7557516" y="4655820"/>
            <a:ext cx="101498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altLang="ko-KR" sz="21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~3</a:t>
            </a:r>
            <a:r>
              <a:rPr lang="ko-KR" altLang="en-US" sz="21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</a:t>
            </a:r>
            <a:endParaRPr lang="en-US" sz="2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AE197F4-C6DD-5130-EF26-67A203C6B271}"/>
              </a:ext>
            </a:extLst>
          </p:cNvPr>
          <p:cNvSpPr/>
          <p:nvPr/>
        </p:nvSpPr>
        <p:spPr>
          <a:xfrm>
            <a:off x="7543800" y="5327904"/>
            <a:ext cx="36347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 선택</a:t>
            </a:r>
            <a:r>
              <a:rPr lang="en-US" altLang="ko-KR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진열</a:t>
            </a:r>
          </a:p>
          <a:p>
            <a:pPr algn="ctr"/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가격 판단</a:t>
            </a:r>
            <a:r>
              <a:rPr lang="en-US" altLang="ko-KR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·NPC </a:t>
            </a:r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반응</a:t>
            </a:r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E85D9DE-C5A8-02E5-2668-4234AD8D699D}"/>
              </a:ext>
            </a:extLst>
          </p:cNvPr>
          <p:cNvSpPr/>
          <p:nvPr/>
        </p:nvSpPr>
        <p:spPr>
          <a:xfrm>
            <a:off x="11795760" y="5245608"/>
            <a:ext cx="548640" cy="0"/>
          </a:xfrm>
          <a:prstGeom prst="line">
            <a:avLst/>
          </a:prstGeom>
          <a:noFill/>
          <a:ln w="22860">
            <a:solidFill>
              <a:srgbClr val="006B4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37A0181-C0B8-75F2-8641-131176224732}"/>
              </a:ext>
            </a:extLst>
          </p:cNvPr>
          <p:cNvSpPr/>
          <p:nvPr/>
        </p:nvSpPr>
        <p:spPr>
          <a:xfrm>
            <a:off x="12618720" y="4216908"/>
            <a:ext cx="45262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8D4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93B9000-BDDE-65CF-7824-2795BED6AB06}"/>
              </a:ext>
            </a:extLst>
          </p:cNvPr>
          <p:cNvSpPr/>
          <p:nvPr/>
        </p:nvSpPr>
        <p:spPr>
          <a:xfrm>
            <a:off x="13002768" y="4587240"/>
            <a:ext cx="1234440" cy="521208"/>
          </a:xfrm>
          <a:prstGeom prst="roundRect">
            <a:avLst>
              <a:gd name="adj" fmla="val 31579"/>
            </a:avLst>
          </a:prstGeom>
          <a:solidFill>
            <a:srgbClr val="D4714A"/>
          </a:solidFill>
          <a:ln w="12700">
            <a:solidFill>
              <a:srgbClr val="D4714A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9F7C2F5-8FBB-EB45-A679-66D2B6AFFE1C}"/>
              </a:ext>
            </a:extLst>
          </p:cNvPr>
          <p:cNvSpPr/>
          <p:nvPr/>
        </p:nvSpPr>
        <p:spPr>
          <a:xfrm>
            <a:off x="13112496" y="4655820"/>
            <a:ext cx="101498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altLang="ko-KR" sz="21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3~5</a:t>
            </a:r>
            <a:r>
              <a:rPr lang="ko-KR" altLang="en-US" sz="21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</a:t>
            </a:r>
            <a:endParaRPr lang="en-US" sz="2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E82F9A4-C55C-0968-28E7-C4A5E7C81FE6}"/>
              </a:ext>
            </a:extLst>
          </p:cNvPr>
          <p:cNvSpPr/>
          <p:nvPr/>
        </p:nvSpPr>
        <p:spPr>
          <a:xfrm>
            <a:off x="13098780" y="5327904"/>
            <a:ext cx="36347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</a:t>
            </a:r>
            <a:r>
              <a:rPr lang="en-US" altLang="ko-KR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관계</a:t>
            </a:r>
            <a:r>
              <a:rPr lang="en-US" altLang="ko-KR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마을 변화</a:t>
            </a:r>
          </a:p>
          <a:p>
            <a:pPr algn="ctr"/>
            <a:r>
              <a:rPr lang="ko-KR" altLang="en-US" sz="1900" b="1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결산으로 한 사이클 종료</a:t>
            </a:r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DB19F12-9A7C-945E-E615-DE3330BF182B}"/>
              </a:ext>
            </a:extLst>
          </p:cNvPr>
          <p:cNvSpPr/>
          <p:nvPr/>
        </p:nvSpPr>
        <p:spPr>
          <a:xfrm>
            <a:off x="1645920" y="7386828"/>
            <a:ext cx="14950440" cy="521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ko-KR" altLang="en-US" sz="31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졸업전시용 </a:t>
            </a:r>
            <a:r>
              <a:rPr lang="en-US" altLang="ko-KR" sz="31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3~5</a:t>
            </a:r>
            <a:r>
              <a:rPr lang="ko-KR" altLang="en-US" sz="31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</a:t>
            </a:r>
            <a:r>
              <a:rPr lang="en-US" sz="31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Vertical Slice Demo</a:t>
            </a:r>
            <a:endParaRPr lang="en-US" sz="3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76667A8-93EB-6CD5-711A-5E7321A9EDEA}"/>
              </a:ext>
            </a:extLst>
          </p:cNvPr>
          <p:cNvSpPr/>
          <p:nvPr/>
        </p:nvSpPr>
        <p:spPr>
          <a:xfrm>
            <a:off x="2331720" y="8305800"/>
            <a:ext cx="13510260" cy="3429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ko-KR" altLang="en-US" b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</a:t>
            </a:r>
            <a:r>
              <a:rPr lang="en-US" altLang="ko-KR" b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b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 운영 판단이 </a:t>
            </a:r>
            <a:r>
              <a:rPr lang="en-US" altLang="ko-KR" b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NPC </a:t>
            </a:r>
            <a:r>
              <a:rPr lang="ko-KR" altLang="en-US" b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소비와 마을 변화로 돌아오는 경험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" name="Picture 3">
            <a:extLst>
              <a:ext uri="{FF2B5EF4-FFF2-40B4-BE49-F238E27FC236}">
                <a16:creationId xmlns:a16="http://schemas.microsoft.com/office/drawing/2014/main" id="{B0204362-E5A6-5476-1FAB-5F6602BBD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3400"/>
            <a:ext cx="182880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2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4308-AC78-C0E6-3008-DC4D2076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6CE6F2-48BB-6283-6CC4-9A220B99D5DC}"/>
              </a:ext>
            </a:extLst>
          </p:cNvPr>
          <p:cNvSpPr/>
          <p:nvPr/>
        </p:nvSpPr>
        <p:spPr>
          <a:xfrm>
            <a:off x="1" y="0"/>
            <a:ext cx="18287543" cy="219456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869868-DE7E-F3C2-719F-DCE41459F902}"/>
              </a:ext>
            </a:extLst>
          </p:cNvPr>
          <p:cNvSpPr/>
          <p:nvPr/>
        </p:nvSpPr>
        <p:spPr>
          <a:xfrm>
            <a:off x="1" y="10040112"/>
            <a:ext cx="18287543" cy="246888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6CC2AC-115F-8A07-2505-1F59B1AD1D9E}"/>
              </a:ext>
            </a:extLst>
          </p:cNvPr>
          <p:cNvSpPr/>
          <p:nvPr/>
        </p:nvSpPr>
        <p:spPr>
          <a:xfrm>
            <a:off x="14196060" y="41148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ko-KR" altLang="en-US" sz="160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이번 학기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3AAB274-7872-ABBA-9188-D759CB1559F8}"/>
              </a:ext>
            </a:extLst>
          </p:cNvPr>
          <p:cNvSpPr/>
          <p:nvPr/>
        </p:nvSpPr>
        <p:spPr>
          <a:xfrm>
            <a:off x="864108" y="891540"/>
            <a:ext cx="82296" cy="644652"/>
          </a:xfrm>
          <a:prstGeom prst="rect">
            <a:avLst/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5B66ED4-AA26-1B1D-2C14-32051B1EDF4D}"/>
              </a:ext>
            </a:extLst>
          </p:cNvPr>
          <p:cNvSpPr/>
          <p:nvPr/>
        </p:nvSpPr>
        <p:spPr>
          <a:xfrm>
            <a:off x="1124712" y="931164"/>
            <a:ext cx="16047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4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이번 학기 목표</a:t>
            </a:r>
            <a:endParaRPr lang="en-US" sz="4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26A0B9-565B-6664-3824-40674E0F3BAD}"/>
              </a:ext>
            </a:extLst>
          </p:cNvPr>
          <p:cNvSpPr/>
          <p:nvPr/>
        </p:nvSpPr>
        <p:spPr>
          <a:xfrm>
            <a:off x="1124712" y="1870710"/>
            <a:ext cx="1618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19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기능의 양보다 </a:t>
            </a:r>
            <a:r>
              <a:rPr lang="en-US" altLang="ko-KR" sz="19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3~5</a:t>
            </a:r>
            <a:r>
              <a:rPr lang="ko-KR" altLang="en-US" sz="19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안의 완결성과 반복 실행 신뢰성을 우선하여</a:t>
            </a:r>
            <a:br>
              <a:rPr lang="en-US" altLang="ko-KR" sz="19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9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졸업전시 </a:t>
            </a:r>
            <a:r>
              <a:rPr lang="en-US" altLang="ko-KR" sz="19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Demo </a:t>
            </a:r>
            <a:r>
              <a:rPr lang="ko-KR" altLang="en-US" sz="19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완성이 최종 목표</a:t>
            </a:r>
          </a:p>
          <a:p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CAB8D3C-3672-605E-6577-FEC0EBBB1041}"/>
              </a:ext>
            </a:extLst>
          </p:cNvPr>
          <p:cNvSpPr/>
          <p:nvPr/>
        </p:nvSpPr>
        <p:spPr>
          <a:xfrm>
            <a:off x="17323308" y="96972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C456637-C35D-98D3-A52C-D10C3F77F01B}"/>
              </a:ext>
            </a:extLst>
          </p:cNvPr>
          <p:cNvSpPr/>
          <p:nvPr/>
        </p:nvSpPr>
        <p:spPr>
          <a:xfrm>
            <a:off x="1440180" y="2247900"/>
            <a:ext cx="30175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ko-KR" altLang="en-US" sz="22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우선순위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AFF89DD-5FE5-CAC6-825B-194927322B5A}"/>
              </a:ext>
            </a:extLst>
          </p:cNvPr>
          <p:cNvSpPr/>
          <p:nvPr/>
        </p:nvSpPr>
        <p:spPr>
          <a:xfrm>
            <a:off x="5554980" y="2247900"/>
            <a:ext cx="30175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ko-KR" altLang="en-US" sz="22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</a:t>
            </a:r>
            <a:r>
              <a:rPr lang="en-US" sz="22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Gap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263394C-30E1-657F-BC1B-6585A4EFC783}"/>
              </a:ext>
            </a:extLst>
          </p:cNvPr>
          <p:cNvSpPr/>
          <p:nvPr/>
        </p:nvSpPr>
        <p:spPr>
          <a:xfrm>
            <a:off x="11452860" y="2247900"/>
            <a:ext cx="30175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ko-KR" altLang="en-US" sz="22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완료 기준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7B598A9-2697-1439-E1B0-002B913B0BAF}"/>
              </a:ext>
            </a:extLst>
          </p:cNvPr>
          <p:cNvSpPr/>
          <p:nvPr/>
        </p:nvSpPr>
        <p:spPr>
          <a:xfrm>
            <a:off x="1124712" y="2837688"/>
            <a:ext cx="16020288" cy="1138428"/>
          </a:xfrm>
          <a:prstGeom prst="roundRect">
            <a:avLst>
              <a:gd name="adj" fmla="val 8434"/>
            </a:avLst>
          </a:prstGeom>
          <a:solidFill>
            <a:srgbClr val="F3F7F5"/>
          </a:solidFill>
          <a:ln w="12700">
            <a:solidFill>
              <a:srgbClr val="D4D8D4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F014F1C-C423-31C9-7BD4-D867996A542B}"/>
              </a:ext>
            </a:extLst>
          </p:cNvPr>
          <p:cNvSpPr/>
          <p:nvPr/>
        </p:nvSpPr>
        <p:spPr>
          <a:xfrm>
            <a:off x="1371600" y="3139440"/>
            <a:ext cx="3086100" cy="480060"/>
          </a:xfrm>
          <a:prstGeom prst="roundRect">
            <a:avLst>
              <a:gd name="adj" fmla="val 34286"/>
            </a:avLst>
          </a:prstGeom>
          <a:solidFill>
            <a:srgbClr val="5BAFC0"/>
          </a:solidFill>
          <a:ln w="12700">
            <a:solidFill>
              <a:srgbClr val="5BAFC0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656D3D-7879-5ADC-EF58-39150BB705BD}"/>
              </a:ext>
            </a:extLst>
          </p:cNvPr>
          <p:cNvSpPr/>
          <p:nvPr/>
        </p:nvSpPr>
        <p:spPr>
          <a:xfrm>
            <a:off x="1481328" y="3208020"/>
            <a:ext cx="2866644" cy="3429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P0 </a:t>
            </a:r>
            <a:r>
              <a:rPr lang="ko-KR" altLang="en-US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복원</a:t>
            </a:r>
            <a:r>
              <a:rPr lang="en-US" altLang="ko-KR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진입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518B22F-177A-4ED8-9EF9-36F397E3B6DC}"/>
              </a:ext>
            </a:extLst>
          </p:cNvPr>
          <p:cNvSpPr/>
          <p:nvPr/>
        </p:nvSpPr>
        <p:spPr>
          <a:xfrm>
            <a:off x="5280660" y="3139440"/>
            <a:ext cx="459486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ko-KR" altLang="en-US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방향 복원 </a:t>
            </a:r>
            <a:r>
              <a:rPr lang="en-US" altLang="ko-KR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blocker · </a:t>
            </a:r>
            <a:r>
              <a:rPr lang="ko-KR" altLang="en-US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분리된 진입점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0A10115-DDBD-1E1C-F299-8794D4948277}"/>
              </a:ext>
            </a:extLst>
          </p:cNvPr>
          <p:cNvSpPr/>
          <p:nvPr/>
        </p:nvSpPr>
        <p:spPr>
          <a:xfrm>
            <a:off x="11041380" y="3139440"/>
            <a:ext cx="486918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ko-KR" altLang="en-US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재시작 </a:t>
            </a:r>
            <a:r>
              <a:rPr lang="en-US" altLang="ko-KR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PASS · </a:t>
            </a:r>
            <a:r>
              <a:rPr lang="ko-KR" altLang="en-US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하나의 </a:t>
            </a:r>
            <a:r>
              <a:rPr lang="en-US" altLang="ko-KR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Demo </a:t>
            </a:r>
            <a:r>
              <a:rPr lang="ko-KR" altLang="en-US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경로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7589F46-1711-1082-7FCB-C02B2E50DA87}"/>
              </a:ext>
            </a:extLst>
          </p:cNvPr>
          <p:cNvSpPr/>
          <p:nvPr/>
        </p:nvSpPr>
        <p:spPr>
          <a:xfrm>
            <a:off x="1124712" y="4277868"/>
            <a:ext cx="16020288" cy="1138428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D4D8D4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6791037-9C84-8200-6FBA-EFDE7B834CA5}"/>
              </a:ext>
            </a:extLst>
          </p:cNvPr>
          <p:cNvSpPr/>
          <p:nvPr/>
        </p:nvSpPr>
        <p:spPr>
          <a:xfrm>
            <a:off x="1371600" y="4579620"/>
            <a:ext cx="3086100" cy="480060"/>
          </a:xfrm>
          <a:prstGeom prst="roundRect">
            <a:avLst>
              <a:gd name="adj" fmla="val 34286"/>
            </a:avLst>
          </a:prstGeom>
          <a:solidFill>
            <a:srgbClr val="006B4F"/>
          </a:solidFill>
          <a:ln w="12700">
            <a:solidFill>
              <a:srgbClr val="006B4F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361D26F-2E3D-2F78-9039-221A401FAEDC}"/>
              </a:ext>
            </a:extLst>
          </p:cNvPr>
          <p:cNvSpPr/>
          <p:nvPr/>
        </p:nvSpPr>
        <p:spPr>
          <a:xfrm>
            <a:off x="1481328" y="4648200"/>
            <a:ext cx="2866644" cy="3429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P1 3~5</a:t>
            </a:r>
            <a:r>
              <a:rPr lang="ko-KR" altLang="en-US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사이클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92965F2-A96A-3AAC-277B-365E0C3EBC9C}"/>
              </a:ext>
            </a:extLst>
          </p:cNvPr>
          <p:cNvSpPr/>
          <p:nvPr/>
        </p:nvSpPr>
        <p:spPr>
          <a:xfrm>
            <a:off x="5280660" y="4579620"/>
            <a:ext cx="459486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ko-KR" altLang="en-US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긴 흐름 </a:t>
            </a:r>
            <a:r>
              <a:rPr lang="en-US" altLang="ko-KR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종료점 </a:t>
            </a:r>
            <a:r>
              <a:rPr lang="en-US" altLang="ko-KR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Reset </a:t>
            </a:r>
            <a:r>
              <a:rPr lang="ko-KR" altLang="en-US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미정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6BD18F0-7493-21DD-AEB6-E0BBE35F34B8}"/>
              </a:ext>
            </a:extLst>
          </p:cNvPr>
          <p:cNvSpPr/>
          <p:nvPr/>
        </p:nvSpPr>
        <p:spPr>
          <a:xfrm>
            <a:off x="11041380" y="4579620"/>
            <a:ext cx="486918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ko-KR" altLang="en-US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판단→반응→결과→결산→</a:t>
            </a:r>
            <a:r>
              <a:rPr lang="en-US" altLang="ko-KR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Reset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B915F77-F5E3-370D-AC79-E35EEE9FD7AC}"/>
              </a:ext>
            </a:extLst>
          </p:cNvPr>
          <p:cNvSpPr/>
          <p:nvPr/>
        </p:nvSpPr>
        <p:spPr>
          <a:xfrm>
            <a:off x="1124712" y="5718048"/>
            <a:ext cx="16020288" cy="1138428"/>
          </a:xfrm>
          <a:prstGeom prst="roundRect">
            <a:avLst>
              <a:gd name="adj" fmla="val 8434"/>
            </a:avLst>
          </a:prstGeom>
          <a:solidFill>
            <a:srgbClr val="F3F7F5"/>
          </a:solidFill>
          <a:ln w="12700">
            <a:solidFill>
              <a:srgbClr val="D4D8D4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C96F4BC-03DF-4696-AE0A-1FBBA32073ED}"/>
              </a:ext>
            </a:extLst>
          </p:cNvPr>
          <p:cNvSpPr/>
          <p:nvPr/>
        </p:nvSpPr>
        <p:spPr>
          <a:xfrm>
            <a:off x="1371600" y="6019800"/>
            <a:ext cx="3086100" cy="480060"/>
          </a:xfrm>
          <a:prstGeom prst="roundRect">
            <a:avLst>
              <a:gd name="adj" fmla="val 34286"/>
            </a:avLst>
          </a:prstGeom>
          <a:solidFill>
            <a:srgbClr val="D4714A"/>
          </a:solidFill>
          <a:ln w="12700">
            <a:solidFill>
              <a:srgbClr val="D4714A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6797E7B-7387-267A-E941-E708029A86D2}"/>
              </a:ext>
            </a:extLst>
          </p:cNvPr>
          <p:cNvSpPr/>
          <p:nvPr/>
        </p:nvSpPr>
        <p:spPr>
          <a:xfrm>
            <a:off x="1481328" y="6088380"/>
            <a:ext cx="2866644" cy="3429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P2 </a:t>
            </a:r>
            <a:r>
              <a:rPr lang="ko-KR" altLang="en-US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 가독성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65A4204-B6AD-D158-26D6-D5CE3562F013}"/>
              </a:ext>
            </a:extLst>
          </p:cNvPr>
          <p:cNvSpPr/>
          <p:nvPr/>
        </p:nvSpPr>
        <p:spPr>
          <a:xfrm>
            <a:off x="5280660" y="6019800"/>
            <a:ext cx="459486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en-US" altLang="ko-KR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HUD </a:t>
            </a:r>
            <a:r>
              <a:rPr lang="ko-KR" altLang="en-US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겹침 </a:t>
            </a:r>
            <a:r>
              <a:rPr lang="en-US" altLang="ko-KR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카메라 가림 </a:t>
            </a:r>
            <a:r>
              <a:rPr lang="en-US" altLang="ko-KR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상점 식별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080BB0B-2AC6-9C1E-6FD0-15EE1337B5B3}"/>
              </a:ext>
            </a:extLst>
          </p:cNvPr>
          <p:cNvSpPr/>
          <p:nvPr/>
        </p:nvSpPr>
        <p:spPr>
          <a:xfrm>
            <a:off x="11041380" y="6019800"/>
            <a:ext cx="486918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en-US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1920×1080 safe area</a:t>
            </a:r>
            <a:r>
              <a:rPr lang="ko-KR" altLang="en-US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동선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4BE5347-06DE-DB17-1CBC-9561CFEE708C}"/>
              </a:ext>
            </a:extLst>
          </p:cNvPr>
          <p:cNvSpPr/>
          <p:nvPr/>
        </p:nvSpPr>
        <p:spPr>
          <a:xfrm>
            <a:off x="1124712" y="7158228"/>
            <a:ext cx="16020288" cy="1138428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D4D8D4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B47AA22-1E47-4327-4335-C3ECEB744F94}"/>
              </a:ext>
            </a:extLst>
          </p:cNvPr>
          <p:cNvSpPr/>
          <p:nvPr/>
        </p:nvSpPr>
        <p:spPr>
          <a:xfrm>
            <a:off x="1371600" y="7459980"/>
            <a:ext cx="3086100" cy="480060"/>
          </a:xfrm>
          <a:prstGeom prst="roundRect">
            <a:avLst>
              <a:gd name="adj" fmla="val 34286"/>
            </a:avLst>
          </a:prstGeom>
          <a:solidFill>
            <a:srgbClr val="142235"/>
          </a:solidFill>
          <a:ln w="12700">
            <a:solidFill>
              <a:srgbClr val="142235"/>
            </a:solidFill>
            <a:prstDash val="solid"/>
          </a:ln>
        </p:spPr>
        <p:txBody>
          <a:bodyPr/>
          <a:lstStyle/>
          <a:p>
            <a:endParaRPr lang="ko-KR" altLang="en-US" sz="2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0A6F55B-5334-9106-05AC-C45B950DED51}"/>
              </a:ext>
            </a:extLst>
          </p:cNvPr>
          <p:cNvSpPr/>
          <p:nvPr/>
        </p:nvSpPr>
        <p:spPr>
          <a:xfrm>
            <a:off x="1481328" y="7528560"/>
            <a:ext cx="2866644" cy="3429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P3 </a:t>
            </a:r>
            <a:r>
              <a:rPr lang="ko-KR" altLang="en-US" sz="17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품질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944FE94-5461-7E5F-4466-8AD555629E98}"/>
              </a:ext>
            </a:extLst>
          </p:cNvPr>
          <p:cNvSpPr/>
          <p:nvPr/>
        </p:nvSpPr>
        <p:spPr>
          <a:xfrm>
            <a:off x="5280660" y="7459980"/>
            <a:ext cx="459486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en-US" sz="1500">
                <a:solidFill>
                  <a:srgbClr val="14223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standalone · Audio · Visual polish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50F8BF6-78AD-B580-8119-2793CB5BBBE3}"/>
              </a:ext>
            </a:extLst>
          </p:cNvPr>
          <p:cNvSpPr/>
          <p:nvPr/>
        </p:nvSpPr>
        <p:spPr>
          <a:xfrm>
            <a:off x="11041380" y="7459980"/>
            <a:ext cx="486918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r>
              <a:rPr lang="ko-KR" altLang="en-US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반복 관람객 플레이 </a:t>
            </a:r>
            <a:r>
              <a:rPr lang="en-US" altLang="ko-KR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500" b="1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실패 대비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86D7B1C-1DA6-8A42-76B3-A8987BEC9F5D}"/>
              </a:ext>
            </a:extLst>
          </p:cNvPr>
          <p:cNvSpPr/>
          <p:nvPr/>
        </p:nvSpPr>
        <p:spPr>
          <a:xfrm>
            <a:off x="2811780" y="8529828"/>
            <a:ext cx="12618720" cy="630936"/>
          </a:xfrm>
          <a:prstGeom prst="roundRect">
            <a:avLst>
              <a:gd name="adj" fmla="val 21739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  <a:effectLst>
            <a:outerShdw blurRad="12700" dist="50800" dir="2700000" algn="bl" rotWithShape="0">
              <a:srgbClr val="B8C2B9">
                <a:alpha val="18000"/>
              </a:srgbClr>
            </a:outerShdw>
          </a:effectLst>
        </p:spPr>
        <p:txBody>
          <a:bodyPr/>
          <a:lstStyle/>
          <a:p>
            <a:endParaRPr lang="ko-KR" altLang="en-US"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6EC2A30-E4AE-87BE-C00B-407189723D65}"/>
              </a:ext>
            </a:extLst>
          </p:cNvPr>
          <p:cNvSpPr/>
          <p:nvPr/>
        </p:nvSpPr>
        <p:spPr>
          <a:xfrm>
            <a:off x="3086100" y="8749284"/>
            <a:ext cx="12070080" cy="2331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algn="ctr"/>
            <a:r>
              <a:rPr lang="ko-KR" altLang="en-US" sz="1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이번 학기 최종 목표 </a:t>
            </a:r>
            <a:r>
              <a:rPr lang="en-US" altLang="ko-KR" sz="1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lang="ko-KR" altLang="en-US" sz="1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졸업전시용 </a:t>
            </a:r>
            <a:r>
              <a:rPr lang="en-US" altLang="ko-KR" sz="1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3~5</a:t>
            </a:r>
            <a:r>
              <a:rPr lang="ko-KR" altLang="en-US" sz="1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</a:t>
            </a:r>
            <a:r>
              <a:rPr lang="en-US" altLang="ko-KR" sz="1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Demo </a:t>
            </a:r>
            <a:r>
              <a:rPr lang="ko-KR" altLang="en-US" sz="1700" b="1" dirty="0">
                <a:solidFill>
                  <a:srgbClr val="006B4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완성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4" name="Picture 3">
            <a:extLst>
              <a:ext uri="{FF2B5EF4-FFF2-40B4-BE49-F238E27FC236}">
                <a16:creationId xmlns:a16="http://schemas.microsoft.com/office/drawing/2014/main" id="{624AADEF-61B5-613C-4EAB-7DC4C1DE5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3400"/>
            <a:ext cx="182880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58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1369</Words>
  <Application>Microsoft Office PowerPoint</Application>
  <PresentationFormat>사용자 지정</PresentationFormat>
  <Paragraphs>186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</vt:lpstr>
      <vt:lpstr>맑은 고딕</vt:lpstr>
      <vt:lpstr>GangwonEduPower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신동준</dc:creator>
  <cp:lastModifiedBy>동준 신</cp:lastModifiedBy>
  <cp:revision>32</cp:revision>
  <cp:lastPrinted>2026-04-07T02:39:34Z</cp:lastPrinted>
  <dcterms:created xsi:type="dcterms:W3CDTF">2006-08-16T00:00:00Z</dcterms:created>
  <dcterms:modified xsi:type="dcterms:W3CDTF">2026-09-01T03:10:24Z</dcterms:modified>
</cp:coreProperties>
</file>