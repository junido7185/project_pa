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60" r:id="rId3"/>
    <p:sldId id="272" r:id="rId4"/>
    <p:sldId id="261" r:id="rId5"/>
    <p:sldId id="273" r:id="rId6"/>
    <p:sldId id="274" r:id="rId7"/>
    <p:sldId id="275" r:id="rId8"/>
    <p:sldId id="283" r:id="rId9"/>
    <p:sldId id="282" r:id="rId10"/>
    <p:sldId id="281" r:id="rId11"/>
    <p:sldId id="264" r:id="rId12"/>
    <p:sldId id="284" r:id="rId13"/>
    <p:sldId id="262" r:id="rId14"/>
    <p:sldId id="278" r:id="rId15"/>
    <p:sldId id="279" r:id="rId16"/>
    <p:sldId id="276" r:id="rId17"/>
    <p:sldId id="280" r:id="rId18"/>
    <p:sldId id="271" r:id="rId19"/>
    <p:sldId id="285" r:id="rId20"/>
    <p:sldId id="286" r:id="rId21"/>
    <p:sldId id="288" r:id="rId22"/>
    <p:sldId id="290" r:id="rId23"/>
    <p:sldId id="289" r:id="rId24"/>
    <p:sldId id="292" r:id="rId25"/>
    <p:sldId id="291" r:id="rId26"/>
    <p:sldId id="293" r:id="rId27"/>
    <p:sldId id="295" r:id="rId28"/>
    <p:sldId id="294" r:id="rId29"/>
    <p:sldId id="296" r:id="rId30"/>
    <p:sldId id="297" r:id="rId31"/>
    <p:sldId id="269" r:id="rId32"/>
  </p:sldIdLst>
  <p:sldSz cx="18288000" cy="10287000"/>
  <p:notesSz cx="6858000" cy="9144000"/>
  <p:embeddedFontLst>
    <p:embeddedFont>
      <p:font typeface="GangwonEduPower" panose="020B0600000101010101" charset="-127"/>
      <p:regular r:id="rId34"/>
    </p:embeddedFont>
    <p:embeddedFont>
      <p:font typeface="Pretendard" panose="02000503000000020004" pitchFamily="50" charset="-127"/>
      <p:regular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402B"/>
    <a:srgbClr val="15704D"/>
    <a:srgbClr val="C0504D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2" autoAdjust="0"/>
    <p:restoredTop sz="94622" autoAdjust="0"/>
  </p:normalViewPr>
  <p:slideViewPr>
    <p:cSldViewPr>
      <p:cViewPr varScale="1">
        <p:scale>
          <a:sx n="30" d="100"/>
          <a:sy n="30" d="100"/>
        </p:scale>
        <p:origin x="708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4BACAF-ED64-40C0-B2AE-2A5E8A03BE83}" type="doc">
      <dgm:prSet loTypeId="urn:microsoft.com/office/officeart/2008/layout/SquareAccen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8ED841AF-A080-43E2-AFE5-8B82B1DC3983}">
      <dgm:prSet phldrT="[텍스트]"/>
      <dgm:spPr/>
      <dgm:t>
        <a:bodyPr/>
        <a:lstStyle/>
        <a:p>
          <a:pPr algn="ctr" latinLnBrk="1"/>
          <a:r>
            <a: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호스트의 역할</a:t>
          </a:r>
          <a:r>
            <a: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:</a:t>
          </a:r>
          <a:endParaRPr lang="ko-KR" altLang="en-US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D78F3C00-2D5B-48B0-8A82-3708E50F3D24}" type="parTrans" cxnId="{3AD330D1-0029-4BD9-83E1-03249B5A3E04}">
      <dgm:prSet/>
      <dgm:spPr/>
      <dgm:t>
        <a:bodyPr/>
        <a:lstStyle/>
        <a:p>
          <a:pPr latinLnBrk="1"/>
          <a:endParaRPr lang="ko-KR" altLang="en-US"/>
        </a:p>
      </dgm:t>
    </dgm:pt>
    <dgm:pt modelId="{15039583-BA09-445F-8E63-320E831FD3A0}" type="sibTrans" cxnId="{3AD330D1-0029-4BD9-83E1-03249B5A3E04}">
      <dgm:prSet/>
      <dgm:spPr/>
      <dgm:t>
        <a:bodyPr/>
        <a:lstStyle/>
        <a:p>
          <a:pPr latinLnBrk="1"/>
          <a:endParaRPr lang="ko-KR" altLang="en-US"/>
        </a:p>
      </dgm:t>
    </dgm:pt>
    <dgm:pt modelId="{A7332D4B-0AC5-4C24-94EA-85085A005E1F}">
      <dgm:prSet phldrT="[텍스트]" custT="1"/>
      <dgm:spPr/>
      <dgm:t>
        <a:bodyPr/>
        <a:lstStyle/>
        <a:p>
          <a:pPr algn="l" latinLnBrk="1"/>
          <a:r>
            <a: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서버 권한</a:t>
          </a:r>
          <a:r>
            <a: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: </a:t>
          </a:r>
          <a:r>
            <a: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게임의 핵심 로직을 통제</a:t>
          </a:r>
          <a:r>
            <a: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 </a:t>
          </a:r>
          <a:br>
            <a: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</a:br>
          <a:r>
            <a: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NPC</a:t>
          </a:r>
          <a:r>
            <a: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의 </a:t>
          </a:r>
          <a:r>
            <a: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AI </a:t>
          </a:r>
          <a:r>
            <a: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행동 결정</a:t>
          </a:r>
          <a:r>
            <a: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, </a:t>
          </a:r>
          <a:r>
            <a: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경제 시스템의 재화 계산</a:t>
          </a:r>
          <a:r>
            <a: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, </a:t>
          </a:r>
          <a:r>
            <a: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상점의 재고 관리 등은 모두 호스트의 컴퓨터에서 계산</a:t>
          </a:r>
          <a:r>
            <a: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 </a:t>
          </a:r>
          <a:endParaRPr lang="ko-KR" altLang="en-US" sz="14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FE7CD525-5128-42C1-ADD6-17DEFB6FE85D}" type="parTrans" cxnId="{B4FC436F-D8FC-457D-A59B-BE62627E50B3}">
      <dgm:prSet/>
      <dgm:spPr/>
      <dgm:t>
        <a:bodyPr/>
        <a:lstStyle/>
        <a:p>
          <a:pPr latinLnBrk="1"/>
          <a:endParaRPr lang="ko-KR" altLang="en-US"/>
        </a:p>
      </dgm:t>
    </dgm:pt>
    <dgm:pt modelId="{161E55D9-617D-4A1E-8969-C55306294AF6}" type="sibTrans" cxnId="{B4FC436F-D8FC-457D-A59B-BE62627E50B3}">
      <dgm:prSet/>
      <dgm:spPr/>
      <dgm:t>
        <a:bodyPr/>
        <a:lstStyle/>
        <a:p>
          <a:pPr latinLnBrk="1"/>
          <a:endParaRPr lang="ko-KR" altLang="en-US"/>
        </a:p>
      </dgm:t>
    </dgm:pt>
    <dgm:pt modelId="{7C6E1C04-232B-4F58-9A5E-DAF6F950EE74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데이터 소유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: </a:t>
          </a:r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섬의 원본 데이터를 로드하고 세션을 생성합니다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</a:t>
          </a:r>
          <a:endParaRPr lang="ko-KR" altLang="en-US" sz="16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482264F2-3A0D-4F38-A897-90B933D689C2}" type="parTrans" cxnId="{4FBCB057-9D3C-41A9-80E1-124E28CE5A46}">
      <dgm:prSet/>
      <dgm:spPr/>
      <dgm:t>
        <a:bodyPr/>
        <a:lstStyle/>
        <a:p>
          <a:pPr latinLnBrk="1"/>
          <a:endParaRPr lang="ko-KR" altLang="en-US"/>
        </a:p>
      </dgm:t>
    </dgm:pt>
    <dgm:pt modelId="{28373368-C019-4F4F-8354-769B230C5812}" type="sibTrans" cxnId="{4FBCB057-9D3C-41A9-80E1-124E28CE5A46}">
      <dgm:prSet/>
      <dgm:spPr/>
      <dgm:t>
        <a:bodyPr/>
        <a:lstStyle/>
        <a:p>
          <a:pPr latinLnBrk="1"/>
          <a:endParaRPr lang="ko-KR" altLang="en-US"/>
        </a:p>
      </dgm:t>
    </dgm:pt>
    <dgm:pt modelId="{54F52981-CD9D-405E-BD5F-4F0FDD0E7CF0}">
      <dgm:prSet phldrT="[텍스트]"/>
      <dgm:spPr/>
      <dgm:t>
        <a:bodyPr/>
        <a:lstStyle/>
        <a:p>
          <a:pPr algn="ctr" latinLnBrk="1"/>
          <a:r>
            <a: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클라이언트</a:t>
          </a:r>
          <a:r>
            <a: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(</a:t>
          </a:r>
          <a:r>
            <a: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파견 파트너</a:t>
          </a:r>
          <a:r>
            <a: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)</a:t>
          </a:r>
          <a:r>
            <a: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의 역할</a:t>
          </a:r>
          <a:r>
            <a: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:</a:t>
          </a:r>
          <a:endParaRPr lang="ko-KR" altLang="en-US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27972A8C-A29B-4FAD-AC8E-7197163636F3}" type="parTrans" cxnId="{9B60DB90-BAD4-4E3A-9DFD-D20D1CAA33E1}">
      <dgm:prSet/>
      <dgm:spPr/>
      <dgm:t>
        <a:bodyPr/>
        <a:lstStyle/>
        <a:p>
          <a:pPr latinLnBrk="1"/>
          <a:endParaRPr lang="ko-KR" altLang="en-US"/>
        </a:p>
      </dgm:t>
    </dgm:pt>
    <dgm:pt modelId="{B464FB2D-4E36-40BA-9376-2EB3D67B761D}" type="sibTrans" cxnId="{9B60DB90-BAD4-4E3A-9DFD-D20D1CAA33E1}">
      <dgm:prSet/>
      <dgm:spPr/>
      <dgm:t>
        <a:bodyPr/>
        <a:lstStyle/>
        <a:p>
          <a:pPr latinLnBrk="1"/>
          <a:endParaRPr lang="ko-KR" altLang="en-US"/>
        </a:p>
      </dgm:t>
    </dgm:pt>
    <dgm:pt modelId="{11D5D79E-BB7E-4140-8D5F-F99AAC5C7D89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호스트가 생성한 세션 코드를 입력하여 접속합니다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</a:t>
          </a:r>
          <a:endParaRPr lang="ko-KR" altLang="en-US" sz="16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B4F32034-9B69-405E-A69F-4CB45169D351}" type="parTrans" cxnId="{EE91F451-7062-4A15-9A53-BAD55586AC88}">
      <dgm:prSet/>
      <dgm:spPr/>
      <dgm:t>
        <a:bodyPr/>
        <a:lstStyle/>
        <a:p>
          <a:pPr latinLnBrk="1"/>
          <a:endParaRPr lang="ko-KR" altLang="en-US"/>
        </a:p>
      </dgm:t>
    </dgm:pt>
    <dgm:pt modelId="{3D61CABE-D79A-4F76-85B2-DC06AB2CE062}" type="sibTrans" cxnId="{EE91F451-7062-4A15-9A53-BAD55586AC88}">
      <dgm:prSet/>
      <dgm:spPr/>
      <dgm:t>
        <a:bodyPr/>
        <a:lstStyle/>
        <a:p>
          <a:pPr latinLnBrk="1"/>
          <a:endParaRPr lang="ko-KR" altLang="en-US"/>
        </a:p>
      </dgm:t>
    </dgm:pt>
    <dgm:pt modelId="{23437140-B146-4501-B27E-A3DEFAA5F597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자신의 캐릭터 조작 정보만 서버로 보내고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, </a:t>
          </a:r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서버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(</a:t>
          </a:r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호스트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)</a:t>
          </a:r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로부터 업데이트된 월드 정보를 받아 화면에 송출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</a:t>
          </a:r>
          <a:endParaRPr lang="ko-KR" altLang="en-US" sz="16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EFC78F1D-4471-4C18-AE89-3923D90D3690}" type="parTrans" cxnId="{550A94CA-C4B7-4C98-8B99-3AED9C0D2891}">
      <dgm:prSet/>
      <dgm:spPr/>
      <dgm:t>
        <a:bodyPr/>
        <a:lstStyle/>
        <a:p>
          <a:pPr latinLnBrk="1"/>
          <a:endParaRPr lang="ko-KR" altLang="en-US"/>
        </a:p>
      </dgm:t>
    </dgm:pt>
    <dgm:pt modelId="{5F39C583-6799-497A-9CDE-6F82E2488ED3}" type="sibTrans" cxnId="{550A94CA-C4B7-4C98-8B99-3AED9C0D2891}">
      <dgm:prSet/>
      <dgm:spPr/>
      <dgm:t>
        <a:bodyPr/>
        <a:lstStyle/>
        <a:p>
          <a:pPr latinLnBrk="1"/>
          <a:endParaRPr lang="ko-KR" altLang="en-US"/>
        </a:p>
      </dgm:t>
    </dgm:pt>
    <dgm:pt modelId="{46AF4887-5531-465F-9559-A54DE03F415B}">
      <dgm:prSet phldrT="[텍스트]" phldr="0"/>
      <dgm:spPr/>
      <dgm:t>
        <a:bodyPr/>
        <a:lstStyle/>
        <a:p>
          <a:pPr algn="ctr" latinLnBrk="1"/>
          <a:r>
            <a: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연결의 핵심 </a:t>
          </a:r>
          <a:r>
            <a: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(</a:t>
          </a:r>
          <a:r>
            <a: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UGS Relay):</a:t>
          </a:r>
          <a:endParaRPr lang="ko-KR" altLang="en-US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6EC952F6-487B-47A6-BFE6-1D3138A977A5}" type="parTrans" cxnId="{9A5A5D3A-0038-47A7-9E7C-73DBE99F052C}">
      <dgm:prSet/>
      <dgm:spPr/>
      <dgm:t>
        <a:bodyPr/>
        <a:lstStyle/>
        <a:p>
          <a:pPr latinLnBrk="1"/>
          <a:endParaRPr lang="ko-KR" altLang="en-US"/>
        </a:p>
      </dgm:t>
    </dgm:pt>
    <dgm:pt modelId="{A3661750-FE04-4951-AFFF-CA741E5F11A8}" type="sibTrans" cxnId="{9A5A5D3A-0038-47A7-9E7C-73DBE99F052C}">
      <dgm:prSet/>
      <dgm:spPr/>
      <dgm:t>
        <a:bodyPr/>
        <a:lstStyle/>
        <a:p>
          <a:pPr latinLnBrk="1"/>
          <a:endParaRPr lang="ko-KR" altLang="en-US"/>
        </a:p>
      </dgm:t>
    </dgm:pt>
    <dgm:pt modelId="{35605D7D-5911-4DFA-A8D5-4BE31B1CB8C4}">
      <dgm:prSet phldrT="[텍스트]" phldr="0" custT="1"/>
      <dgm:spPr/>
      <dgm:t>
        <a:bodyPr/>
        <a:lstStyle/>
        <a:p>
          <a:pPr latinLnBrk="1"/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일반적인 가정용 인터넷은 보안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(NAT) </a:t>
          </a:r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때문에 외부 접속이 어렵기 때문에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Unity Relay</a:t>
          </a:r>
          <a:r>
            <a: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는 호스트와 클라이언트 사이에서 중계소 역할을 하여 포트 포워딩 같은 복잡한 설정 없이도 전 세계 어디서든 연결되게 </a:t>
          </a:r>
          <a:r>
            <a: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돕습니다</a:t>
          </a:r>
          <a:r>
            <a: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</a:t>
          </a:r>
          <a:endParaRPr lang="ko-KR" altLang="en-US" sz="16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6A5F927C-755F-4D07-8281-62C9E1366173}" type="parTrans" cxnId="{E5904326-96C9-4D35-9AAD-871DD432736B}">
      <dgm:prSet/>
      <dgm:spPr/>
      <dgm:t>
        <a:bodyPr/>
        <a:lstStyle/>
        <a:p>
          <a:pPr latinLnBrk="1"/>
          <a:endParaRPr lang="ko-KR" altLang="en-US"/>
        </a:p>
      </dgm:t>
    </dgm:pt>
    <dgm:pt modelId="{076FE462-1FF5-4AF3-A31D-8DEECDBF67F9}" type="sibTrans" cxnId="{E5904326-96C9-4D35-9AAD-871DD432736B}">
      <dgm:prSet/>
      <dgm:spPr/>
      <dgm:t>
        <a:bodyPr/>
        <a:lstStyle/>
        <a:p>
          <a:pPr latinLnBrk="1"/>
          <a:endParaRPr lang="ko-KR" altLang="en-US"/>
        </a:p>
      </dgm:t>
    </dgm:pt>
    <dgm:pt modelId="{5618D45D-7AB5-457E-BB8F-AB16BBD22BE3}" type="pres">
      <dgm:prSet presAssocID="{084BACAF-ED64-40C0-B2AE-2A5E8A03BE83}" presName="layout" presStyleCnt="0">
        <dgm:presLayoutVars>
          <dgm:chMax/>
          <dgm:chPref/>
          <dgm:dir/>
          <dgm:resizeHandles/>
        </dgm:presLayoutVars>
      </dgm:prSet>
      <dgm:spPr/>
    </dgm:pt>
    <dgm:pt modelId="{ECA59BCA-B085-4B4D-8121-E323F36B92CD}" type="pres">
      <dgm:prSet presAssocID="{8ED841AF-A080-43E2-AFE5-8B82B1DC3983}" presName="root" presStyleCnt="0">
        <dgm:presLayoutVars>
          <dgm:chMax/>
          <dgm:chPref/>
        </dgm:presLayoutVars>
      </dgm:prSet>
      <dgm:spPr/>
    </dgm:pt>
    <dgm:pt modelId="{4AF6841E-A55D-4EF5-9453-18994736BEF6}" type="pres">
      <dgm:prSet presAssocID="{8ED841AF-A080-43E2-AFE5-8B82B1DC3983}" presName="rootComposite" presStyleCnt="0">
        <dgm:presLayoutVars/>
      </dgm:prSet>
      <dgm:spPr/>
    </dgm:pt>
    <dgm:pt modelId="{908EA9DF-CD64-42FE-8E82-6B91B6A7C47B}" type="pres">
      <dgm:prSet presAssocID="{8ED841AF-A080-43E2-AFE5-8B82B1DC3983}" presName="ParentAccent" presStyleLbl="alignNode1" presStyleIdx="0" presStyleCnt="3"/>
      <dgm:spPr/>
    </dgm:pt>
    <dgm:pt modelId="{D56906DD-0DB7-4AA8-8407-862F5DC45BE1}" type="pres">
      <dgm:prSet presAssocID="{8ED841AF-A080-43E2-AFE5-8B82B1DC3983}" presName="ParentSmallAccent" presStyleLbl="fgAcc1" presStyleIdx="0" presStyleCnt="3"/>
      <dgm:spPr/>
    </dgm:pt>
    <dgm:pt modelId="{52157094-A161-4B89-828E-21A03D5D650E}" type="pres">
      <dgm:prSet presAssocID="{8ED841AF-A080-43E2-AFE5-8B82B1DC3983}" presName="Parent" presStyleLbl="revTx" presStyleIdx="0" presStyleCnt="8">
        <dgm:presLayoutVars>
          <dgm:chMax/>
          <dgm:chPref val="4"/>
          <dgm:bulletEnabled val="1"/>
        </dgm:presLayoutVars>
      </dgm:prSet>
      <dgm:spPr/>
    </dgm:pt>
    <dgm:pt modelId="{E6FEE781-390A-45AD-981B-BCCD53E08A34}" type="pres">
      <dgm:prSet presAssocID="{8ED841AF-A080-43E2-AFE5-8B82B1DC3983}" presName="childShape" presStyleCnt="0">
        <dgm:presLayoutVars>
          <dgm:chMax val="0"/>
          <dgm:chPref val="0"/>
        </dgm:presLayoutVars>
      </dgm:prSet>
      <dgm:spPr/>
    </dgm:pt>
    <dgm:pt modelId="{B1B9D5BF-9510-47B5-8887-22FBB464FAB3}" type="pres">
      <dgm:prSet presAssocID="{A7332D4B-0AC5-4C24-94EA-85085A005E1F}" presName="childComposite" presStyleCnt="0">
        <dgm:presLayoutVars>
          <dgm:chMax val="0"/>
          <dgm:chPref val="0"/>
        </dgm:presLayoutVars>
      </dgm:prSet>
      <dgm:spPr/>
    </dgm:pt>
    <dgm:pt modelId="{4F873681-681E-4853-853B-FE7A7A0ED221}" type="pres">
      <dgm:prSet presAssocID="{A7332D4B-0AC5-4C24-94EA-85085A005E1F}" presName="ChildAccent" presStyleLbl="solidFgAcc1" presStyleIdx="0" presStyleCnt="5"/>
      <dgm:spPr/>
    </dgm:pt>
    <dgm:pt modelId="{F825949C-9934-4C77-A343-C9173CE77BE9}" type="pres">
      <dgm:prSet presAssocID="{A7332D4B-0AC5-4C24-94EA-85085A005E1F}" presName="Child" presStyleLbl="revTx" presStyleIdx="1" presStyleCnt="8" custLinFactNeighborY="13728">
        <dgm:presLayoutVars>
          <dgm:chMax val="0"/>
          <dgm:chPref val="0"/>
          <dgm:bulletEnabled val="1"/>
        </dgm:presLayoutVars>
      </dgm:prSet>
      <dgm:spPr/>
    </dgm:pt>
    <dgm:pt modelId="{D9C6A8EB-10CB-4C7F-B0CB-FE2012223DBB}" type="pres">
      <dgm:prSet presAssocID="{7C6E1C04-232B-4F58-9A5E-DAF6F950EE74}" presName="childComposite" presStyleCnt="0">
        <dgm:presLayoutVars>
          <dgm:chMax val="0"/>
          <dgm:chPref val="0"/>
        </dgm:presLayoutVars>
      </dgm:prSet>
      <dgm:spPr/>
    </dgm:pt>
    <dgm:pt modelId="{7F3F51A2-A4D1-4DFF-B526-380FAEBB6EFA}" type="pres">
      <dgm:prSet presAssocID="{7C6E1C04-232B-4F58-9A5E-DAF6F950EE74}" presName="ChildAccent" presStyleLbl="solidFgAcc1" presStyleIdx="1" presStyleCnt="5"/>
      <dgm:spPr/>
    </dgm:pt>
    <dgm:pt modelId="{BE4D6184-B7A0-4A73-86E2-C2DD6EF575D5}" type="pres">
      <dgm:prSet presAssocID="{7C6E1C04-232B-4F58-9A5E-DAF6F950EE74}" presName="Child" presStyleLbl="revTx" presStyleIdx="2" presStyleCnt="8" custLinFactNeighborY="13728">
        <dgm:presLayoutVars>
          <dgm:chMax val="0"/>
          <dgm:chPref val="0"/>
          <dgm:bulletEnabled val="1"/>
        </dgm:presLayoutVars>
      </dgm:prSet>
      <dgm:spPr/>
    </dgm:pt>
    <dgm:pt modelId="{AF5C9B86-88F5-49F3-AFBB-8E9482E913BF}" type="pres">
      <dgm:prSet presAssocID="{54F52981-CD9D-405E-BD5F-4F0FDD0E7CF0}" presName="root" presStyleCnt="0">
        <dgm:presLayoutVars>
          <dgm:chMax/>
          <dgm:chPref/>
        </dgm:presLayoutVars>
      </dgm:prSet>
      <dgm:spPr/>
    </dgm:pt>
    <dgm:pt modelId="{7BDF6BB3-6569-4F00-ACB4-3B8625507B77}" type="pres">
      <dgm:prSet presAssocID="{54F52981-CD9D-405E-BD5F-4F0FDD0E7CF0}" presName="rootComposite" presStyleCnt="0">
        <dgm:presLayoutVars/>
      </dgm:prSet>
      <dgm:spPr/>
    </dgm:pt>
    <dgm:pt modelId="{6D07C373-001E-4774-A364-BC7D3C46E81F}" type="pres">
      <dgm:prSet presAssocID="{54F52981-CD9D-405E-BD5F-4F0FDD0E7CF0}" presName="ParentAccent" presStyleLbl="alignNode1" presStyleIdx="1" presStyleCnt="3"/>
      <dgm:spPr/>
    </dgm:pt>
    <dgm:pt modelId="{355F73A7-76A6-4EF9-9358-B3C04418F4BB}" type="pres">
      <dgm:prSet presAssocID="{54F52981-CD9D-405E-BD5F-4F0FDD0E7CF0}" presName="ParentSmallAccent" presStyleLbl="fgAcc1" presStyleIdx="1" presStyleCnt="3"/>
      <dgm:spPr/>
    </dgm:pt>
    <dgm:pt modelId="{A7527123-01F9-4313-853A-11335E4B0567}" type="pres">
      <dgm:prSet presAssocID="{54F52981-CD9D-405E-BD5F-4F0FDD0E7CF0}" presName="Parent" presStyleLbl="revTx" presStyleIdx="3" presStyleCnt="8">
        <dgm:presLayoutVars>
          <dgm:chMax/>
          <dgm:chPref val="4"/>
          <dgm:bulletEnabled val="1"/>
        </dgm:presLayoutVars>
      </dgm:prSet>
      <dgm:spPr/>
    </dgm:pt>
    <dgm:pt modelId="{4077A69D-CCD4-4F4A-8919-AB60B831138E}" type="pres">
      <dgm:prSet presAssocID="{54F52981-CD9D-405E-BD5F-4F0FDD0E7CF0}" presName="childShape" presStyleCnt="0">
        <dgm:presLayoutVars>
          <dgm:chMax val="0"/>
          <dgm:chPref val="0"/>
        </dgm:presLayoutVars>
      </dgm:prSet>
      <dgm:spPr/>
    </dgm:pt>
    <dgm:pt modelId="{A12BB656-F694-4B8B-BD3D-4B6EDF1943A8}" type="pres">
      <dgm:prSet presAssocID="{11D5D79E-BB7E-4140-8D5F-F99AAC5C7D89}" presName="childComposite" presStyleCnt="0">
        <dgm:presLayoutVars>
          <dgm:chMax val="0"/>
          <dgm:chPref val="0"/>
        </dgm:presLayoutVars>
      </dgm:prSet>
      <dgm:spPr/>
    </dgm:pt>
    <dgm:pt modelId="{E3608737-3DB8-4BA3-A851-F64F2A33597F}" type="pres">
      <dgm:prSet presAssocID="{11D5D79E-BB7E-4140-8D5F-F99AAC5C7D89}" presName="ChildAccent" presStyleLbl="solidFgAcc1" presStyleIdx="2" presStyleCnt="5"/>
      <dgm:spPr/>
    </dgm:pt>
    <dgm:pt modelId="{60D9DA15-2E1E-4433-AE29-279ACE746907}" type="pres">
      <dgm:prSet presAssocID="{11D5D79E-BB7E-4140-8D5F-F99AAC5C7D89}" presName="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94FCF7A5-4C04-4C2A-8454-4FF914EEBEFC}" type="pres">
      <dgm:prSet presAssocID="{23437140-B146-4501-B27E-A3DEFAA5F597}" presName="childComposite" presStyleCnt="0">
        <dgm:presLayoutVars>
          <dgm:chMax val="0"/>
          <dgm:chPref val="0"/>
        </dgm:presLayoutVars>
      </dgm:prSet>
      <dgm:spPr/>
    </dgm:pt>
    <dgm:pt modelId="{54730BE7-1D05-4FAC-BC3D-0CC69210FD77}" type="pres">
      <dgm:prSet presAssocID="{23437140-B146-4501-B27E-A3DEFAA5F597}" presName="ChildAccent" presStyleLbl="solidFgAcc1" presStyleIdx="3" presStyleCnt="5"/>
      <dgm:spPr/>
    </dgm:pt>
    <dgm:pt modelId="{38F5B2FF-6F02-414C-8AD6-CEB235078F17}" type="pres">
      <dgm:prSet presAssocID="{23437140-B146-4501-B27E-A3DEFAA5F597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5D3047C8-7EA9-434F-9A5B-8E4B6CF275AE}" type="pres">
      <dgm:prSet presAssocID="{46AF4887-5531-465F-9559-A54DE03F415B}" presName="root" presStyleCnt="0">
        <dgm:presLayoutVars>
          <dgm:chMax/>
          <dgm:chPref/>
        </dgm:presLayoutVars>
      </dgm:prSet>
      <dgm:spPr/>
    </dgm:pt>
    <dgm:pt modelId="{8D5E08E4-57D3-48E2-AFD8-1CB9F8022996}" type="pres">
      <dgm:prSet presAssocID="{46AF4887-5531-465F-9559-A54DE03F415B}" presName="rootComposite" presStyleCnt="0">
        <dgm:presLayoutVars/>
      </dgm:prSet>
      <dgm:spPr/>
    </dgm:pt>
    <dgm:pt modelId="{5FCD0819-A902-4FEE-8A2A-5C70C6B60F81}" type="pres">
      <dgm:prSet presAssocID="{46AF4887-5531-465F-9559-A54DE03F415B}" presName="ParentAccent" presStyleLbl="alignNode1" presStyleIdx="2" presStyleCnt="3"/>
      <dgm:spPr/>
    </dgm:pt>
    <dgm:pt modelId="{B079C8C4-7F9C-44BD-A109-58E379BEC884}" type="pres">
      <dgm:prSet presAssocID="{46AF4887-5531-465F-9559-A54DE03F415B}" presName="ParentSmallAccent" presStyleLbl="fgAcc1" presStyleIdx="2" presStyleCnt="3"/>
      <dgm:spPr/>
    </dgm:pt>
    <dgm:pt modelId="{D6D6E9B5-16F9-4056-A535-E20E3502B516}" type="pres">
      <dgm:prSet presAssocID="{46AF4887-5531-465F-9559-A54DE03F415B}" presName="Parent" presStyleLbl="revTx" presStyleIdx="6" presStyleCnt="8">
        <dgm:presLayoutVars>
          <dgm:chMax/>
          <dgm:chPref val="4"/>
          <dgm:bulletEnabled val="1"/>
        </dgm:presLayoutVars>
      </dgm:prSet>
      <dgm:spPr/>
    </dgm:pt>
    <dgm:pt modelId="{DC6237CC-8A15-4FDF-9C62-FC44F0FB634D}" type="pres">
      <dgm:prSet presAssocID="{46AF4887-5531-465F-9559-A54DE03F415B}" presName="childShape" presStyleCnt="0">
        <dgm:presLayoutVars>
          <dgm:chMax val="0"/>
          <dgm:chPref val="0"/>
        </dgm:presLayoutVars>
      </dgm:prSet>
      <dgm:spPr/>
    </dgm:pt>
    <dgm:pt modelId="{A4CE011F-A4DA-4B6C-ADBF-9564BC2E8692}" type="pres">
      <dgm:prSet presAssocID="{35605D7D-5911-4DFA-A8D5-4BE31B1CB8C4}" presName="childComposite" presStyleCnt="0">
        <dgm:presLayoutVars>
          <dgm:chMax val="0"/>
          <dgm:chPref val="0"/>
        </dgm:presLayoutVars>
      </dgm:prSet>
      <dgm:spPr/>
    </dgm:pt>
    <dgm:pt modelId="{371E395D-6B85-42BC-B29B-D7DB4973543D}" type="pres">
      <dgm:prSet presAssocID="{35605D7D-5911-4DFA-A8D5-4BE31B1CB8C4}" presName="ChildAccent" presStyleLbl="solidFgAcc1" presStyleIdx="4" presStyleCnt="5" custLinFactNeighborX="-416" custLinFactNeighborY="-90438"/>
      <dgm:spPr/>
    </dgm:pt>
    <dgm:pt modelId="{94E715C2-E766-4F33-A65F-06AE7E14C09E}" type="pres">
      <dgm:prSet presAssocID="{35605D7D-5911-4DFA-A8D5-4BE31B1CB8C4}" presName="Child" presStyleLbl="revTx" presStyleIdx="7" presStyleCnt="8" custScaleX="93295" custScaleY="195064">
        <dgm:presLayoutVars>
          <dgm:chMax val="0"/>
          <dgm:chPref val="0"/>
          <dgm:bulletEnabled val="1"/>
        </dgm:presLayoutVars>
      </dgm:prSet>
      <dgm:spPr/>
    </dgm:pt>
  </dgm:ptLst>
  <dgm:cxnLst>
    <dgm:cxn modelId="{4AB87A05-0D52-4189-8B69-50EC37892A66}" type="presOf" srcId="{084BACAF-ED64-40C0-B2AE-2A5E8A03BE83}" destId="{5618D45D-7AB5-457E-BB8F-AB16BBD22BE3}" srcOrd="0" destOrd="0" presId="urn:microsoft.com/office/officeart/2008/layout/SquareAccentList"/>
    <dgm:cxn modelId="{E5904326-96C9-4D35-9AAD-871DD432736B}" srcId="{46AF4887-5531-465F-9559-A54DE03F415B}" destId="{35605D7D-5911-4DFA-A8D5-4BE31B1CB8C4}" srcOrd="0" destOrd="0" parTransId="{6A5F927C-755F-4D07-8281-62C9E1366173}" sibTransId="{076FE462-1FF5-4AF3-A31D-8DEECDBF67F9}"/>
    <dgm:cxn modelId="{FBC00830-B193-44E1-98AB-621EE12842E4}" type="presOf" srcId="{54F52981-CD9D-405E-BD5F-4F0FDD0E7CF0}" destId="{A7527123-01F9-4313-853A-11335E4B0567}" srcOrd="0" destOrd="0" presId="urn:microsoft.com/office/officeart/2008/layout/SquareAccentList"/>
    <dgm:cxn modelId="{9A5A5D3A-0038-47A7-9E7C-73DBE99F052C}" srcId="{084BACAF-ED64-40C0-B2AE-2A5E8A03BE83}" destId="{46AF4887-5531-465F-9559-A54DE03F415B}" srcOrd="2" destOrd="0" parTransId="{6EC952F6-487B-47A6-BFE6-1D3138A977A5}" sibTransId="{A3661750-FE04-4951-AFFF-CA741E5F11A8}"/>
    <dgm:cxn modelId="{B4FC436F-D8FC-457D-A59B-BE62627E50B3}" srcId="{8ED841AF-A080-43E2-AFE5-8B82B1DC3983}" destId="{A7332D4B-0AC5-4C24-94EA-85085A005E1F}" srcOrd="0" destOrd="0" parTransId="{FE7CD525-5128-42C1-ADD6-17DEFB6FE85D}" sibTransId="{161E55D9-617D-4A1E-8969-C55306294AF6}"/>
    <dgm:cxn modelId="{5ABC6E6F-0CFA-45F1-A64C-E321AD9EADC8}" type="presOf" srcId="{35605D7D-5911-4DFA-A8D5-4BE31B1CB8C4}" destId="{94E715C2-E766-4F33-A65F-06AE7E14C09E}" srcOrd="0" destOrd="0" presId="urn:microsoft.com/office/officeart/2008/layout/SquareAccentList"/>
    <dgm:cxn modelId="{EE91F451-7062-4A15-9A53-BAD55586AC88}" srcId="{54F52981-CD9D-405E-BD5F-4F0FDD0E7CF0}" destId="{11D5D79E-BB7E-4140-8D5F-F99AAC5C7D89}" srcOrd="0" destOrd="0" parTransId="{B4F32034-9B69-405E-A69F-4CB45169D351}" sibTransId="{3D61CABE-D79A-4F76-85B2-DC06AB2CE062}"/>
    <dgm:cxn modelId="{F1FC6156-A5A8-4B3D-988A-EC7F03880251}" type="presOf" srcId="{46AF4887-5531-465F-9559-A54DE03F415B}" destId="{D6D6E9B5-16F9-4056-A535-E20E3502B516}" srcOrd="0" destOrd="0" presId="urn:microsoft.com/office/officeart/2008/layout/SquareAccentList"/>
    <dgm:cxn modelId="{4FBCB057-9D3C-41A9-80E1-124E28CE5A46}" srcId="{8ED841AF-A080-43E2-AFE5-8B82B1DC3983}" destId="{7C6E1C04-232B-4F58-9A5E-DAF6F950EE74}" srcOrd="1" destOrd="0" parTransId="{482264F2-3A0D-4F38-A897-90B933D689C2}" sibTransId="{28373368-C019-4F4F-8354-769B230C5812}"/>
    <dgm:cxn modelId="{E126E47F-E398-4A10-B76B-38396F3417CA}" type="presOf" srcId="{8ED841AF-A080-43E2-AFE5-8B82B1DC3983}" destId="{52157094-A161-4B89-828E-21A03D5D650E}" srcOrd="0" destOrd="0" presId="urn:microsoft.com/office/officeart/2008/layout/SquareAccentList"/>
    <dgm:cxn modelId="{9B60DB90-BAD4-4E3A-9DFD-D20D1CAA33E1}" srcId="{084BACAF-ED64-40C0-B2AE-2A5E8A03BE83}" destId="{54F52981-CD9D-405E-BD5F-4F0FDD0E7CF0}" srcOrd="1" destOrd="0" parTransId="{27972A8C-A29B-4FAD-AC8E-7197163636F3}" sibTransId="{B464FB2D-4E36-40BA-9376-2EB3D67B761D}"/>
    <dgm:cxn modelId="{9F3F0BAA-A6F7-4E52-A0DC-704C28773902}" type="presOf" srcId="{A7332D4B-0AC5-4C24-94EA-85085A005E1F}" destId="{F825949C-9934-4C77-A343-C9173CE77BE9}" srcOrd="0" destOrd="0" presId="urn:microsoft.com/office/officeart/2008/layout/SquareAccentList"/>
    <dgm:cxn modelId="{871B66B1-09DE-4DCF-A86A-8999FE27EAC1}" type="presOf" srcId="{11D5D79E-BB7E-4140-8D5F-F99AAC5C7D89}" destId="{60D9DA15-2E1E-4433-AE29-279ACE746907}" srcOrd="0" destOrd="0" presId="urn:microsoft.com/office/officeart/2008/layout/SquareAccentList"/>
    <dgm:cxn modelId="{550A94CA-C4B7-4C98-8B99-3AED9C0D2891}" srcId="{54F52981-CD9D-405E-BD5F-4F0FDD0E7CF0}" destId="{23437140-B146-4501-B27E-A3DEFAA5F597}" srcOrd="1" destOrd="0" parTransId="{EFC78F1D-4471-4C18-AE89-3923D90D3690}" sibTransId="{5F39C583-6799-497A-9CDE-6F82E2488ED3}"/>
    <dgm:cxn modelId="{1C1DF7CC-DB6B-4F69-8B96-AD98C7554DDD}" type="presOf" srcId="{7C6E1C04-232B-4F58-9A5E-DAF6F950EE74}" destId="{BE4D6184-B7A0-4A73-86E2-C2DD6EF575D5}" srcOrd="0" destOrd="0" presId="urn:microsoft.com/office/officeart/2008/layout/SquareAccentList"/>
    <dgm:cxn modelId="{3AD330D1-0029-4BD9-83E1-03249B5A3E04}" srcId="{084BACAF-ED64-40C0-B2AE-2A5E8A03BE83}" destId="{8ED841AF-A080-43E2-AFE5-8B82B1DC3983}" srcOrd="0" destOrd="0" parTransId="{D78F3C00-2D5B-48B0-8A82-3708E50F3D24}" sibTransId="{15039583-BA09-445F-8E63-320E831FD3A0}"/>
    <dgm:cxn modelId="{798579DD-A093-4642-B516-0EA9B9AFC025}" type="presOf" srcId="{23437140-B146-4501-B27E-A3DEFAA5F597}" destId="{38F5B2FF-6F02-414C-8AD6-CEB235078F17}" srcOrd="0" destOrd="0" presId="urn:microsoft.com/office/officeart/2008/layout/SquareAccentList"/>
    <dgm:cxn modelId="{6504C09B-9922-4644-A9E8-0E67D88C5ED1}" type="presParOf" srcId="{5618D45D-7AB5-457E-BB8F-AB16BBD22BE3}" destId="{ECA59BCA-B085-4B4D-8121-E323F36B92CD}" srcOrd="0" destOrd="0" presId="urn:microsoft.com/office/officeart/2008/layout/SquareAccentList"/>
    <dgm:cxn modelId="{D27ACDF4-6AE0-460D-B17C-8ED60AFC91F3}" type="presParOf" srcId="{ECA59BCA-B085-4B4D-8121-E323F36B92CD}" destId="{4AF6841E-A55D-4EF5-9453-18994736BEF6}" srcOrd="0" destOrd="0" presId="urn:microsoft.com/office/officeart/2008/layout/SquareAccentList"/>
    <dgm:cxn modelId="{4D51D8ED-AF9D-4785-979B-614E261295A9}" type="presParOf" srcId="{4AF6841E-A55D-4EF5-9453-18994736BEF6}" destId="{908EA9DF-CD64-42FE-8E82-6B91B6A7C47B}" srcOrd="0" destOrd="0" presId="urn:microsoft.com/office/officeart/2008/layout/SquareAccentList"/>
    <dgm:cxn modelId="{A5C40592-531D-40C0-9D98-3783291AF029}" type="presParOf" srcId="{4AF6841E-A55D-4EF5-9453-18994736BEF6}" destId="{D56906DD-0DB7-4AA8-8407-862F5DC45BE1}" srcOrd="1" destOrd="0" presId="urn:microsoft.com/office/officeart/2008/layout/SquareAccentList"/>
    <dgm:cxn modelId="{429F0CC3-6B11-49A9-BC11-1A69E1C6D0BE}" type="presParOf" srcId="{4AF6841E-A55D-4EF5-9453-18994736BEF6}" destId="{52157094-A161-4B89-828E-21A03D5D650E}" srcOrd="2" destOrd="0" presId="urn:microsoft.com/office/officeart/2008/layout/SquareAccentList"/>
    <dgm:cxn modelId="{88016806-88F9-42C1-B1D4-FE889389F677}" type="presParOf" srcId="{ECA59BCA-B085-4B4D-8121-E323F36B92CD}" destId="{E6FEE781-390A-45AD-981B-BCCD53E08A34}" srcOrd="1" destOrd="0" presId="urn:microsoft.com/office/officeart/2008/layout/SquareAccentList"/>
    <dgm:cxn modelId="{0776AD57-6497-44A2-BC8C-98F2FECD6BEE}" type="presParOf" srcId="{E6FEE781-390A-45AD-981B-BCCD53E08A34}" destId="{B1B9D5BF-9510-47B5-8887-22FBB464FAB3}" srcOrd="0" destOrd="0" presId="urn:microsoft.com/office/officeart/2008/layout/SquareAccentList"/>
    <dgm:cxn modelId="{83F5F0CE-7F3E-4818-8289-52AFBDE9FD92}" type="presParOf" srcId="{B1B9D5BF-9510-47B5-8887-22FBB464FAB3}" destId="{4F873681-681E-4853-853B-FE7A7A0ED221}" srcOrd="0" destOrd="0" presId="urn:microsoft.com/office/officeart/2008/layout/SquareAccentList"/>
    <dgm:cxn modelId="{0C5C104F-7AE3-48A3-AEDE-759C0C50DDDD}" type="presParOf" srcId="{B1B9D5BF-9510-47B5-8887-22FBB464FAB3}" destId="{F825949C-9934-4C77-A343-C9173CE77BE9}" srcOrd="1" destOrd="0" presId="urn:microsoft.com/office/officeart/2008/layout/SquareAccentList"/>
    <dgm:cxn modelId="{5835B49E-2E31-4E17-BB40-93456C38F42A}" type="presParOf" srcId="{E6FEE781-390A-45AD-981B-BCCD53E08A34}" destId="{D9C6A8EB-10CB-4C7F-B0CB-FE2012223DBB}" srcOrd="1" destOrd="0" presId="urn:microsoft.com/office/officeart/2008/layout/SquareAccentList"/>
    <dgm:cxn modelId="{25AFAFB9-0BB6-4FD1-93AB-BC0DC8D7C964}" type="presParOf" srcId="{D9C6A8EB-10CB-4C7F-B0CB-FE2012223DBB}" destId="{7F3F51A2-A4D1-4DFF-B526-380FAEBB6EFA}" srcOrd="0" destOrd="0" presId="urn:microsoft.com/office/officeart/2008/layout/SquareAccentList"/>
    <dgm:cxn modelId="{DFCEE7A9-8B96-4EFD-8CA1-0BE62770DA36}" type="presParOf" srcId="{D9C6A8EB-10CB-4C7F-B0CB-FE2012223DBB}" destId="{BE4D6184-B7A0-4A73-86E2-C2DD6EF575D5}" srcOrd="1" destOrd="0" presId="urn:microsoft.com/office/officeart/2008/layout/SquareAccentList"/>
    <dgm:cxn modelId="{5447D813-B578-43F3-9899-F51CBF720FE0}" type="presParOf" srcId="{5618D45D-7AB5-457E-BB8F-AB16BBD22BE3}" destId="{AF5C9B86-88F5-49F3-AFBB-8E9482E913BF}" srcOrd="1" destOrd="0" presId="urn:microsoft.com/office/officeart/2008/layout/SquareAccentList"/>
    <dgm:cxn modelId="{A1DD7005-F698-45FB-8C9A-47E9DB5DAC2C}" type="presParOf" srcId="{AF5C9B86-88F5-49F3-AFBB-8E9482E913BF}" destId="{7BDF6BB3-6569-4F00-ACB4-3B8625507B77}" srcOrd="0" destOrd="0" presId="urn:microsoft.com/office/officeart/2008/layout/SquareAccentList"/>
    <dgm:cxn modelId="{E329B5E6-F66A-4BD6-9659-00641CF1596A}" type="presParOf" srcId="{7BDF6BB3-6569-4F00-ACB4-3B8625507B77}" destId="{6D07C373-001E-4774-A364-BC7D3C46E81F}" srcOrd="0" destOrd="0" presId="urn:microsoft.com/office/officeart/2008/layout/SquareAccentList"/>
    <dgm:cxn modelId="{DDDAF526-6918-4BE6-8AB2-28DB25CF4BD5}" type="presParOf" srcId="{7BDF6BB3-6569-4F00-ACB4-3B8625507B77}" destId="{355F73A7-76A6-4EF9-9358-B3C04418F4BB}" srcOrd="1" destOrd="0" presId="urn:microsoft.com/office/officeart/2008/layout/SquareAccentList"/>
    <dgm:cxn modelId="{D93BA5B8-9F5F-4D49-9A45-6C53DE8F831A}" type="presParOf" srcId="{7BDF6BB3-6569-4F00-ACB4-3B8625507B77}" destId="{A7527123-01F9-4313-853A-11335E4B0567}" srcOrd="2" destOrd="0" presId="urn:microsoft.com/office/officeart/2008/layout/SquareAccentList"/>
    <dgm:cxn modelId="{25E0C548-ED27-4DFA-B552-C168C41A49A0}" type="presParOf" srcId="{AF5C9B86-88F5-49F3-AFBB-8E9482E913BF}" destId="{4077A69D-CCD4-4F4A-8919-AB60B831138E}" srcOrd="1" destOrd="0" presId="urn:microsoft.com/office/officeart/2008/layout/SquareAccentList"/>
    <dgm:cxn modelId="{1B22D8F2-3310-467E-8BB6-1A1A5653811F}" type="presParOf" srcId="{4077A69D-CCD4-4F4A-8919-AB60B831138E}" destId="{A12BB656-F694-4B8B-BD3D-4B6EDF1943A8}" srcOrd="0" destOrd="0" presId="urn:microsoft.com/office/officeart/2008/layout/SquareAccentList"/>
    <dgm:cxn modelId="{E3350DB5-202F-4515-BF78-E1DFFE0A4156}" type="presParOf" srcId="{A12BB656-F694-4B8B-BD3D-4B6EDF1943A8}" destId="{E3608737-3DB8-4BA3-A851-F64F2A33597F}" srcOrd="0" destOrd="0" presId="urn:microsoft.com/office/officeart/2008/layout/SquareAccentList"/>
    <dgm:cxn modelId="{7CF7DBA9-3B9A-4BB1-9A8B-2042DCC744F6}" type="presParOf" srcId="{A12BB656-F694-4B8B-BD3D-4B6EDF1943A8}" destId="{60D9DA15-2E1E-4433-AE29-279ACE746907}" srcOrd="1" destOrd="0" presId="urn:microsoft.com/office/officeart/2008/layout/SquareAccentList"/>
    <dgm:cxn modelId="{8C3D93CC-2E42-4F40-8416-4E8DE217AC7E}" type="presParOf" srcId="{4077A69D-CCD4-4F4A-8919-AB60B831138E}" destId="{94FCF7A5-4C04-4C2A-8454-4FF914EEBEFC}" srcOrd="1" destOrd="0" presId="urn:microsoft.com/office/officeart/2008/layout/SquareAccentList"/>
    <dgm:cxn modelId="{5EA5A217-C785-48C5-936B-6EDE08F0F3CD}" type="presParOf" srcId="{94FCF7A5-4C04-4C2A-8454-4FF914EEBEFC}" destId="{54730BE7-1D05-4FAC-BC3D-0CC69210FD77}" srcOrd="0" destOrd="0" presId="urn:microsoft.com/office/officeart/2008/layout/SquareAccentList"/>
    <dgm:cxn modelId="{34B46ED9-25BE-4E84-AC30-6C1BA06E3E76}" type="presParOf" srcId="{94FCF7A5-4C04-4C2A-8454-4FF914EEBEFC}" destId="{38F5B2FF-6F02-414C-8AD6-CEB235078F17}" srcOrd="1" destOrd="0" presId="urn:microsoft.com/office/officeart/2008/layout/SquareAccentList"/>
    <dgm:cxn modelId="{33BD17CF-46E1-4457-A5C7-C9AB04BC6708}" type="presParOf" srcId="{5618D45D-7AB5-457E-BB8F-AB16BBD22BE3}" destId="{5D3047C8-7EA9-434F-9A5B-8E4B6CF275AE}" srcOrd="2" destOrd="0" presId="urn:microsoft.com/office/officeart/2008/layout/SquareAccentList"/>
    <dgm:cxn modelId="{B0C84772-070A-4FA0-BE22-50D9A19D933C}" type="presParOf" srcId="{5D3047C8-7EA9-434F-9A5B-8E4B6CF275AE}" destId="{8D5E08E4-57D3-48E2-AFD8-1CB9F8022996}" srcOrd="0" destOrd="0" presId="urn:microsoft.com/office/officeart/2008/layout/SquareAccentList"/>
    <dgm:cxn modelId="{96592BFE-96DE-4413-81F9-B5023D9F4E37}" type="presParOf" srcId="{8D5E08E4-57D3-48E2-AFD8-1CB9F8022996}" destId="{5FCD0819-A902-4FEE-8A2A-5C70C6B60F81}" srcOrd="0" destOrd="0" presId="urn:microsoft.com/office/officeart/2008/layout/SquareAccentList"/>
    <dgm:cxn modelId="{892B60DD-D7B0-45E3-BA6D-E1FCF4AE9AA3}" type="presParOf" srcId="{8D5E08E4-57D3-48E2-AFD8-1CB9F8022996}" destId="{B079C8C4-7F9C-44BD-A109-58E379BEC884}" srcOrd="1" destOrd="0" presId="urn:microsoft.com/office/officeart/2008/layout/SquareAccentList"/>
    <dgm:cxn modelId="{D54832F8-662A-4E27-B581-BDF769A046DC}" type="presParOf" srcId="{8D5E08E4-57D3-48E2-AFD8-1CB9F8022996}" destId="{D6D6E9B5-16F9-4056-A535-E20E3502B516}" srcOrd="2" destOrd="0" presId="urn:microsoft.com/office/officeart/2008/layout/SquareAccentList"/>
    <dgm:cxn modelId="{072C11C7-9DB0-493C-8AA5-E923724206B6}" type="presParOf" srcId="{5D3047C8-7EA9-434F-9A5B-8E4B6CF275AE}" destId="{DC6237CC-8A15-4FDF-9C62-FC44F0FB634D}" srcOrd="1" destOrd="0" presId="urn:microsoft.com/office/officeart/2008/layout/SquareAccentList"/>
    <dgm:cxn modelId="{3FDAF8A9-322D-432A-A31B-62CCA418DAB3}" type="presParOf" srcId="{DC6237CC-8A15-4FDF-9C62-FC44F0FB634D}" destId="{A4CE011F-A4DA-4B6C-ADBF-9564BC2E8692}" srcOrd="0" destOrd="0" presId="urn:microsoft.com/office/officeart/2008/layout/SquareAccentList"/>
    <dgm:cxn modelId="{EB1BD598-573E-4E25-9ED2-0B5AD3A46536}" type="presParOf" srcId="{A4CE011F-A4DA-4B6C-ADBF-9564BC2E8692}" destId="{371E395D-6B85-42BC-B29B-D7DB4973543D}" srcOrd="0" destOrd="0" presId="urn:microsoft.com/office/officeart/2008/layout/SquareAccentList"/>
    <dgm:cxn modelId="{3BF7B240-3D17-42C8-B130-9B0B5FEA7FB4}" type="presParOf" srcId="{A4CE011F-A4DA-4B6C-ADBF-9564BC2E8692}" destId="{94E715C2-E766-4F33-A65F-06AE7E14C09E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8EA9DF-CD64-42FE-8E82-6B91B6A7C47B}">
      <dsp:nvSpPr>
        <dsp:cNvPr id="0" name=""/>
        <dsp:cNvSpPr/>
      </dsp:nvSpPr>
      <dsp:spPr>
        <a:xfrm>
          <a:off x="8819" y="1110843"/>
          <a:ext cx="5256104" cy="61836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906DD-0DB7-4AA8-8407-862F5DC45BE1}">
      <dsp:nvSpPr>
        <dsp:cNvPr id="0" name=""/>
        <dsp:cNvSpPr/>
      </dsp:nvSpPr>
      <dsp:spPr>
        <a:xfrm>
          <a:off x="8819" y="1343076"/>
          <a:ext cx="386132" cy="38613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157094-A161-4B89-828E-21A03D5D650E}">
      <dsp:nvSpPr>
        <dsp:cNvPr id="0" name=""/>
        <dsp:cNvSpPr/>
      </dsp:nvSpPr>
      <dsp:spPr>
        <a:xfrm>
          <a:off x="8819" y="0"/>
          <a:ext cx="5256104" cy="1110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호스트의 역할</a:t>
          </a:r>
          <a:r>
            <a:rPr lang="en-US" altLang="ko-KR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:</a:t>
          </a:r>
          <a:endParaRPr lang="ko-KR" altLang="en-US" sz="32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8819" y="0"/>
        <a:ext cx="5256104" cy="1110843"/>
      </dsp:txXfrm>
    </dsp:sp>
    <dsp:sp modelId="{4F873681-681E-4853-853B-FE7A7A0ED221}">
      <dsp:nvSpPr>
        <dsp:cNvPr id="0" name=""/>
        <dsp:cNvSpPr/>
      </dsp:nvSpPr>
      <dsp:spPr>
        <a:xfrm>
          <a:off x="8819" y="2243139"/>
          <a:ext cx="386122" cy="3861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25949C-9934-4C77-A343-C9173CE77BE9}">
      <dsp:nvSpPr>
        <dsp:cNvPr id="0" name=""/>
        <dsp:cNvSpPr/>
      </dsp:nvSpPr>
      <dsp:spPr>
        <a:xfrm>
          <a:off x="376746" y="2109733"/>
          <a:ext cx="4888177" cy="900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서버 권한</a:t>
          </a:r>
          <a:r>
            <a:rPr lang="en-US" altLang="ko-KR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: </a:t>
          </a:r>
          <a:r>
            <a:rPr lang="ko-KR" altLang="en-US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게임의 핵심 로직을 통제</a:t>
          </a:r>
          <a:r>
            <a:rPr lang="en-US" altLang="ko-KR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 </a:t>
          </a:r>
          <a:br>
            <a:rPr lang="en-US" altLang="ko-KR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</a:br>
          <a:r>
            <a:rPr lang="en-US" altLang="ko-KR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NPC</a:t>
          </a:r>
          <a:r>
            <a:rPr lang="ko-KR" altLang="en-US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의 </a:t>
          </a:r>
          <a:r>
            <a:rPr lang="en-US" altLang="ko-KR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AI </a:t>
          </a:r>
          <a:r>
            <a:rPr lang="ko-KR" altLang="en-US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행동 결정</a:t>
          </a:r>
          <a:r>
            <a:rPr lang="en-US" altLang="ko-KR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, </a:t>
          </a:r>
          <a:r>
            <a:rPr lang="ko-KR" altLang="en-US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경제 시스템의 재화 계산</a:t>
          </a:r>
          <a:r>
            <a:rPr lang="en-US" altLang="ko-KR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, </a:t>
          </a:r>
          <a:r>
            <a:rPr lang="ko-KR" altLang="en-US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상점의 재고 관리 등은 모두 호스트의 컴퓨터에서 계산</a:t>
          </a:r>
          <a:r>
            <a:rPr lang="en-US" altLang="ko-KR" sz="14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 </a:t>
          </a:r>
          <a:endParaRPr lang="ko-KR" altLang="en-US" sz="14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376746" y="2109733"/>
        <a:ext cx="4888177" cy="900053"/>
      </dsp:txXfrm>
    </dsp:sp>
    <dsp:sp modelId="{7F3F51A2-A4D1-4DFF-B526-380FAEBB6EFA}">
      <dsp:nvSpPr>
        <dsp:cNvPr id="0" name=""/>
        <dsp:cNvSpPr/>
      </dsp:nvSpPr>
      <dsp:spPr>
        <a:xfrm>
          <a:off x="8819" y="3143193"/>
          <a:ext cx="386122" cy="3861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D6184-B7A0-4A73-86E2-C2DD6EF575D5}">
      <dsp:nvSpPr>
        <dsp:cNvPr id="0" name=""/>
        <dsp:cNvSpPr/>
      </dsp:nvSpPr>
      <dsp:spPr>
        <a:xfrm>
          <a:off x="376746" y="3009787"/>
          <a:ext cx="4888177" cy="900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데이터 소유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: </a:t>
          </a: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섬의 원본 데이터를 로드하고 세션을 생성합니다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</a:t>
          </a:r>
          <a:endParaRPr lang="ko-KR" altLang="en-US" sz="16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376746" y="3009787"/>
        <a:ext cx="4888177" cy="900053"/>
      </dsp:txXfrm>
    </dsp:sp>
    <dsp:sp modelId="{6D07C373-001E-4774-A364-BC7D3C46E81F}">
      <dsp:nvSpPr>
        <dsp:cNvPr id="0" name=""/>
        <dsp:cNvSpPr/>
      </dsp:nvSpPr>
      <dsp:spPr>
        <a:xfrm>
          <a:off x="5527728" y="1110843"/>
          <a:ext cx="5256104" cy="61836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F73A7-76A6-4EF9-9358-B3C04418F4BB}">
      <dsp:nvSpPr>
        <dsp:cNvPr id="0" name=""/>
        <dsp:cNvSpPr/>
      </dsp:nvSpPr>
      <dsp:spPr>
        <a:xfrm>
          <a:off x="5527728" y="1343076"/>
          <a:ext cx="386132" cy="38613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527123-01F9-4313-853A-11335E4B0567}">
      <dsp:nvSpPr>
        <dsp:cNvPr id="0" name=""/>
        <dsp:cNvSpPr/>
      </dsp:nvSpPr>
      <dsp:spPr>
        <a:xfrm>
          <a:off x="5527728" y="0"/>
          <a:ext cx="5256104" cy="1110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클라이언트</a:t>
          </a:r>
          <a:r>
            <a:rPr lang="en-US" altLang="ko-KR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(</a:t>
          </a:r>
          <a:r>
            <a:rPr lang="ko-KR" altLang="en-US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파견 파트너</a:t>
          </a:r>
          <a:r>
            <a:rPr lang="en-US" altLang="ko-KR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)</a:t>
          </a:r>
          <a:r>
            <a:rPr lang="ko-KR" altLang="en-US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의 역할</a:t>
          </a:r>
          <a:r>
            <a:rPr lang="en-US" altLang="ko-KR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:</a:t>
          </a:r>
          <a:endParaRPr lang="ko-KR" altLang="en-US" sz="32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5527728" y="0"/>
        <a:ext cx="5256104" cy="1110843"/>
      </dsp:txXfrm>
    </dsp:sp>
    <dsp:sp modelId="{E3608737-3DB8-4BA3-A851-F64F2A33597F}">
      <dsp:nvSpPr>
        <dsp:cNvPr id="0" name=""/>
        <dsp:cNvSpPr/>
      </dsp:nvSpPr>
      <dsp:spPr>
        <a:xfrm>
          <a:off x="5527728" y="2243139"/>
          <a:ext cx="386122" cy="3861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9DA15-2E1E-4433-AE29-279ACE746907}">
      <dsp:nvSpPr>
        <dsp:cNvPr id="0" name=""/>
        <dsp:cNvSpPr/>
      </dsp:nvSpPr>
      <dsp:spPr>
        <a:xfrm>
          <a:off x="5895656" y="1986174"/>
          <a:ext cx="4888177" cy="900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호스트가 생성한 세션 코드를 입력하여 접속합니다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</a:t>
          </a:r>
          <a:endParaRPr lang="ko-KR" altLang="en-US" sz="16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5895656" y="1986174"/>
        <a:ext cx="4888177" cy="900053"/>
      </dsp:txXfrm>
    </dsp:sp>
    <dsp:sp modelId="{54730BE7-1D05-4FAC-BC3D-0CC69210FD77}">
      <dsp:nvSpPr>
        <dsp:cNvPr id="0" name=""/>
        <dsp:cNvSpPr/>
      </dsp:nvSpPr>
      <dsp:spPr>
        <a:xfrm>
          <a:off x="5527728" y="3143193"/>
          <a:ext cx="386122" cy="3861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5B2FF-6F02-414C-8AD6-CEB235078F17}">
      <dsp:nvSpPr>
        <dsp:cNvPr id="0" name=""/>
        <dsp:cNvSpPr/>
      </dsp:nvSpPr>
      <dsp:spPr>
        <a:xfrm>
          <a:off x="5895656" y="2886227"/>
          <a:ext cx="4888177" cy="900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자신의 캐릭터 조작 정보만 서버로 보내고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, </a:t>
          </a: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서버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(</a:t>
          </a: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호스트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)</a:t>
          </a: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로부터 업데이트된 월드 정보를 받아 화면에 송출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</a:t>
          </a:r>
          <a:endParaRPr lang="ko-KR" altLang="en-US" sz="16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5895656" y="2886227"/>
        <a:ext cx="4888177" cy="900053"/>
      </dsp:txXfrm>
    </dsp:sp>
    <dsp:sp modelId="{5FCD0819-A902-4FEE-8A2A-5C70C6B60F81}">
      <dsp:nvSpPr>
        <dsp:cNvPr id="0" name=""/>
        <dsp:cNvSpPr/>
      </dsp:nvSpPr>
      <dsp:spPr>
        <a:xfrm>
          <a:off x="11046638" y="1110843"/>
          <a:ext cx="5256104" cy="61836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9C8C4-7F9C-44BD-A109-58E379BEC884}">
      <dsp:nvSpPr>
        <dsp:cNvPr id="0" name=""/>
        <dsp:cNvSpPr/>
      </dsp:nvSpPr>
      <dsp:spPr>
        <a:xfrm>
          <a:off x="11046638" y="1343076"/>
          <a:ext cx="386132" cy="38613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6E9B5-16F9-4056-A535-E20E3502B516}">
      <dsp:nvSpPr>
        <dsp:cNvPr id="0" name=""/>
        <dsp:cNvSpPr/>
      </dsp:nvSpPr>
      <dsp:spPr>
        <a:xfrm>
          <a:off x="11046638" y="0"/>
          <a:ext cx="5256104" cy="1110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연결의 핵심 </a:t>
          </a:r>
          <a:r>
            <a:rPr lang="en-US" altLang="ko-KR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(</a:t>
          </a:r>
          <a:r>
            <a:rPr lang="en-US" sz="32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UGS Relay):</a:t>
          </a:r>
          <a:endParaRPr lang="ko-KR" altLang="en-US" sz="32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11046638" y="0"/>
        <a:ext cx="5256104" cy="1110843"/>
      </dsp:txXfrm>
    </dsp:sp>
    <dsp:sp modelId="{371E395D-6B85-42BC-B29B-D7DB4973543D}">
      <dsp:nvSpPr>
        <dsp:cNvPr id="0" name=""/>
        <dsp:cNvSpPr/>
      </dsp:nvSpPr>
      <dsp:spPr>
        <a:xfrm>
          <a:off x="11045032" y="2321751"/>
          <a:ext cx="386122" cy="3861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E715C2-E766-4F33-A65F-06AE7E14C09E}">
      <dsp:nvSpPr>
        <dsp:cNvPr id="0" name=""/>
        <dsp:cNvSpPr/>
      </dsp:nvSpPr>
      <dsp:spPr>
        <a:xfrm>
          <a:off x="11578441" y="1986174"/>
          <a:ext cx="4560424" cy="175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일반적인 가정용 인터넷은 보안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(NAT) </a:t>
          </a: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때문에 외부 접속이 어렵기 때문에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Unity Relay</a:t>
          </a:r>
          <a:r>
            <a:rPr lang="ko-KR" altLang="en-US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는 호스트와 클라이언트 사이에서 중계소 역할을 하여 포트 포워딩 같은 복잡한 설정 없이도 전 세계 어디서든 연결되게 </a:t>
          </a:r>
          <a:r>
            <a:rPr lang="ko-KR" altLang="en-US" sz="1600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돕습니다</a:t>
          </a:r>
          <a:r>
            <a:rPr lang="en-US" altLang="ko-KR" sz="16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.</a:t>
          </a:r>
          <a:endParaRPr lang="ko-KR" altLang="en-US" sz="16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11578441" y="1986174"/>
        <a:ext cx="4560424" cy="1755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32F63-008C-4802-B16B-9D9E9920C3C6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458F5-4817-4E5C-B875-B338C1326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29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E7B9D859-C99A-B4C0-F39F-D3C7C778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D5ACF8E2-7BB3-CC91-B28E-C3879BAD6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56463852-E003-7E66-DE6E-121219727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519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619DFD12-0C7F-9FE0-4EFC-F86CEFF2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925C6003-A59A-107D-19E3-9B5B91120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EF58D3DF-20E4-0818-976E-8A1CEB5933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2024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327790D8-8BAF-8F02-21C4-0422E3972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E4BFB3C4-4FC8-A716-3F8C-99AED69ED3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1C5D7F18-3046-CCDB-EA30-E9D6FFA12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1758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4C4C27CF-C42E-100D-6C09-3861ABE16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38E5A46-776F-ECCA-D36B-4BDDB311E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F73D4767-F7EF-7170-5E19-4D8A6225C7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6994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37B8C362-D9A1-64F9-1202-F590BEC5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8ED55C92-5B04-383D-1051-1E8FE11D4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EA05679E-6651-5834-91C2-A87EC0DF3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4871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C0163ACD-D937-7106-33C8-9AB0CC179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29CA6240-6150-72E4-621D-FED580A27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5C9902FD-F6FB-050D-E002-3B73C2353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892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16274873-20E0-881F-CDC4-7594D5ED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>
            <a:extLst>
              <a:ext uri="{FF2B5EF4-FFF2-40B4-BE49-F238E27FC236}">
                <a16:creationId xmlns:a16="http://schemas.microsoft.com/office/drawing/2014/main" id="{67FFF5FB-B986-9108-EC99-646E667CC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>
            <a:extLst>
              <a:ext uri="{FF2B5EF4-FFF2-40B4-BE49-F238E27FC236}">
                <a16:creationId xmlns:a16="http://schemas.microsoft.com/office/drawing/2014/main" id="{2A086B99-2D0C-7ABA-FAAE-C516A9D55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995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51A07192-104B-19FB-5528-EE11CAD1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3423CA9E-96FC-1B85-680A-8E5F1F134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8583932F-1D9F-C2F9-BC7D-F19820BF4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6366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32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33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2.png"/><Relationship Id="rId7" Type="http://schemas.openxmlformats.org/officeDocument/2006/relationships/image" Target="../media/image54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59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3250" y="3800348"/>
            <a:ext cx="2603500" cy="260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657600" y="4203700"/>
            <a:ext cx="10972800" cy="204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000" b="0" i="0" u="none" strike="noStrike" dirty="0">
                <a:solidFill>
                  <a:srgbClr val="15704D"/>
                </a:solidFill>
                <a:latin typeface="GangwonEduPower"/>
              </a:rPr>
              <a:t>Project P.A</a:t>
            </a:r>
          </a:p>
          <a:p>
            <a:pPr lvl="0" algn="ctr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15704D"/>
                </a:solidFill>
                <a:latin typeface="GangwonEduPower" panose="020B0600000101010101" charset="-127"/>
                <a:ea typeface="GangwonEduPower" panose="020B0600000101010101" charset="-127"/>
              </a:rPr>
              <a:t>역</a:t>
            </a:r>
            <a:r>
              <a:rPr lang="en-US" altLang="ko-KR" sz="4000" b="0" i="0" u="none" strike="noStrike" dirty="0">
                <a:solidFill>
                  <a:srgbClr val="15704D"/>
                </a:solidFill>
                <a:latin typeface="GangwonEduPower" panose="020B0600000101010101" charset="-127"/>
                <a:ea typeface="GangwonEduPower" panose="020B0600000101010101" charset="-127"/>
              </a:rPr>
              <a:t>-</a:t>
            </a:r>
            <a:r>
              <a:rPr lang="ko-KR" altLang="en-US" sz="4000" b="0" i="0" u="none" strike="noStrike" dirty="0">
                <a:solidFill>
                  <a:srgbClr val="15704D"/>
                </a:solidFill>
                <a:latin typeface="GangwonEduPower" panose="020B0600000101010101" charset="-127"/>
                <a:ea typeface="GangwonEduPower" panose="020B0600000101010101" charset="-127"/>
              </a:rPr>
              <a:t>공급망 경영 시뮬레이션 게임</a:t>
            </a:r>
            <a:endParaRPr lang="en-US" sz="4000" b="0" i="0" u="none" strike="noStrike" dirty="0">
              <a:solidFill>
                <a:srgbClr val="15704D"/>
              </a:solidFill>
              <a:latin typeface="GangwonEduPower" panose="020B0600000101010101" charset="-127"/>
              <a:ea typeface="GangwonEduPower" panose="020B0600000101010101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670300" y="3187700"/>
            <a:ext cx="109347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0000" b="0" i="0" u="none" strike="noStrike" dirty="0">
                <a:solidFill>
                  <a:srgbClr val="06402B"/>
                </a:solidFill>
                <a:ea typeface="GangwonEduPower"/>
              </a:rPr>
              <a:t>졸업작품</a:t>
            </a:r>
            <a:r>
              <a:rPr lang="en-US" sz="10000" b="0" i="0" u="none" strike="noStrike" dirty="0">
                <a:solidFill>
                  <a:srgbClr val="06402B"/>
                </a:solidFill>
                <a:latin typeface="GangwonEduPower"/>
              </a:rPr>
              <a:t> </a:t>
            </a:r>
            <a:r>
              <a:rPr lang="ko-KR" sz="10000" b="0" i="0" u="none" strike="noStrike" dirty="0">
                <a:solidFill>
                  <a:srgbClr val="06402B"/>
                </a:solidFill>
                <a:ea typeface="GangwonEduPower"/>
              </a:rPr>
              <a:t>제안서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0300" y="6320166"/>
            <a:ext cx="10972800" cy="85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5B7763"/>
                </a:solidFill>
                <a:latin typeface="GangwonEduPower"/>
              </a:rPr>
              <a:t>202121026 </a:t>
            </a:r>
            <a:r>
              <a:rPr lang="ko-KR" sz="6000" b="0" i="0" u="none" strike="noStrike" dirty="0">
                <a:solidFill>
                  <a:srgbClr val="5B7763"/>
                </a:solidFill>
                <a:ea typeface="GangwonEduPower"/>
              </a:rPr>
              <a:t>컴퓨터공학과</a:t>
            </a:r>
            <a:r>
              <a:rPr lang="en-US" sz="6000" b="0" i="0" u="none" strike="noStrike" dirty="0">
                <a:solidFill>
                  <a:srgbClr val="5B7763"/>
                </a:solidFill>
                <a:latin typeface="GangwonEduPower"/>
              </a:rPr>
              <a:t> </a:t>
            </a:r>
            <a:r>
              <a:rPr lang="ko-KR" sz="6000" b="0" i="0" u="none" strike="noStrike" dirty="0">
                <a:solidFill>
                  <a:srgbClr val="5B7763"/>
                </a:solidFill>
                <a:ea typeface="GangwonEduPower"/>
              </a:rPr>
              <a:t>신동준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1538" y="3759174"/>
            <a:ext cx="7986713" cy="4731840"/>
          </a:xfrm>
          <a:prstGeom prst="rect">
            <a:avLst/>
          </a:prstGeom>
          <a:solidFill>
            <a:srgbClr val="F1F1F1"/>
          </a:solidFill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9751" y="3759174"/>
            <a:ext cx="7986713" cy="473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314451" y="5287937"/>
            <a:ext cx="745593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>
                <a:solidFill>
                  <a:srgbClr val="F8FA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역발상의 재미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314451" y="6059462"/>
            <a:ext cx="710088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기존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'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심라이프'의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장르적 매너리즘을 타파하기 위해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플레이어를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</a:p>
          <a:p>
            <a:pPr algn="ctr">
              <a:lnSpc>
                <a:spcPct val="160000"/>
              </a:lnSpc>
            </a:pPr>
            <a:r>
              <a:rPr lang="en-US" sz="2025" b="1" dirty="0">
                <a:solidFill>
                  <a:srgbClr val="FBBF2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'</a:t>
            </a:r>
            <a:r>
              <a:rPr lang="en-US" sz="2025" b="1" dirty="0" err="1">
                <a:solidFill>
                  <a:srgbClr val="FBBF2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노동자'에서</a:t>
            </a:r>
            <a:r>
              <a:rPr lang="en-US" sz="2025" b="1" dirty="0">
                <a:solidFill>
                  <a:srgbClr val="FBBF2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'</a:t>
            </a:r>
            <a:r>
              <a:rPr lang="en-US" sz="2025" b="1" dirty="0" err="1">
                <a:solidFill>
                  <a:srgbClr val="FBBF2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관리자'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로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전환합니다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314451" y="7053783"/>
            <a:ext cx="710088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025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노동은 NPC가, 시스템 최적화는 플레이어가 담당하는 '역-공급망' 구조를 핵심 재미로 삼습니다.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872663" y="5039029"/>
            <a:ext cx="745593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3150" dirty="0">
                <a:solidFill>
                  <a:srgbClr val="F8FA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안락한 경영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872663" y="5523777"/>
            <a:ext cx="7100888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힐링 게임이 주는 시각적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·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청각적 평온함 아래에 치밀하게 설계된 경제 시스템과 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MBTI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기반의 </a:t>
            </a:r>
            <a:r>
              <a:rPr lang="en-US" altLang="ko-KR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Npc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로직을 배치함으로써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감성적인 만족과 논리적인 성취감을 동시에 충족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872663" y="7053783"/>
            <a:ext cx="710088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친구의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섬에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'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파견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직원'으로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입주하는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실질적인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멀티플레이어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협력을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지향합니다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4450" y="4244949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72663" y="4244949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기획</a:t>
            </a: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의도</a:t>
            </a: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및 </a:t>
            </a: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핵심</a:t>
            </a: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정체성</a:t>
            </a:r>
            <a:endParaRPr sz="2700" b="1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054965B-4BE2-B7E5-9ECE-DE41F015CD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3676629-67E1-884D-83EF-389B6BDD97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1538" y="2933700"/>
            <a:ext cx="5324325" cy="547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1613" y="2933700"/>
            <a:ext cx="5324549" cy="547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91913" y="2933700"/>
            <a:ext cx="5324325" cy="547211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214438" y="1440581"/>
            <a:ext cx="1701212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벤치마킹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871538" y="1440581"/>
            <a:ext cx="114300" cy="828675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7825" y="2947987"/>
            <a:ext cx="25717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243013" y="5876925"/>
            <a:ext cx="277534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Animal Crossing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243013" y="6362700"/>
            <a:ext cx="2643188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9082" y="2947987"/>
            <a:ext cx="3269611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6853088" y="5876925"/>
            <a:ext cx="259532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Stardew Valley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853088" y="6362700"/>
            <a:ext cx="2471738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65927" y="2947987"/>
            <a:ext cx="4576296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12463388" y="5876925"/>
            <a:ext cx="437681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DAVE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THE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DIVER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&amp; Dinkum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2463388" y="6362700"/>
            <a:ext cx="2943225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557338" y="6605588"/>
            <a:ext cx="42670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E2E8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강점:</a:t>
            </a:r>
            <a:r>
              <a:rPr lang="en-US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감성적인 비주얼, NPC와의 깊은 정서적 유대감 및 힐링 요소.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585913" y="7319963"/>
            <a:ext cx="42384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E2E8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한계:</a:t>
            </a:r>
            <a:r>
              <a:rPr lang="en-US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후반부 콘텐츠 부족 및 반복적인 수동 노동(채집)의 피로도.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7167413" y="6605588"/>
            <a:ext cx="42672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E2E8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강점:</a:t>
            </a:r>
            <a:r>
              <a:rPr lang="en-US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방대한 테크 트리, 농사/전투/커뮤니티가 결합된 완성도 높은 경제.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7195988" y="7319963"/>
            <a:ext cx="42386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E2E8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한계:</a:t>
            </a:r>
            <a:r>
              <a:rPr lang="en-US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1인 개발의 한계로 인한 후반부 자동화 시스템의 부재.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12777713" y="6605588"/>
            <a:ext cx="42670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 err="1">
                <a:solidFill>
                  <a:srgbClr val="E2E8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강점</a:t>
            </a:r>
            <a:r>
              <a:rPr lang="en-US" b="1" dirty="0">
                <a:solidFill>
                  <a:srgbClr val="E2E8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개성있는</a:t>
            </a:r>
            <a:r>
              <a:rPr lang="ko-KR" alt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개척 시스템 </a:t>
            </a:r>
            <a:r>
              <a:rPr lang="en-US" altLang="ko-KR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 </a:t>
            </a:r>
            <a:r>
              <a:rPr lang="ko-KR" alt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딩컴</a:t>
            </a:r>
            <a:r>
              <a:rPr lang="ko-KR" alt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br>
              <a:rPr lang="en-US" altLang="ko-KR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</a:br>
            <a:r>
              <a:rPr lang="ko-KR" alt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강점</a:t>
            </a:r>
            <a:r>
              <a:rPr lang="en-US" altLang="ko-KR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</a:t>
            </a:r>
            <a:r>
              <a:rPr lang="ko-KR" alt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유쾌한 연출 및 직원 고용 시스템 으로 상점 운영의 재미 </a:t>
            </a:r>
            <a:r>
              <a:rPr lang="en-US" altLang="ko-KR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 </a:t>
            </a:r>
            <a:r>
              <a:rPr lang="ko-KR" alt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데이브</a:t>
            </a:r>
            <a:r>
              <a:rPr lang="ko-KR" alt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더 다이버 </a:t>
            </a:r>
            <a:r>
              <a:rPr lang="en-US" altLang="ko-KR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12803748" y="7584283"/>
            <a:ext cx="42384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 err="1">
                <a:solidFill>
                  <a:srgbClr val="E2E8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한계</a:t>
            </a:r>
            <a:r>
              <a:rPr lang="en-US" b="1" dirty="0">
                <a:solidFill>
                  <a:srgbClr val="E2E8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산업적인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분위기로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인한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감성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결여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및 </a:t>
            </a:r>
            <a:r>
              <a:rPr 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높은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진입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장벽</a:t>
            </a:r>
            <a:r>
              <a:rPr lang="en-US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13" name="Google Shape;113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43013" y="6655595"/>
            <a:ext cx="17145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43013" y="7369970"/>
            <a:ext cx="200025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53088" y="6655595"/>
            <a:ext cx="17145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53088" y="7369970"/>
            <a:ext cx="200025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463388" y="6655595"/>
            <a:ext cx="17145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463388" y="7578795"/>
            <a:ext cx="200025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C5EC72D-A145-5A28-84DB-4CA09DADC8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33A50BD6-B0EC-B3BE-E1F6-0CDA91BBFC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1538" y="3272060"/>
            <a:ext cx="7986713" cy="570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9751" y="3267596"/>
            <a:ext cx="7986713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44038" y="3281883"/>
            <a:ext cx="7958138" cy="568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214438" y="3492339"/>
            <a:ext cx="710088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1. 1차 </a:t>
            </a:r>
            <a:r>
              <a:rPr lang="en-US" sz="2025" b="1" dirty="0" err="1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생산</a:t>
            </a: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농부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광부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벌목꾼으로 명명된 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NPC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들은 매일 아침 각자의 일터로 이동하여 원목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광석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작물 등의 기초 자원을 채집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 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214438" y="4575921"/>
            <a:ext cx="7100888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2. </a:t>
            </a:r>
            <a:r>
              <a:rPr lang="en-US" sz="2025" b="1" dirty="0" err="1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유통</a:t>
            </a: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및 </a:t>
            </a:r>
            <a:r>
              <a:rPr lang="en-US" sz="2025" b="1" dirty="0" err="1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매입</a:t>
            </a: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NPC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는 수확한 결과물을 들고 사용자의 상점을 방문 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-&gt;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사용자는 시세를 고려하여 이를 매입하며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 과정에서 지역 경제에 유동성을 공급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205473" y="6158101"/>
            <a:ext cx="7100888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3. 2차 </a:t>
            </a:r>
            <a:r>
              <a:rPr lang="en-US" sz="2025" b="1" dirty="0" err="1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가공</a:t>
            </a: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매입한 원자재는 사용자의 공방이나 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차 전문가 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NPC(</a:t>
            </a:r>
            <a:r>
              <a:rPr lang="ko-KR" alt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쉐프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디자이너 등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에게 의뢰되어 가공품으로 변환하여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b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</a:b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아이템의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가치를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상승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1214438" y="7653895"/>
            <a:ext cx="710088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4. </a:t>
            </a:r>
            <a:r>
              <a:rPr lang="en-US" sz="2025" b="1" dirty="0" err="1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최종</a:t>
            </a: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b="1" dirty="0" err="1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소비</a:t>
            </a:r>
            <a:r>
              <a:rPr lang="en-US" sz="2025" b="1" dirty="0">
                <a:solidFill>
                  <a:srgbClr val="38BD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가공된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생필품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과 사치품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을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다시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판매하여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수익을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창출하고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마을 인프라 확장 및 기술 연구에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재투자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핵심</a:t>
            </a: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게임</a:t>
            </a: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메커니즘 </a:t>
            </a: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</a:t>
            </a: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경제 순환 및 주요 기능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E091AFE-388E-67CC-4C96-8E2E03F755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5EA7CB8-8BA8-38AD-2793-50067EB28D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236A1F84-C9DC-9329-415A-FDE3917E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851E82D7-525D-9152-698A-81601152FDF8}"/>
              </a:ext>
            </a:extLst>
          </p:cNvPr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본사 승인 등급 </a:t>
            </a:r>
            <a:r>
              <a:rPr lang="en-US" altLang="ko-KR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(Tier) </a:t>
            </a: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시스템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F3888310-9566-F993-1CDD-91C834F0893E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94B8C9C-0E54-8091-C71D-93FFEDC68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3333B48-555E-3ECC-7FB6-63AD24272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FA4A785-4EB7-2C51-28A1-26AE97FE8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621999"/>
              </p:ext>
            </p:extLst>
          </p:nvPr>
        </p:nvGraphicFramePr>
        <p:xfrm>
          <a:off x="2171700" y="4280092"/>
          <a:ext cx="13944600" cy="4566327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1864236918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344996865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52682084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801900187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3546951999"/>
                    </a:ext>
                  </a:extLst>
                </a:gridCol>
              </a:tblGrid>
              <a:tr h="47330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티어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명칭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해금 조건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사용자 권한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 </a:t>
                      </a: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행동 변화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014997"/>
                  </a:ext>
                </a:extLst>
              </a:tr>
              <a:tr h="96139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Tier 1</a:t>
                      </a:r>
                      <a:endParaRPr 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지점장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초기 대출 상환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상점 건설</a:t>
                      </a:r>
                      <a:r>
                        <a:rPr lang="en-US" altLang="ko-KR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기초 도구 판매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자원을 상점에 판매하기 시작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858575"/>
                  </a:ext>
                </a:extLst>
              </a:tr>
              <a:tr h="97618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Tier 2</a:t>
                      </a:r>
                      <a:endParaRPr 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관리자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매출 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만 </a:t>
                      </a:r>
                      <a:r>
                        <a:rPr 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</a:t>
                      </a:r>
                      <a:endParaRPr 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공방 건설</a:t>
                      </a:r>
                      <a:r>
                        <a:rPr lang="en-US" altLang="ko-KR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철제 도구 해금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도구를 구매하여 특수 자원 채집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751927"/>
                  </a:ext>
                </a:extLst>
              </a:tr>
              <a:tr h="97618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Tier 3</a:t>
                      </a:r>
                      <a:endParaRPr 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사업가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마을 평판 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Lv.3</a:t>
                      </a:r>
                      <a:endParaRPr 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특화 건물 건설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자동화 도입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가공품 납품 및 소비 활동 증가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52181"/>
                  </a:ext>
                </a:extLst>
              </a:tr>
              <a:tr h="11388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Tier 4</a:t>
                      </a:r>
                      <a:endParaRPr 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파트너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본사 감사 통과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무역항 해금</a:t>
                      </a:r>
                      <a:r>
                        <a:rPr lang="en-US" altLang="ko-KR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사치품 거래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가족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제자 영입을 통한 인구 증가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930" marR="110930" marT="73954" marB="739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407796"/>
                  </a:ext>
                </a:extLst>
              </a:tr>
            </a:tbl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E2C260AE-DCD3-1046-24B1-7D2AB1721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4D886-146A-656F-DF59-A80A7717C5F4}"/>
              </a:ext>
            </a:extLst>
          </p:cNvPr>
          <p:cNvSpPr txBox="1"/>
          <p:nvPr/>
        </p:nvSpPr>
        <p:spPr>
          <a:xfrm>
            <a:off x="2171700" y="2947408"/>
            <a:ext cx="13944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800" b="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플레이어의 성장은 단순한 숙련도 상승이 아닌</a:t>
            </a:r>
            <a:r>
              <a:rPr lang="en-US" altLang="ko-KR" sz="2800" b="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'</a:t>
            </a:r>
            <a:r>
              <a:rPr lang="ko-KR" altLang="en-US" sz="2800" b="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본사 승인 등급</a:t>
            </a:r>
            <a:r>
              <a:rPr lang="en-US" altLang="ko-KR" sz="2800" b="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800" b="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해금에 따라 결정된다</a:t>
            </a:r>
            <a:r>
              <a:rPr lang="en-US" altLang="ko-KR" sz="2800" b="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 algn="just"/>
            <a:r>
              <a:rPr lang="ko-KR" altLang="en-US" sz="2800" b="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이는 자본과 신용에 기반한 권한 확대 시스템으로 작동한다</a:t>
            </a:r>
            <a:r>
              <a:rPr lang="en-US" altLang="ko-KR" sz="2800" b="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6750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5DEAED29-6171-43BD-82DA-2B42AD86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6C697BA0-3BD6-4F69-0EC3-B3581C2CC7CE}"/>
              </a:ext>
            </a:extLst>
          </p:cNvPr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멀티플레이 시스템 설계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6AAC6276-37EA-9561-F369-AA663844CB3B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37CF4E2-7A05-9BE3-573E-772DF411B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129F4CE-C0CF-8D7F-CA4D-00B7E18EB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8186914E-471E-4392-D901-ADC112023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AB25B6-B5CE-1FCA-E2CF-6FFA4EF869DD}"/>
              </a:ext>
            </a:extLst>
          </p:cNvPr>
          <p:cNvSpPr txBox="1"/>
          <p:nvPr/>
        </p:nvSpPr>
        <p:spPr>
          <a:xfrm>
            <a:off x="2171700" y="2560076"/>
            <a:ext cx="1394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네트워크 아키</a:t>
            </a:r>
            <a:r>
              <a:rPr lang="ko-KR" altLang="en-US" sz="2800" b="1" dirty="0">
                <a:solidFill>
                  <a:srgbClr val="1F1F1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텍처 </a:t>
            </a:r>
            <a:r>
              <a:rPr lang="en-US" altLang="ko-KR" sz="2800" dirty="0">
                <a:solidFill>
                  <a:srgbClr val="1F1F1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</a:t>
            </a:r>
            <a:r>
              <a:rPr lang="ko-KR" altLang="en-US" sz="2800" dirty="0">
                <a:solidFill>
                  <a:srgbClr val="1F1F1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클라이언트 </a:t>
            </a:r>
            <a:r>
              <a:rPr lang="en-US" altLang="ko-KR" sz="2800" dirty="0">
                <a:solidFill>
                  <a:srgbClr val="1F1F1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2800" dirty="0">
                <a:solidFill>
                  <a:srgbClr val="1F1F1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서버</a:t>
            </a:r>
            <a:r>
              <a:rPr lang="en-US" altLang="ko-KR" sz="2800" dirty="0">
                <a:solidFill>
                  <a:srgbClr val="1F1F1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(Host-Client) </a:t>
            </a:r>
            <a:r>
              <a:rPr lang="ko-KR" altLang="en-US" sz="2800" dirty="0">
                <a:solidFill>
                  <a:srgbClr val="1F1F1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</a:t>
            </a:r>
            <a:endParaRPr lang="ko-KR" alt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8BB20-EF92-DE4B-AC63-45161FB11ABA}"/>
              </a:ext>
            </a:extLst>
          </p:cNvPr>
          <p:cNvSpPr txBox="1"/>
          <p:nvPr/>
        </p:nvSpPr>
        <p:spPr>
          <a:xfrm>
            <a:off x="2171700" y="3183223"/>
            <a:ext cx="1394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방장이 되어 자신의 섬을 서버로 개설하면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친구는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파견 직원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신분으로 접속</a:t>
            </a:r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132CD8F5-63A8-CC1C-B0E9-14B32482C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719628"/>
              </p:ext>
            </p:extLst>
          </p:nvPr>
        </p:nvGraphicFramePr>
        <p:xfrm>
          <a:off x="994569" y="4655920"/>
          <a:ext cx="16311562" cy="5095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533040-081E-D899-A479-3036B3E308FF}"/>
              </a:ext>
            </a:extLst>
          </p:cNvPr>
          <p:cNvSpPr txBox="1"/>
          <p:nvPr/>
        </p:nvSpPr>
        <p:spPr>
          <a:xfrm>
            <a:off x="2183049" y="4083675"/>
            <a:ext cx="1394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세션 관리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Unity 6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SDK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사용하여 세션 생성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 코드 발행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그룹화를 관리</a:t>
            </a:r>
          </a:p>
        </p:txBody>
      </p:sp>
    </p:spTree>
    <p:extLst>
      <p:ext uri="{BB962C8B-B14F-4D97-AF65-F5344CB8AC3E}">
        <p14:creationId xmlns:p14="http://schemas.microsoft.com/office/powerpoint/2010/main" val="325407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253033D-AC66-27A5-2170-FE8B1ED5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ED9EC580-3D8F-61FC-24B8-2097B9F80B0E}"/>
              </a:ext>
            </a:extLst>
          </p:cNvPr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 동기화 방식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D807039D-545E-628E-C627-FE47C9DCFE06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46BB999-8FC3-E7E9-E8B9-1ED5B0198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8C30DA3-B803-08D7-A67E-5D8DD222D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CE057E32-CAE4-7E97-F767-4CDD39866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645216-C7C5-656F-0072-B5EE6E2AEFC0}"/>
              </a:ext>
            </a:extLst>
          </p:cNvPr>
          <p:cNvSpPr txBox="1"/>
          <p:nvPr/>
        </p:nvSpPr>
        <p:spPr>
          <a:xfrm>
            <a:off x="904369" y="2548890"/>
            <a:ext cx="1394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Unity 6</a:t>
            </a:r>
            <a:r>
              <a:rPr lang="ko-KR" altLang="en-US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2800" b="1" i="0" u="none" strike="noStrike" dirty="0" err="1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Netcode</a:t>
            </a:r>
            <a:r>
              <a:rPr lang="en-US" altLang="ko-KR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for </a:t>
            </a:r>
            <a:r>
              <a:rPr lang="en-US" altLang="ko-KR" sz="2800" b="1" i="0" u="none" strike="noStrike" dirty="0" err="1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GameObjects</a:t>
            </a:r>
            <a:r>
              <a:rPr lang="en-US" altLang="ko-KR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(NGO) </a:t>
            </a:r>
            <a:r>
              <a:rPr lang="ko-KR" altLang="en-US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라이브러리를 활용한 설계</a:t>
            </a:r>
            <a:endParaRPr lang="ko-KR" alt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36C01-6E97-580D-31D3-0A383C753E08}"/>
              </a:ext>
            </a:extLst>
          </p:cNvPr>
          <p:cNvSpPr txBox="1"/>
          <p:nvPr/>
        </p:nvSpPr>
        <p:spPr>
          <a:xfrm>
            <a:off x="2748201" y="3453406"/>
            <a:ext cx="13944600" cy="1815882"/>
          </a:xfrm>
          <a:prstGeom prst="rect">
            <a:avLst/>
          </a:prstGeom>
          <a:noFill/>
          <a:ln>
            <a:solidFill>
              <a:srgbClr val="06402B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ko-KR" sz="28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NetworkManager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프로젝트의 중앙 통제실로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Unity Gaming Services(UGS)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Relay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연동하여 세션을 관리하고 플레이어의 접속을 처리</a:t>
            </a:r>
            <a:endParaRPr lang="en-US" altLang="ko-KR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r>
              <a:rPr lang="en-US" altLang="ko-KR" sz="28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NetworkObject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컴포넌트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동기화가 필요한 모든 오브젝트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상점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NPC)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이 컴포넌트를 부착하여 네트워크 상에서 고유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ID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</a:t>
            </a:r>
            <a:r>
              <a:rPr lang="ko-KR" altLang="en-US" sz="28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부여받도록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31476-70C2-E146-1CC8-4D83E234E47C}"/>
              </a:ext>
            </a:extLst>
          </p:cNvPr>
          <p:cNvSpPr txBox="1"/>
          <p:nvPr/>
        </p:nvSpPr>
        <p:spPr>
          <a:xfrm>
            <a:off x="1019885" y="3452546"/>
            <a:ext cx="152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800" b="1" dirty="0">
                <a:solidFill>
                  <a:srgbClr val="00B05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환경구성</a:t>
            </a:r>
            <a:endParaRPr lang="ko-KR" altLang="en-US" sz="2800" dirty="0">
              <a:solidFill>
                <a:srgbClr val="00B05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F98A29-4915-A116-79B7-4B919AB7DF16}"/>
              </a:ext>
            </a:extLst>
          </p:cNvPr>
          <p:cNvSpPr txBox="1"/>
          <p:nvPr/>
        </p:nvSpPr>
        <p:spPr>
          <a:xfrm>
            <a:off x="904369" y="6057900"/>
            <a:ext cx="7122470" cy="318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상태 동기화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28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NetworkVariable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  <a:endParaRPr lang="en-US" altLang="ko-KR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 방식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데이터를 일반 변수가 아닌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NetworkVariable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&lt;T&gt;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클래스로 감싸서 선언합니다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권한 설정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보안을 위해 오직 서버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호스트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 이 값을 수정할 수 있도록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NetworkVariableWritePermission.Server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권한을 부여합니다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이벤트 바인딩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값이 변할 때마다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OnValueChanged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델리게이트를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통해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자동으로 갱신되도록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Observer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패턴을 적용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16262D-6EA7-259C-D30C-DA76259B2280}"/>
              </a:ext>
            </a:extLst>
          </p:cNvPr>
          <p:cNvSpPr txBox="1"/>
          <p:nvPr/>
        </p:nvSpPr>
        <p:spPr>
          <a:xfrm>
            <a:off x="9567088" y="6057900"/>
            <a:ext cx="7122470" cy="318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일회성 이벤트 처리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RPC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  <a:endParaRPr lang="en-US" altLang="ko-KR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ServerRPC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클라이언트 → 서버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클라이언트가 아이템을 구매하거나 자원을 채집할 때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서버에게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 돈을 줄이고 인벤토리에 넣어줘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라고 요청하는 메서드에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ServerRpc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속성을 붙여 구현합니다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ClientRPC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서버 → 클라이언트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서버가 요청을 승인한 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플레이어에게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"A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나무를 벴으니 나무 쓰러지는 애니메이션을 보여줘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라고 명령할 때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ClientRpc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속성을 사용합니다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5EFF67-4CF3-8F9A-3DDA-A0C67CC96407}"/>
              </a:ext>
            </a:extLst>
          </p:cNvPr>
          <p:cNvSpPr txBox="1"/>
          <p:nvPr/>
        </p:nvSpPr>
        <p:spPr>
          <a:xfrm>
            <a:off x="932473" y="5524500"/>
            <a:ext cx="2347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B05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유지</a:t>
            </a:r>
            <a:endParaRPr lang="ko-KR" altLang="en-US" sz="2800" dirty="0">
              <a:solidFill>
                <a:srgbClr val="00B05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E616D4-042B-F1A3-39A5-A51DA8CE9EF6}"/>
              </a:ext>
            </a:extLst>
          </p:cNvPr>
          <p:cNvSpPr txBox="1"/>
          <p:nvPr/>
        </p:nvSpPr>
        <p:spPr>
          <a:xfrm>
            <a:off x="9567088" y="5504839"/>
            <a:ext cx="2347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00B05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상호작용 처리</a:t>
            </a:r>
            <a:endParaRPr lang="ko-KR" altLang="en-US" sz="2800" dirty="0">
              <a:solidFill>
                <a:srgbClr val="00B05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290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2500DD46-8D61-BF3D-2093-05241F61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8EBDAF49-6864-5616-1D82-CC12F627DF94}"/>
              </a:ext>
            </a:extLst>
          </p:cNvPr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멀티플레이 시퀀스 다이어그램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425E6504-C651-2CA5-372C-63CA335C01DF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41CD8EF-C7B7-C9E7-FE45-451EEDADA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55BEE8E5-1589-5FD3-C217-89A61FEC0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03DF20-9B8C-539B-7BBE-BA8A8DA96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7"/>
          <a:stretch>
            <a:fillRect/>
          </a:stretch>
        </p:blipFill>
        <p:spPr>
          <a:xfrm>
            <a:off x="2286000" y="3695700"/>
            <a:ext cx="14095857" cy="7471719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4DFE4B0-B765-7F43-5516-3BD6592DDF04}"/>
              </a:ext>
            </a:extLst>
          </p:cNvPr>
          <p:cNvCxnSpPr>
            <a:cxnSpLocks/>
          </p:cNvCxnSpPr>
          <p:nvPr/>
        </p:nvCxnSpPr>
        <p:spPr>
          <a:xfrm>
            <a:off x="3695129" y="6457596"/>
            <a:ext cx="7391400" cy="0"/>
          </a:xfrm>
          <a:prstGeom prst="straightConnector1">
            <a:avLst/>
          </a:prstGeom>
          <a:ln w="38100">
            <a:solidFill>
              <a:srgbClr val="9BBB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A6EC78-6962-A6B4-0728-67D87F62B560}"/>
              </a:ext>
            </a:extLst>
          </p:cNvPr>
          <p:cNvSpPr txBox="1"/>
          <p:nvPr/>
        </p:nvSpPr>
        <p:spPr>
          <a:xfrm>
            <a:off x="3923729" y="5987072"/>
            <a:ext cx="701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상호작용 시작  </a:t>
            </a:r>
            <a:r>
              <a:rPr lang="en-US" altLang="ko-KR" sz="1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----&gt; Server RPC 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요청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D4E8AD7-E002-7ADE-0896-F77BD6429597}"/>
              </a:ext>
            </a:extLst>
          </p:cNvPr>
          <p:cNvCxnSpPr>
            <a:cxnSpLocks/>
          </p:cNvCxnSpPr>
          <p:nvPr/>
        </p:nvCxnSpPr>
        <p:spPr>
          <a:xfrm flipH="1">
            <a:off x="11238929" y="7905396"/>
            <a:ext cx="1295400" cy="0"/>
          </a:xfrm>
          <a:prstGeom prst="straightConnector1">
            <a:avLst/>
          </a:prstGeom>
          <a:ln w="38100">
            <a:solidFill>
              <a:srgbClr val="C050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D1AC690-820E-AA2F-39F9-FE23BE3E5D0B}"/>
              </a:ext>
            </a:extLst>
          </p:cNvPr>
          <p:cNvCxnSpPr>
            <a:cxnSpLocks/>
          </p:cNvCxnSpPr>
          <p:nvPr/>
        </p:nvCxnSpPr>
        <p:spPr>
          <a:xfrm flipV="1">
            <a:off x="12534329" y="6914796"/>
            <a:ext cx="0" cy="990600"/>
          </a:xfrm>
          <a:prstGeom prst="line">
            <a:avLst/>
          </a:prstGeom>
          <a:ln w="38100">
            <a:solidFill>
              <a:srgbClr val="C05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7BE05CE-0F4E-3E4D-4CCA-F541137027A1}"/>
              </a:ext>
            </a:extLst>
          </p:cNvPr>
          <p:cNvCxnSpPr>
            <a:cxnSpLocks/>
          </p:cNvCxnSpPr>
          <p:nvPr/>
        </p:nvCxnSpPr>
        <p:spPr>
          <a:xfrm>
            <a:off x="11162729" y="6914796"/>
            <a:ext cx="1371600" cy="0"/>
          </a:xfrm>
          <a:prstGeom prst="line">
            <a:avLst/>
          </a:prstGeom>
          <a:ln w="38100">
            <a:solidFill>
              <a:srgbClr val="C05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53E563F-38E2-BA1C-EC40-EB1D460EF6CA}"/>
              </a:ext>
            </a:extLst>
          </p:cNvPr>
          <p:cNvSpPr txBox="1"/>
          <p:nvPr/>
        </p:nvSpPr>
        <p:spPr>
          <a:xfrm>
            <a:off x="12762929" y="7240819"/>
            <a:ext cx="1752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 및 상태 동기화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1313D9DE-5C1D-8BC1-F7E7-E61BDF25BC29}"/>
              </a:ext>
            </a:extLst>
          </p:cNvPr>
          <p:cNvCxnSpPr>
            <a:cxnSpLocks/>
          </p:cNvCxnSpPr>
          <p:nvPr/>
        </p:nvCxnSpPr>
        <p:spPr>
          <a:xfrm>
            <a:off x="7276529" y="8819796"/>
            <a:ext cx="3810000" cy="0"/>
          </a:xfrm>
          <a:prstGeom prst="line">
            <a:avLst/>
          </a:prstGeom>
          <a:ln w="38100">
            <a:solidFill>
              <a:srgbClr val="C05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1255FBF-7F07-C2C3-6C30-67CA1592B8A9}"/>
              </a:ext>
            </a:extLst>
          </p:cNvPr>
          <p:cNvCxnSpPr>
            <a:cxnSpLocks/>
          </p:cNvCxnSpPr>
          <p:nvPr/>
        </p:nvCxnSpPr>
        <p:spPr>
          <a:xfrm flipH="1" flipV="1">
            <a:off x="7254533" y="8819796"/>
            <a:ext cx="21996" cy="381000"/>
          </a:xfrm>
          <a:prstGeom prst="line">
            <a:avLst/>
          </a:prstGeom>
          <a:ln w="38100">
            <a:solidFill>
              <a:srgbClr val="C05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36ABFF3-B425-E266-604B-EAAF731B3662}"/>
              </a:ext>
            </a:extLst>
          </p:cNvPr>
          <p:cNvSpPr txBox="1"/>
          <p:nvPr/>
        </p:nvSpPr>
        <p:spPr>
          <a:xfrm>
            <a:off x="8305229" y="8314580"/>
            <a:ext cx="1752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동기화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1D0438F-78C7-BED8-4D9B-BF641B273828}"/>
              </a:ext>
            </a:extLst>
          </p:cNvPr>
          <p:cNvCxnSpPr>
            <a:cxnSpLocks/>
          </p:cNvCxnSpPr>
          <p:nvPr/>
        </p:nvCxnSpPr>
        <p:spPr>
          <a:xfrm flipH="1">
            <a:off x="3695129" y="9200796"/>
            <a:ext cx="3581400" cy="0"/>
          </a:xfrm>
          <a:prstGeom prst="straightConnector1">
            <a:avLst/>
          </a:prstGeom>
          <a:ln w="38100">
            <a:solidFill>
              <a:srgbClr val="C0504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F4D77D2-760F-91D6-3CA5-2EA02F4F2379}"/>
              </a:ext>
            </a:extLst>
          </p:cNvPr>
          <p:cNvCxnSpPr>
            <a:cxnSpLocks/>
          </p:cNvCxnSpPr>
          <p:nvPr/>
        </p:nvCxnSpPr>
        <p:spPr>
          <a:xfrm>
            <a:off x="7276529" y="9200796"/>
            <a:ext cx="7620000" cy="0"/>
          </a:xfrm>
          <a:prstGeom prst="straightConnector1">
            <a:avLst/>
          </a:prstGeom>
          <a:ln w="38100">
            <a:solidFill>
              <a:srgbClr val="C0504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444AD26-D436-F13A-1CF4-6D97E6FD8BB6}"/>
              </a:ext>
            </a:extLst>
          </p:cNvPr>
          <p:cNvSpPr txBox="1"/>
          <p:nvPr/>
        </p:nvSpPr>
        <p:spPr>
          <a:xfrm>
            <a:off x="9333928" y="2583358"/>
            <a:ext cx="8257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400" dirty="0"/>
              <a:t>Host (Server): </a:t>
            </a:r>
            <a:r>
              <a:rPr lang="ko-KR" altLang="en-US" sz="2400" dirty="0"/>
              <a:t>게임 로직을 검증하고 데이터를 소유하는 방장</a:t>
            </a:r>
            <a:endParaRPr lang="en-US" altLang="ko-KR" sz="2400" dirty="0"/>
          </a:p>
          <a:p>
            <a:pPr algn="just"/>
            <a:r>
              <a:rPr lang="en-US" altLang="ko-KR" sz="2400" dirty="0"/>
              <a:t>Other Clients: </a:t>
            </a:r>
            <a:r>
              <a:rPr lang="ko-KR" altLang="en-US" sz="2400" dirty="0"/>
              <a:t>변경된 월드 상태를 전달받는 다른 유저들</a:t>
            </a: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259342-6B03-9745-F9BB-1034EF49A865}"/>
              </a:ext>
            </a:extLst>
          </p:cNvPr>
          <p:cNvSpPr txBox="1"/>
          <p:nvPr/>
        </p:nvSpPr>
        <p:spPr>
          <a:xfrm>
            <a:off x="2286000" y="2651240"/>
            <a:ext cx="6582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Client (Player): </a:t>
            </a:r>
            <a:r>
              <a:rPr lang="ko-KR" altLang="en-US" sz="2400" dirty="0"/>
              <a:t>상호작용을 시작하는 플레이어</a:t>
            </a:r>
            <a:endParaRPr lang="en-US" altLang="ko-KR" sz="2400" dirty="0"/>
          </a:p>
          <a:p>
            <a:r>
              <a:rPr lang="en-US" altLang="ko-KR" sz="2400" dirty="0"/>
              <a:t>UGS Relay: </a:t>
            </a:r>
            <a:r>
              <a:rPr lang="ko-KR" altLang="en-US" sz="2400" dirty="0"/>
              <a:t>데이터 전달을 중계하는 서버</a:t>
            </a:r>
          </a:p>
        </p:txBody>
      </p:sp>
    </p:spTree>
    <p:extLst>
      <p:ext uri="{BB962C8B-B14F-4D97-AF65-F5344CB8AC3E}">
        <p14:creationId xmlns:p14="http://schemas.microsoft.com/office/powerpoint/2010/main" val="1142947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C0097A2-17F8-5F86-4DCF-7226ABFD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6CB7BF19-DD66-618D-FC50-A32C6E8F95E3}"/>
              </a:ext>
            </a:extLst>
          </p:cNvPr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모델링용 </a:t>
            </a:r>
            <a:r>
              <a:rPr lang="en-US" altLang="ko-KR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</a:t>
            </a: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탐색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0E1D0C20-235A-FD97-3758-FC105A2DD75E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EBDE158-52AF-F93C-CA5C-528D7DFB6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41F9522-4718-1F4C-52F7-CFC2A66DA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9C37EBEF-F21D-0661-3AB5-3A75B0D2B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5BA8BF-1679-6920-CD3F-4C51FA7ECC65}"/>
              </a:ext>
            </a:extLst>
          </p:cNvPr>
          <p:cNvSpPr txBox="1"/>
          <p:nvPr/>
        </p:nvSpPr>
        <p:spPr>
          <a:xfrm>
            <a:off x="928688" y="2758613"/>
            <a:ext cx="150976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80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MESHY.AI</a:t>
            </a:r>
            <a:r>
              <a:rPr lang="ko-KR" altLang="en-US" sz="280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280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TRIPO3D.AI</a:t>
            </a:r>
            <a:r>
              <a:rPr lang="ko-KR" altLang="en-US" sz="280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활용한 생성형 </a:t>
            </a:r>
            <a:r>
              <a:rPr lang="en-US" altLang="ko-KR" sz="280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280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파이프라인을 구축하여 </a:t>
            </a:r>
            <a:r>
              <a:rPr lang="ko-KR" altLang="en-US" sz="2800" i="0" u="none" strike="noStrike" dirty="0" err="1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에셋</a:t>
            </a:r>
            <a:r>
              <a:rPr lang="ko-KR" altLang="en-US" sz="2800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생산 속도를 가속화 예정</a:t>
            </a:r>
            <a:endParaRPr lang="ko-KR" alt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3040FEB-4479-A2DD-7C4C-2D8C9EDB0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662944"/>
              </p:ext>
            </p:extLst>
          </p:nvPr>
        </p:nvGraphicFramePr>
        <p:xfrm>
          <a:off x="2368551" y="3777878"/>
          <a:ext cx="13563598" cy="4939754"/>
        </p:xfrm>
        <a:graphic>
          <a:graphicData uri="http://schemas.openxmlformats.org/drawingml/2006/table">
            <a:tbl>
              <a:tblPr/>
              <a:tblGrid>
                <a:gridCol w="1878037">
                  <a:extLst>
                    <a:ext uri="{9D8B030D-6E8A-4147-A177-3AD203B41FA5}">
                      <a16:colId xmlns:a16="http://schemas.microsoft.com/office/drawing/2014/main" val="1723466837"/>
                    </a:ext>
                  </a:extLst>
                </a:gridCol>
                <a:gridCol w="5947116">
                  <a:extLst>
                    <a:ext uri="{9D8B030D-6E8A-4147-A177-3AD203B41FA5}">
                      <a16:colId xmlns:a16="http://schemas.microsoft.com/office/drawing/2014/main" val="3239982668"/>
                    </a:ext>
                  </a:extLst>
                </a:gridCol>
                <a:gridCol w="5738445">
                  <a:extLst>
                    <a:ext uri="{9D8B030D-6E8A-4147-A177-3AD203B41FA5}">
                      <a16:colId xmlns:a16="http://schemas.microsoft.com/office/drawing/2014/main" val="3074308710"/>
                    </a:ext>
                  </a:extLst>
                </a:gridCol>
              </a:tblGrid>
              <a:tr h="632529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비교 항목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TRIPO3D.AI (V3.1 Ultra)</a:t>
                      </a:r>
                      <a:endParaRPr 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MESHY.AI</a:t>
                      </a:r>
                      <a:endParaRPr 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15626"/>
                  </a:ext>
                </a:extLst>
              </a:tr>
              <a:tr h="993975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핵심 강점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'Smart Mesh'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를 통한 게임 최적화 토폴로지 생성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고품질 텍스처링 및 정밀한 </a:t>
                      </a:r>
                      <a:r>
                        <a:rPr lang="ko-KR" altLang="en-US" sz="24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메쉬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제어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834797"/>
                  </a:ext>
                </a:extLst>
              </a:tr>
              <a:tr h="993975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토폴로지 품질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쿼드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(Quad)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기반의 깔끔한 </a:t>
                      </a:r>
                      <a:r>
                        <a:rPr lang="ko-KR" altLang="en-US" sz="24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엣지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플로우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수동 </a:t>
                      </a:r>
                      <a:r>
                        <a:rPr lang="ko-KR" altLang="en-US" sz="24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리토폴로지가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필요한 경우가 있음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665279"/>
                  </a:ext>
                </a:extLst>
              </a:tr>
              <a:tr h="993975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애니메이션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원클릭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오토 </a:t>
                      </a:r>
                      <a:r>
                        <a:rPr lang="ko-KR" altLang="en-US" sz="24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리깅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(Rigging)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및 </a:t>
                      </a:r>
                      <a:r>
                        <a:rPr lang="en-US" altLang="ko-KR" sz="24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Mixamo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연동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100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여 개의 애니메이션 </a:t>
                      </a:r>
                      <a:r>
                        <a:rPr lang="ko-KR" altLang="en-US" sz="24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프리셋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지원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13821"/>
                  </a:ext>
                </a:extLst>
              </a:tr>
              <a:tr h="66265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생산 속도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 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 내 초기 생성 가능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 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45~60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 소요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10564"/>
                  </a:ext>
                </a:extLst>
              </a:tr>
              <a:tr h="66265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가격 정책</a:t>
                      </a:r>
                      <a:endParaRPr lang="ko-KR" altLang="en-US" sz="2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$12/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(200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크레딧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$16/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(200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크레딧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endParaRPr lang="ko-KR" altLang="en-US" sz="2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7244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E5808DF-D827-DDA5-D338-5DFB04069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027238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03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3442D672-4681-D81C-E284-514B187C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6BF89147-342E-60A1-BCEA-1423E033EA02}"/>
              </a:ext>
            </a:extLst>
          </p:cNvPr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아트 컨셉 및 비주얼 스타일 가이드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F73F4154-9656-6711-47AD-4B35A87EB31F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6056D2C-F9D1-E33C-F0C5-B70A707E2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8F73906-4417-E78B-AB8A-C1B63D814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35031A-E3A9-089F-F588-DB747D9028E6}"/>
              </a:ext>
            </a:extLst>
          </p:cNvPr>
          <p:cNvSpPr txBox="1"/>
          <p:nvPr/>
        </p:nvSpPr>
        <p:spPr>
          <a:xfrm>
            <a:off x="871538" y="2707760"/>
            <a:ext cx="1394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시각적 지향점 </a:t>
            </a:r>
            <a:r>
              <a:rPr lang="en-US" altLang="ko-KR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</a:t>
            </a:r>
            <a:r>
              <a:rPr lang="ko-KR" altLang="en-US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로우 폴리</a:t>
            </a:r>
            <a:r>
              <a:rPr lang="en-US" altLang="ko-KR" sz="2800" b="1" i="0" u="none" strike="noStrike" dirty="0">
                <a:solidFill>
                  <a:srgbClr val="1F1F1F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(Soft Low-Poly)</a:t>
            </a:r>
            <a:endParaRPr lang="ko-KR" alt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61557-B283-D847-FD81-8CBA22D26F48}"/>
              </a:ext>
            </a:extLst>
          </p:cNvPr>
          <p:cNvSpPr txBox="1"/>
          <p:nvPr/>
        </p:nvSpPr>
        <p:spPr>
          <a:xfrm>
            <a:off x="4876800" y="4000500"/>
            <a:ext cx="12649200" cy="391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비주얼 스타일의 핵심 요소</a:t>
            </a:r>
            <a:endParaRPr lang="en-US" altLang="ko-KR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부드러운 </a:t>
            </a:r>
            <a:r>
              <a:rPr lang="ko-KR" altLang="en-US" sz="2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그라데이션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텍스처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명확한 외곽선보다는 부드러운 색감 변화를 통해 따뜻한 분위기를 연출한다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URP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Stylized Lighting: PBR(Physically Based Rendering)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재질을 사용하되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라이팅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설정을 통해 실사보다는 만화에 가까운 느낌을 준다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Ambient Occlusion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적극 활용하여 사물의 거리감을 강조한다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Curved World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효과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'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동물의 숲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ko-KR" altLang="en-US" sz="2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아이코닉한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특징인 지평선 굴곡 효과를 </a:t>
            </a:r>
            <a:r>
              <a:rPr lang="ko-KR" altLang="en-US" sz="2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쉐이더로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구현한다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이는 실제 지형을 구 형태로 만드는 것이 아니라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카메라와의 거리에 따라 정점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(Vertex)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Y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축으로 오프셋 시키는 연산 방식을 통해 리소스를 절약한다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515A69F-0294-DE55-055D-DE09E0D42F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16983"/>
            <a:ext cx="3607061" cy="40392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758668-9486-6C09-93A8-F5E71512190F}"/>
              </a:ext>
            </a:extLst>
          </p:cNvPr>
          <p:cNvSpPr txBox="1"/>
          <p:nvPr/>
        </p:nvSpPr>
        <p:spPr>
          <a:xfrm>
            <a:off x="1281673" y="8190921"/>
            <a:ext cx="284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Tripo3d.ai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생성한 모델</a:t>
            </a:r>
          </a:p>
        </p:txBody>
      </p:sp>
    </p:spTree>
    <p:extLst>
      <p:ext uri="{BB962C8B-B14F-4D97-AF65-F5344CB8AC3E}">
        <p14:creationId xmlns:p14="http://schemas.microsoft.com/office/powerpoint/2010/main" val="3431985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MBTI </a:t>
            </a: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기반</a:t>
            </a: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NPC </a:t>
            </a: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행동</a:t>
            </a: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로직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4DC2D41-B33B-475B-2DC6-5B167CC00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4717227-BFB5-257F-6C0C-5FAE6E428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8FE12D5-F68D-3E10-2256-E9EE48EE7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443940"/>
              </p:ext>
            </p:extLst>
          </p:nvPr>
        </p:nvGraphicFramePr>
        <p:xfrm>
          <a:off x="2590800" y="2933700"/>
          <a:ext cx="13106400" cy="5638802"/>
        </p:xfrm>
        <a:graphic>
          <a:graphicData uri="http://schemas.openxmlformats.org/drawingml/2006/table">
            <a:tbl>
              <a:tblPr/>
              <a:tblGrid>
                <a:gridCol w="2111099">
                  <a:extLst>
                    <a:ext uri="{9D8B030D-6E8A-4147-A177-3AD203B41FA5}">
                      <a16:colId xmlns:a16="http://schemas.microsoft.com/office/drawing/2014/main" val="3052047024"/>
                    </a:ext>
                  </a:extLst>
                </a:gridCol>
                <a:gridCol w="4925895">
                  <a:extLst>
                    <a:ext uri="{9D8B030D-6E8A-4147-A177-3AD203B41FA5}">
                      <a16:colId xmlns:a16="http://schemas.microsoft.com/office/drawing/2014/main" val="934945026"/>
                    </a:ext>
                  </a:extLst>
                </a:gridCol>
                <a:gridCol w="6069406">
                  <a:extLst>
                    <a:ext uri="{9D8B030D-6E8A-4147-A177-3AD203B41FA5}">
                      <a16:colId xmlns:a16="http://schemas.microsoft.com/office/drawing/2014/main" val="520225643"/>
                    </a:ext>
                  </a:extLst>
                </a:gridCol>
              </a:tblGrid>
              <a:tr h="516851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MBTI </a:t>
                      </a: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차원</a:t>
                      </a:r>
                      <a:endParaRPr lang="ko-KR" alt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반영 변수 </a:t>
                      </a:r>
                      <a:r>
                        <a:rPr lang="en-US" altLang="ko-KR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Internal Variable)</a:t>
                      </a:r>
                      <a:endParaRPr 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실제 행동 양상</a:t>
                      </a:r>
                      <a:endParaRPr lang="ko-KR" alt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281387"/>
                  </a:ext>
                </a:extLst>
              </a:tr>
              <a:tr h="845233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 (</a:t>
                      </a: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외향</a:t>
                      </a:r>
                      <a:r>
                        <a:rPr lang="en-US" altLang="ko-KR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Social_Weight, Area_Radius</a:t>
                      </a:r>
                      <a:endParaRPr 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광장 체류 시간 증가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주변 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행복도 버프 제공</a:t>
                      </a:r>
                      <a:endParaRPr lang="ko-KR" altLang="en-US" sz="4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070351"/>
                  </a:ext>
                </a:extLst>
              </a:tr>
              <a:tr h="895789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 (</a:t>
                      </a: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내향</a:t>
                      </a:r>
                      <a:r>
                        <a:rPr lang="en-US" altLang="ko-KR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Work_Efficiency, Home_Stay_Time</a:t>
                      </a:r>
                      <a:endParaRPr 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집에서의 작업 시간 증가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생산 효율 가산점 </a:t>
                      </a:r>
                      <a:endParaRPr lang="ko-KR" altLang="en-US" sz="4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64980"/>
                  </a:ext>
                </a:extLst>
              </a:tr>
              <a:tr h="845233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 (</a:t>
                      </a: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감각</a:t>
                      </a:r>
                      <a:r>
                        <a:rPr lang="en-US" altLang="ko-KR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Utility_Consumption_Rate</a:t>
                      </a:r>
                      <a:endParaRPr 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식재료 등 실용적인 물건 위주의 구매 패턴 </a:t>
                      </a:r>
                      <a:endParaRPr lang="ko-KR" altLang="en-US" sz="4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881142"/>
                  </a:ext>
                </a:extLst>
              </a:tr>
              <a:tr h="845232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 (</a:t>
                      </a: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직관</a:t>
                      </a:r>
                      <a:r>
                        <a:rPr lang="en-US" altLang="ko-KR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Luxury_Consumption_Rate</a:t>
                      </a:r>
                      <a:endParaRPr 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비싼 가구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장식품 등 심미적 가치 중심의 소비 </a:t>
                      </a:r>
                      <a:endParaRPr lang="ko-KR" altLang="en-US" sz="4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469213"/>
                  </a:ext>
                </a:extLst>
              </a:tr>
              <a:tr h="845232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J (</a:t>
                      </a: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계획</a:t>
                      </a:r>
                      <a:r>
                        <a:rPr lang="en-US" altLang="ko-KR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Schedule_Drift_Value</a:t>
                      </a:r>
                      <a:endParaRPr 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정해진 일과표</a:t>
                      </a:r>
                      <a:r>
                        <a:rPr lang="en-US" altLang="ko-KR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(Work-Rest)</a:t>
                      </a: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를 엄격하게 준수 </a:t>
                      </a:r>
                      <a:endParaRPr lang="ko-KR" altLang="en-US" sz="4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834343"/>
                  </a:ext>
                </a:extLst>
              </a:tr>
              <a:tr h="845232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 (</a:t>
                      </a:r>
                      <a:r>
                        <a:rPr lang="ko-KR" alt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인식</a:t>
                      </a:r>
                      <a:r>
                        <a:rPr lang="en-US" altLang="ko-KR" sz="2400" b="1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Random_Event_Probability</a:t>
                      </a:r>
                      <a:endParaRPr lang="en-US" sz="440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일과 외 돌발 행동이나 희귀 아이템 채집 변수 </a:t>
                      </a:r>
                      <a:endParaRPr lang="ko-KR" altLang="en-US" sz="44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9837" marR="99837" marT="66558" marB="66558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1839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2D9B4EC5-AE12-8407-9E44-1259E8DB9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14160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C8C6EC37-76DB-488A-B3A8-AA677605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>
            <a:extLst>
              <a:ext uri="{FF2B5EF4-FFF2-40B4-BE49-F238E27FC236}">
                <a16:creationId xmlns:a16="http://schemas.microsoft.com/office/drawing/2014/main" id="{BE036A1B-415C-7401-1DC3-E1BEC20C9134}"/>
              </a:ext>
            </a:extLst>
          </p:cNvPr>
          <p:cNvSpPr txBox="1"/>
          <p:nvPr/>
        </p:nvSpPr>
        <p:spPr>
          <a:xfrm>
            <a:off x="1214438" y="1440581"/>
            <a:ext cx="170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실제 구현</a:t>
            </a:r>
            <a:r>
              <a:rPr lang="en-US" altLang="ko-KR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</a:t>
            </a:r>
            <a:r>
              <a:rPr lang="en-US" sz="54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NavMesh</a:t>
            </a:r>
            <a:r>
              <a:rPr lang="en-US" sz="54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&amp; FSM</a:t>
            </a:r>
            <a:endParaRPr sz="27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6909A7AF-A574-2D1B-B08B-CD533FE14994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2635C7A-662D-3FA7-826D-F80D88CD1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AA340E9-0BDC-CE97-AAE4-B57F17D9B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0FEA6C5-D7F8-5528-D55D-04A9EA2E7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14160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97A23-D020-D803-D87C-F34C5B199E13}"/>
              </a:ext>
            </a:extLst>
          </p:cNvPr>
          <p:cNvSpPr txBox="1"/>
          <p:nvPr/>
        </p:nvSpPr>
        <p:spPr>
          <a:xfrm>
            <a:off x="3124200" y="7633799"/>
            <a:ext cx="116903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상태는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FSM(Finite State Machine)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관리되어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성향에 따라 전이 확률 조정</a:t>
            </a:r>
            <a:endParaRPr lang="en-US" altLang="ko-KR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예를 들어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휴식 상태에서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광장으로 이동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 확률은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형보다 현저히 높게 설정된다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경로는 </a:t>
            </a:r>
            <a:r>
              <a:rPr lang="en-US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NavMesh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통해 계산되어 마을의 지형지물과 충돌하지 않고 자연스럽게 이동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ADAF42-3EF7-4EC3-AD09-79DE51BC2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150" y="3200719"/>
            <a:ext cx="4011976" cy="3885562"/>
          </a:xfrm>
          <a:prstGeom prst="rect">
            <a:avLst/>
          </a:prstGeom>
        </p:spPr>
      </p:pic>
      <p:pic>
        <p:nvPicPr>
          <p:cNvPr id="2050" name="Picture 2" descr="FOR HIRE] Unity Gameplay Programmer – Combat AI, Enemy FSM Systems, Game  Design : r/gameDevClassifieds">
            <a:extLst>
              <a:ext uri="{FF2B5EF4-FFF2-40B4-BE49-F238E27FC236}">
                <a16:creationId xmlns:a16="http://schemas.microsoft.com/office/drawing/2014/main" id="{B71BDBF9-DF91-DA2D-F8CE-FFA5A8195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3200719"/>
            <a:ext cx="817245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76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1538" y="3410695"/>
            <a:ext cx="5324325" cy="5429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1613" y="3410695"/>
            <a:ext cx="5324549" cy="5429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91913" y="3410695"/>
            <a:ext cx="5324325" cy="542902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1314450" y="4939457"/>
            <a:ext cx="4660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>
                <a:solidFill>
                  <a:srgbClr val="F8FA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Engine &amp; Language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4" name="Google Shape;13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14450" y="5710982"/>
            <a:ext cx="4438500" cy="110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1314450" y="6991052"/>
            <a:ext cx="44385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최신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버전의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Unity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엔진을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통해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안정적인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게임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을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구현합니다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924526" y="4939457"/>
            <a:ext cx="4660661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>
                <a:solidFill>
                  <a:srgbClr val="F8FA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Architecture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24526" y="5710982"/>
            <a:ext cx="4438724" cy="110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6924526" y="6991052"/>
            <a:ext cx="4438724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(Model)와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로직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(Controller),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화면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(View)을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분리하여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유지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보수성을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확보합니다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2534825" y="4939457"/>
            <a:ext cx="4660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>
                <a:solidFill>
                  <a:srgbClr val="F8FA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Data &amp; AI</a:t>
            </a:r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534825" y="5710982"/>
            <a:ext cx="4438500" cy="110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2534825" y="6991052"/>
            <a:ext cx="4438500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유니티의 </a:t>
            </a:r>
            <a:r>
              <a:rPr lang="en-US" altLang="ko-KR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ScriptableObject</a:t>
            </a:r>
            <a:r>
              <a:rPr lang="en-US" altLang="ko-KR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기반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정적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데이터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관리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및 JSON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직렬화를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통한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저장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시스템을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2025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구축합니다</a:t>
            </a:r>
            <a:r>
              <a:rPr lang="en-US" sz="2025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.</a:t>
            </a:r>
            <a:endParaRPr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14451" y="3896469"/>
            <a:ext cx="500063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24526" y="3896469"/>
            <a:ext cx="642938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534826" y="3896469"/>
            <a:ext cx="500063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1214438" y="1440581"/>
            <a:ext cx="1701212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0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기술</a:t>
            </a:r>
            <a:r>
              <a:rPr lang="en-US" sz="60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60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스택</a:t>
            </a:r>
            <a:r>
              <a:rPr lang="en-US" sz="60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및 </a:t>
            </a:r>
            <a:r>
              <a:rPr lang="en-US" sz="60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시스템</a:t>
            </a:r>
            <a:r>
              <a:rPr lang="en-US" sz="60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sz="6000" b="1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아키텍처</a:t>
            </a:r>
            <a:endParaRPr sz="2800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3752558-52B4-CB75-2F72-78D1F42FE3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52652BF-4C00-9856-FA15-38676FF2F5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5888" y="1358947"/>
            <a:ext cx="14077950" cy="1070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72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시스템</a:t>
            </a:r>
            <a:r>
              <a:rPr lang="en-US" sz="72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 </a:t>
            </a:r>
            <a:r>
              <a:rPr lang="en-US" sz="72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아키텍처</a:t>
            </a:r>
            <a:r>
              <a:rPr lang="en-US" sz="72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: MVC </a:t>
            </a:r>
            <a:r>
              <a:rPr lang="en-US" sz="72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구조</a:t>
            </a:r>
            <a:endParaRPr lang="en-US" sz="72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프리텐다드 Medium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385888" y="3586783"/>
            <a:ext cx="4000500" cy="2743704"/>
            <a:chOff x="0" y="-57150"/>
            <a:chExt cx="5334000" cy="3658273"/>
          </a:xfrm>
        </p:grpSpPr>
        <p:sp>
          <p:nvSpPr>
            <p:cNvPr id="4" name="TextBox 4"/>
            <p:cNvSpPr txBox="1"/>
            <p:nvPr/>
          </p:nvSpPr>
          <p:spPr>
            <a:xfrm>
              <a:off x="0" y="1146176"/>
              <a:ext cx="5334000" cy="2454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Model은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Bold"/>
                </a:rPr>
                <a:t>ScriptableObject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와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JSON을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활용하여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정적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및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동적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데이터를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관리합니다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.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이를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통해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게임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내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모든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데이터의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효율적인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저장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및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처리가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가능합니다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3340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400" b="1">
                  <a:solidFill>
                    <a:srgbClr val="00624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Bold"/>
                </a:rPr>
                <a:t>MODEL 구조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38988" y="3586783"/>
            <a:ext cx="4010025" cy="2747486"/>
            <a:chOff x="0" y="-57150"/>
            <a:chExt cx="5346700" cy="3663315"/>
          </a:xfrm>
        </p:grpSpPr>
        <p:sp>
          <p:nvSpPr>
            <p:cNvPr id="7" name="TextBox 7"/>
            <p:cNvSpPr txBox="1"/>
            <p:nvPr/>
          </p:nvSpPr>
          <p:spPr>
            <a:xfrm>
              <a:off x="0" y="1146175"/>
              <a:ext cx="5346700" cy="2459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View는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Bold"/>
                </a:rPr>
                <a:t>URP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렌더링을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사용하여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고품질의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그래픽을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제공합니다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. Observer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패턴을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통해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UI를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실시간으로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갱신하여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사용자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경험을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향상시킵니다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3467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400" b="1">
                  <a:solidFill>
                    <a:srgbClr val="00624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Bold"/>
                </a:rPr>
                <a:t>VIEW 렌더링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892088" y="3586782"/>
            <a:ext cx="4010025" cy="3487496"/>
            <a:chOff x="0" y="-57150"/>
            <a:chExt cx="5346700" cy="464999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6175"/>
              <a:ext cx="5346700" cy="3446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Controller는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Bold"/>
                </a:rPr>
                <a:t>InteractionManager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, </a:t>
              </a:r>
              <a:r>
                <a:rPr lang="en-US" sz="24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Bold"/>
                </a:rPr>
                <a:t>EconomySystem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, </a:t>
              </a:r>
              <a:r>
                <a:rPr lang="en-US" sz="24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Bold"/>
                </a:rPr>
                <a:t>NpcAIController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로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구성되어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있습니다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.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이들은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게임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내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상호작용과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경제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흐름을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최적화하여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플레이어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경험을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 </a:t>
              </a:r>
              <a:r>
                <a:rPr lang="en-US" sz="2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극대화합니다</a:t>
              </a:r>
              <a:r>
                <a:rPr lang="en-US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Light"/>
                </a:rPr>
                <a:t>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53467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400" b="1">
                  <a:solidFill>
                    <a:srgbClr val="00624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Fira Sans Bold"/>
                </a:rPr>
                <a:t>CONTROLLER 역할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006241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9982" cy="4883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15" name="Picture 2">
            <a:extLst>
              <a:ext uri="{FF2B5EF4-FFF2-40B4-BE49-F238E27FC236}">
                <a16:creationId xmlns:a16="http://schemas.microsoft.com/office/drawing/2014/main" id="{D277C469-5AD4-8B63-CBB9-1BD10331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16" name="Google Shape;124;p16">
            <a:extLst>
              <a:ext uri="{FF2B5EF4-FFF2-40B4-BE49-F238E27FC236}">
                <a16:creationId xmlns:a16="http://schemas.microsoft.com/office/drawing/2014/main" id="{D3619BEB-E463-938A-331D-859B24DC5621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376AAF6E-64D9-0F7B-BD03-6139406AC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722B1BE-7C62-A02B-E409-EB3ED606EA6B}"/>
              </a:ext>
            </a:extLst>
          </p:cNvPr>
          <p:cNvCxnSpPr>
            <a:cxnSpLocks/>
          </p:cNvCxnSpPr>
          <p:nvPr/>
        </p:nvCxnSpPr>
        <p:spPr>
          <a:xfrm>
            <a:off x="1385887" y="4020803"/>
            <a:ext cx="216693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7BA3C5F-1B48-F465-D1A7-2EEAD47464B7}"/>
              </a:ext>
            </a:extLst>
          </p:cNvPr>
          <p:cNvCxnSpPr/>
          <p:nvPr/>
        </p:nvCxnSpPr>
        <p:spPr>
          <a:xfrm>
            <a:off x="7026915" y="4020805"/>
            <a:ext cx="216693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2408F8E-FA46-6F2D-44C2-F03938BA3695}"/>
              </a:ext>
            </a:extLst>
          </p:cNvPr>
          <p:cNvCxnSpPr/>
          <p:nvPr/>
        </p:nvCxnSpPr>
        <p:spPr>
          <a:xfrm>
            <a:off x="12892088" y="4020804"/>
            <a:ext cx="216693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555702"/>
            <a:ext cx="18288000" cy="6731298"/>
            <a:chOff x="0" y="0"/>
            <a:chExt cx="4816593" cy="17728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772852"/>
            </a:xfrm>
            <a:custGeom>
              <a:avLst/>
              <a:gdLst/>
              <a:ahLst/>
              <a:cxnLst/>
              <a:rect l="l" t="t" r="r" b="b"/>
              <a:pathLst>
                <a:path w="4816592" h="1772852">
                  <a:moveTo>
                    <a:pt x="0" y="0"/>
                  </a:moveTo>
                  <a:lnTo>
                    <a:pt x="4816592" y="0"/>
                  </a:lnTo>
                  <a:lnTo>
                    <a:pt x="4816592" y="1772852"/>
                  </a:lnTo>
                  <a:lnTo>
                    <a:pt x="0" y="17728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820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893732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89112"/>
            </a:solidFill>
          </p:spPr>
          <p:txBody>
            <a:bodyPr/>
            <a:lstStyle/>
            <a:p>
              <a:endParaRPr lang="ko-KR" altLang="en-US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29375" y="5884207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89112"/>
            </a:solidFill>
          </p:spPr>
          <p:txBody>
            <a:bodyPr/>
            <a:lstStyle/>
            <a:p>
              <a:endParaRPr lang="ko-KR" altLang="en-US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62350" y="5893732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89112"/>
            </a:solidFill>
          </p:spPr>
          <p:txBody>
            <a:bodyPr/>
            <a:lstStyle/>
            <a:p>
              <a:endParaRPr lang="ko-KR" altLang="en-US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24975" y="5865157"/>
            <a:ext cx="323850" cy="32385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89112"/>
            </a:solidFill>
          </p:spPr>
          <p:txBody>
            <a:bodyPr/>
            <a:lstStyle/>
            <a:p>
              <a:endParaRPr lang="ko-KR" altLang="en-US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990600" y="6046132"/>
            <a:ext cx="5438775" cy="9525"/>
          </a:xfrm>
          <a:prstGeom prst="line">
            <a:avLst/>
          </a:prstGeom>
          <a:ln w="19050" cap="flat">
            <a:solidFill>
              <a:srgbClr val="C891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AutoShape 14"/>
          <p:cNvSpPr/>
          <p:nvPr/>
        </p:nvSpPr>
        <p:spPr>
          <a:xfrm flipV="1">
            <a:off x="6753225" y="6027082"/>
            <a:ext cx="2571750" cy="19050"/>
          </a:xfrm>
          <a:prstGeom prst="line">
            <a:avLst/>
          </a:prstGeom>
          <a:ln w="19050" cap="flat">
            <a:solidFill>
              <a:srgbClr val="C891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648825" y="6027082"/>
            <a:ext cx="2579094" cy="0"/>
          </a:xfrm>
          <a:prstGeom prst="line">
            <a:avLst/>
          </a:prstGeom>
          <a:ln w="19050" cap="flat">
            <a:solidFill>
              <a:srgbClr val="C891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2227919" y="5865157"/>
            <a:ext cx="323850" cy="323850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89112"/>
            </a:solidFill>
          </p:spPr>
          <p:txBody>
            <a:bodyPr/>
            <a:lstStyle/>
            <a:p>
              <a:endParaRPr lang="ko-KR" altLang="en-US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075894" y="5865157"/>
            <a:ext cx="323850" cy="323850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89112"/>
            </a:solidFill>
          </p:spPr>
          <p:txBody>
            <a:bodyPr/>
            <a:lstStyle/>
            <a:p>
              <a:endParaRPr lang="ko-KR" altLang="en-US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2551769" y="6027082"/>
            <a:ext cx="5736231" cy="0"/>
          </a:xfrm>
          <a:prstGeom prst="line">
            <a:avLst/>
          </a:prstGeom>
          <a:ln w="19050" cap="flat">
            <a:solidFill>
              <a:srgbClr val="C891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562350" y="4743450"/>
            <a:ext cx="256338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 Bold"/>
              </a:rPr>
              <a:t>5~8주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0349" y="4743450"/>
            <a:ext cx="253815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 Bold"/>
              </a:rPr>
              <a:t>1~4주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62350" y="6886575"/>
            <a:ext cx="2571750" cy="34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NPC AI 및 FSM 구축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6886575"/>
            <a:ext cx="1807569" cy="737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요구사항</a:t>
            </a:r>
            <a:r>
              <a:rPr lang="en-US" sz="21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 </a:t>
            </a:r>
            <a:r>
              <a:rPr lang="en-US" sz="21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분석</a:t>
            </a:r>
            <a:r>
              <a:rPr lang="en-US" sz="21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 및 </a:t>
            </a:r>
            <a:r>
              <a:rPr lang="en-US" sz="21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기본</a:t>
            </a:r>
            <a:r>
              <a:rPr lang="en-US" sz="21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 </a:t>
            </a:r>
            <a:r>
              <a:rPr lang="en-US" sz="21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구현</a:t>
            </a:r>
            <a:endParaRPr lang="en-US" sz="21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Fira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429375" y="4743450"/>
            <a:ext cx="257175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 Bold"/>
              </a:rPr>
              <a:t>9~12주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29375" y="6873726"/>
            <a:ext cx="257175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상점 매입 및 소비 로직 검증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27919" y="4743450"/>
            <a:ext cx="2535831" cy="35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endParaRPr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5075894" y="4743450"/>
            <a:ext cx="2535831" cy="35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endParaRPr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211050" y="6886575"/>
            <a:ext cx="2552700" cy="33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5059025" y="6886575"/>
            <a:ext cx="2552700" cy="33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324975" y="4743450"/>
            <a:ext cx="256222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 Bold"/>
              </a:rPr>
              <a:t>13주차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4000" y="6820386"/>
            <a:ext cx="166181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JSON 세이브 및 로드 데모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3012" y="1338911"/>
            <a:ext cx="15516225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b="1" u="none" strike="noStrike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Helios Extended"/>
              </a:rPr>
              <a:t>1학기 </a:t>
            </a:r>
            <a:r>
              <a:rPr lang="en-US" sz="8000" b="1" u="none" strike="noStrike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Helios Extended"/>
              </a:rPr>
              <a:t>개발</a:t>
            </a:r>
            <a:r>
              <a:rPr lang="en-US" sz="8000" b="1" u="none" strike="noStrike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Helios Extended"/>
              </a:rPr>
              <a:t> </a:t>
            </a:r>
            <a:r>
              <a:rPr lang="en-US" sz="8000" b="1" u="none" strike="noStrike" dirty="0" err="1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Helios Extended"/>
              </a:rPr>
              <a:t>로드맵</a:t>
            </a:r>
            <a:endParaRPr lang="en-US" sz="8000" b="1" u="none" strike="noStrike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Helios Extended"/>
            </a:endParaRPr>
          </a:p>
        </p:txBody>
      </p:sp>
      <p:grpSp>
        <p:nvGrpSpPr>
          <p:cNvPr id="34" name="Group 34"/>
          <p:cNvGrpSpPr/>
          <p:nvPr/>
        </p:nvGrpSpPr>
        <p:grpSpPr>
          <a:xfrm rot="5400000">
            <a:off x="9067114" y="1028014"/>
            <a:ext cx="191872" cy="18326100"/>
            <a:chOff x="0" y="0"/>
            <a:chExt cx="50534" cy="482662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0534" cy="4826627"/>
            </a:xfrm>
            <a:custGeom>
              <a:avLst/>
              <a:gdLst/>
              <a:ahLst/>
              <a:cxnLst/>
              <a:rect l="l" t="t" r="r" b="b"/>
              <a:pathLst>
                <a:path w="50534" h="4826627">
                  <a:moveTo>
                    <a:pt x="0" y="0"/>
                  </a:moveTo>
                  <a:lnTo>
                    <a:pt x="50534" y="0"/>
                  </a:lnTo>
                  <a:lnTo>
                    <a:pt x="50534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89112"/>
            </a:solidFill>
          </p:spPr>
          <p:txBody>
            <a:bodyPr/>
            <a:lstStyle/>
            <a:p>
              <a:endParaRPr lang="ko-KR" altLang="en-US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50534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103969" y="6847056"/>
            <a:ext cx="2571750" cy="34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가공 시스템 개발 시작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51944" y="6820386"/>
            <a:ext cx="2571750" cy="34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"/>
              </a:rPr>
              <a:t>조명 최적화 작업 진행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887200" y="4722157"/>
            <a:ext cx="256222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 Bold"/>
              </a:rPr>
              <a:t>14~15주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697075" y="4722157"/>
            <a:ext cx="256222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Fira Sans Bold"/>
              </a:rPr>
              <a:t>16주차</a:t>
            </a:r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D67FA59B-B000-1D70-9952-A2DF3401D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42" name="Google Shape;124;p16">
            <a:extLst>
              <a:ext uri="{FF2B5EF4-FFF2-40B4-BE49-F238E27FC236}">
                <a16:creationId xmlns:a16="http://schemas.microsoft.com/office/drawing/2014/main" id="{5AADD9A6-9DA5-61E2-993A-0DE69FAA98E7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 b="1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43" name="Picture 3">
            <a:extLst>
              <a:ext uri="{FF2B5EF4-FFF2-40B4-BE49-F238E27FC236}">
                <a16:creationId xmlns:a16="http://schemas.microsoft.com/office/drawing/2014/main" id="{37E004D2-B44B-987D-36CA-9D291E216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EE4A8952-0F93-9283-6CF8-0C683218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37790BE6-A363-9DE3-BDF2-1D2EC050D5FC}"/>
              </a:ext>
            </a:extLst>
          </p:cNvPr>
          <p:cNvSpPr txBox="1"/>
          <p:nvPr/>
        </p:nvSpPr>
        <p:spPr>
          <a:xfrm>
            <a:off x="1214438" y="1440581"/>
            <a:ext cx="1701212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0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시나리오 및 세계관 설계</a:t>
            </a:r>
            <a:endParaRPr sz="4000" b="1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DC5FDE76-E794-B1D4-921B-6ECBB2EF81AB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E4A6046-C503-DAC5-E69D-BDB826FA5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D438006-E8D5-33AF-6ECF-05497E6F5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CA4045C5-782D-3072-A352-B556788A9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87" y="3559937"/>
            <a:ext cx="3601597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25B063-1651-0976-C864-4C1C3CF347CC}"/>
              </a:ext>
            </a:extLst>
          </p:cNvPr>
          <p:cNvSpPr txBox="1"/>
          <p:nvPr/>
        </p:nvSpPr>
        <p:spPr>
          <a:xfrm>
            <a:off x="2171700" y="2768926"/>
            <a:ext cx="139446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P.A.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배경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고립되었지만 자원이 풍부한 미개척 제도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algn="just"/>
            <a:endParaRPr lang="en-US" altLang="ko-KR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플레이어의 역할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플레이어는 본사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(P.A. Headquarters)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파견된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개척 지원 지점장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으로서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각기 다른 사연을 가진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들과 함께 섬을 발전시켜야 한다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just"/>
            <a:endParaRPr lang="en-US" altLang="ko-KR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시나리오 목표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사용자는 초기 대출금을 상환하고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최종적으로 섬을 본사가 인정하는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최고 등급 파트너 섬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승격시켜야 한다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just"/>
            <a:endParaRPr lang="en-US" altLang="ko-KR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중간 감사 시스템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특정 주기마다 본사에서 감사원이 파견되어 경제 지표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NPC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행복도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체크합니다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성적이 좋으면 인센티브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특수 </a:t>
            </a:r>
            <a:r>
              <a:rPr lang="ko-KR" altLang="en-US" sz="28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에셋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주고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나쁘면 경고를 부여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 algn="just"/>
            <a:endParaRPr lang="en-US" altLang="ko-KR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 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대화 및 관계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MBTI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성향에 따라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대사 톤과 관심사가 달라진다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예를 들어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T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경제적 효율성을 논하는 대사를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F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섬의 분위기와 친밀도에 관한 대사를 주로 던진다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endParaRPr lang="ko-KR" alt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1899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5888" y="1440581"/>
            <a:ext cx="1407795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기대효과</a:t>
            </a:r>
            <a:r>
              <a:rPr lang="en-US" sz="8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 및 </a:t>
            </a:r>
            <a:r>
              <a:rPr lang="en-US" sz="80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활용</a:t>
            </a:r>
            <a:r>
              <a:rPr lang="en-US" sz="8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 </a:t>
            </a:r>
            <a:r>
              <a:rPr lang="en-US" sz="80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방안</a:t>
            </a:r>
            <a:endParaRPr lang="en-US" sz="8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프리텐다드 Medium"/>
            </a:endParaRP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006241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9982" cy="4883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15" name="Picture 2">
            <a:extLst>
              <a:ext uri="{FF2B5EF4-FFF2-40B4-BE49-F238E27FC236}">
                <a16:creationId xmlns:a16="http://schemas.microsoft.com/office/drawing/2014/main" id="{9968AC42-473B-DD2B-7AEB-251E5928F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16" name="Google Shape;124;p16">
            <a:extLst>
              <a:ext uri="{FF2B5EF4-FFF2-40B4-BE49-F238E27FC236}">
                <a16:creationId xmlns:a16="http://schemas.microsoft.com/office/drawing/2014/main" id="{35FCAE1A-FB1F-DD9D-AFA7-0323BFB52942}"/>
              </a:ext>
            </a:extLst>
          </p:cNvPr>
          <p:cNvSpPr/>
          <p:nvPr/>
        </p:nvSpPr>
        <p:spPr>
          <a:xfrm>
            <a:off x="871538" y="1440581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FA92E635-CC64-B805-85F7-3E565696C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grpSp>
        <p:nvGrpSpPr>
          <p:cNvPr id="42" name="Group 10">
            <a:extLst>
              <a:ext uri="{FF2B5EF4-FFF2-40B4-BE49-F238E27FC236}">
                <a16:creationId xmlns:a16="http://schemas.microsoft.com/office/drawing/2014/main" id="{39700EE0-E0CE-E824-EF28-3D40DD1DBF29}"/>
              </a:ext>
            </a:extLst>
          </p:cNvPr>
          <p:cNvGrpSpPr/>
          <p:nvPr/>
        </p:nvGrpSpPr>
        <p:grpSpPr>
          <a:xfrm>
            <a:off x="839495" y="4190568"/>
            <a:ext cx="4875404" cy="3006616"/>
            <a:chOff x="0" y="0"/>
            <a:chExt cx="1284057" cy="791866"/>
          </a:xfrm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90C82253-04ED-90A3-E201-E8B197E37FCD}"/>
                </a:ext>
              </a:extLst>
            </p:cNvPr>
            <p:cNvSpPr/>
            <p:nvPr/>
          </p:nvSpPr>
          <p:spPr>
            <a:xfrm>
              <a:off x="0" y="0"/>
              <a:ext cx="1284057" cy="791866"/>
            </a:xfrm>
            <a:custGeom>
              <a:avLst/>
              <a:gdLst/>
              <a:ahLst/>
              <a:cxnLst/>
              <a:rect l="l" t="t" r="r" b="b"/>
              <a:pathLst>
                <a:path w="1284057" h="791866">
                  <a:moveTo>
                    <a:pt x="0" y="0"/>
                  </a:moveTo>
                  <a:lnTo>
                    <a:pt x="1284057" y="0"/>
                  </a:lnTo>
                  <a:lnTo>
                    <a:pt x="1284057" y="791866"/>
                  </a:lnTo>
                  <a:lnTo>
                    <a:pt x="0" y="791866"/>
                  </a:lnTo>
                  <a:close/>
                </a:path>
              </a:pathLst>
            </a:custGeom>
            <a:solidFill>
              <a:srgbClr val="FDFDFB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0681BB24-F468-E008-4EBE-7347954EC4BA}"/>
                </a:ext>
              </a:extLst>
            </p:cNvPr>
            <p:cNvSpPr txBox="1"/>
            <p:nvPr/>
          </p:nvSpPr>
          <p:spPr>
            <a:xfrm>
              <a:off x="0" y="-28575"/>
              <a:ext cx="1284057" cy="82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33"/>
                </a:lnSpc>
                <a:spcBef>
                  <a:spcPct val="0"/>
                </a:spcBef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5" name="Group 13">
            <a:extLst>
              <a:ext uri="{FF2B5EF4-FFF2-40B4-BE49-F238E27FC236}">
                <a16:creationId xmlns:a16="http://schemas.microsoft.com/office/drawing/2014/main" id="{84413E26-C99E-D1D6-6B24-AD87D56D8AC3}"/>
              </a:ext>
            </a:extLst>
          </p:cNvPr>
          <p:cNvGrpSpPr/>
          <p:nvPr/>
        </p:nvGrpSpPr>
        <p:grpSpPr>
          <a:xfrm>
            <a:off x="839495" y="4190568"/>
            <a:ext cx="4875404" cy="892334"/>
            <a:chOff x="0" y="0"/>
            <a:chExt cx="1284057" cy="235018"/>
          </a:xfrm>
        </p:grpSpPr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E29AFAF-2745-2D0A-1392-6FA2A4D9A7EC}"/>
                </a:ext>
              </a:extLst>
            </p:cNvPr>
            <p:cNvSpPr/>
            <p:nvPr/>
          </p:nvSpPr>
          <p:spPr>
            <a:xfrm>
              <a:off x="0" y="0"/>
              <a:ext cx="1284057" cy="235018"/>
            </a:xfrm>
            <a:custGeom>
              <a:avLst/>
              <a:gdLst/>
              <a:ahLst/>
              <a:cxnLst/>
              <a:rect l="l" t="t" r="r" b="b"/>
              <a:pathLst>
                <a:path w="1284057" h="235018">
                  <a:moveTo>
                    <a:pt x="0" y="0"/>
                  </a:moveTo>
                  <a:lnTo>
                    <a:pt x="1284057" y="0"/>
                  </a:lnTo>
                  <a:lnTo>
                    <a:pt x="1284057" y="235018"/>
                  </a:lnTo>
                  <a:lnTo>
                    <a:pt x="0" y="235018"/>
                  </a:ln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7" name="TextBox 15">
              <a:extLst>
                <a:ext uri="{FF2B5EF4-FFF2-40B4-BE49-F238E27FC236}">
                  <a16:creationId xmlns:a16="http://schemas.microsoft.com/office/drawing/2014/main" id="{FA7C65AA-6D47-FBD2-0084-EDDC88F288E1}"/>
                </a:ext>
              </a:extLst>
            </p:cNvPr>
            <p:cNvSpPr txBox="1"/>
            <p:nvPr/>
          </p:nvSpPr>
          <p:spPr>
            <a:xfrm>
              <a:off x="0" y="-28575"/>
              <a:ext cx="1284057" cy="263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33"/>
                </a:lnSpc>
                <a:spcBef>
                  <a:spcPct val="0"/>
                </a:spcBef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8" name="TextBox 16">
            <a:extLst>
              <a:ext uri="{FF2B5EF4-FFF2-40B4-BE49-F238E27FC236}">
                <a16:creationId xmlns:a16="http://schemas.microsoft.com/office/drawing/2014/main" id="{0484135E-67CF-AD3F-6483-0BBE5243523C}"/>
              </a:ext>
            </a:extLst>
          </p:cNvPr>
          <p:cNvSpPr txBox="1"/>
          <p:nvPr/>
        </p:nvSpPr>
        <p:spPr>
          <a:xfrm>
            <a:off x="2065852" y="4323918"/>
            <a:ext cx="2422689" cy="540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sz="3149" b="1" spc="-16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장르 혁신</a:t>
            </a:r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CECC5F1F-DF91-7387-8DAB-E49F1391D696}"/>
              </a:ext>
            </a:extLst>
          </p:cNvPr>
          <p:cNvSpPr txBox="1"/>
          <p:nvPr/>
        </p:nvSpPr>
        <p:spPr>
          <a:xfrm>
            <a:off x="1213930" y="5378177"/>
            <a:ext cx="408755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Project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P.A.는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Cozy Management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장르를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혁신하며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,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다양한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플레이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스타일을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지원하여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새로운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시장을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창출할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것으로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100" b="1" u="none" strike="noStrike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기대</a:t>
            </a:r>
            <a:r>
              <a:rPr lang="ko-KR" altLang="en-US" sz="2100" b="1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합니다</a:t>
            </a: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.</a:t>
            </a:r>
          </a:p>
        </p:txBody>
      </p:sp>
      <p:grpSp>
        <p:nvGrpSpPr>
          <p:cNvPr id="50" name="Group 19">
            <a:extLst>
              <a:ext uri="{FF2B5EF4-FFF2-40B4-BE49-F238E27FC236}">
                <a16:creationId xmlns:a16="http://schemas.microsoft.com/office/drawing/2014/main" id="{8CC0099F-C58B-B2C3-20C5-845DF2D01749}"/>
              </a:ext>
            </a:extLst>
          </p:cNvPr>
          <p:cNvGrpSpPr/>
          <p:nvPr/>
        </p:nvGrpSpPr>
        <p:grpSpPr>
          <a:xfrm>
            <a:off x="6707097" y="4190568"/>
            <a:ext cx="4875404" cy="3006616"/>
            <a:chOff x="0" y="0"/>
            <a:chExt cx="1284057" cy="791866"/>
          </a:xfrm>
        </p:grpSpPr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A596EC96-F925-2785-FC32-C496D302EF7B}"/>
                </a:ext>
              </a:extLst>
            </p:cNvPr>
            <p:cNvSpPr/>
            <p:nvPr/>
          </p:nvSpPr>
          <p:spPr>
            <a:xfrm>
              <a:off x="0" y="0"/>
              <a:ext cx="1284057" cy="791866"/>
            </a:xfrm>
            <a:custGeom>
              <a:avLst/>
              <a:gdLst/>
              <a:ahLst/>
              <a:cxnLst/>
              <a:rect l="l" t="t" r="r" b="b"/>
              <a:pathLst>
                <a:path w="1284057" h="791866">
                  <a:moveTo>
                    <a:pt x="0" y="0"/>
                  </a:moveTo>
                  <a:lnTo>
                    <a:pt x="1284057" y="0"/>
                  </a:lnTo>
                  <a:lnTo>
                    <a:pt x="1284057" y="791866"/>
                  </a:lnTo>
                  <a:lnTo>
                    <a:pt x="0" y="791866"/>
                  </a:lnTo>
                  <a:close/>
                </a:path>
              </a:pathLst>
            </a:custGeom>
            <a:solidFill>
              <a:srgbClr val="FDFDFB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2" name="TextBox 21">
              <a:extLst>
                <a:ext uri="{FF2B5EF4-FFF2-40B4-BE49-F238E27FC236}">
                  <a16:creationId xmlns:a16="http://schemas.microsoft.com/office/drawing/2014/main" id="{0EFEBE57-0E34-1760-1040-D35D74998F3B}"/>
                </a:ext>
              </a:extLst>
            </p:cNvPr>
            <p:cNvSpPr txBox="1"/>
            <p:nvPr/>
          </p:nvSpPr>
          <p:spPr>
            <a:xfrm>
              <a:off x="0" y="-28575"/>
              <a:ext cx="1284057" cy="82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33"/>
                </a:lnSpc>
                <a:spcBef>
                  <a:spcPct val="0"/>
                </a:spcBef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3" name="Group 22">
            <a:extLst>
              <a:ext uri="{FF2B5EF4-FFF2-40B4-BE49-F238E27FC236}">
                <a16:creationId xmlns:a16="http://schemas.microsoft.com/office/drawing/2014/main" id="{FB8F220E-FEFC-56DB-DA16-548B448824B4}"/>
              </a:ext>
            </a:extLst>
          </p:cNvPr>
          <p:cNvGrpSpPr/>
          <p:nvPr/>
        </p:nvGrpSpPr>
        <p:grpSpPr>
          <a:xfrm>
            <a:off x="6707097" y="4190568"/>
            <a:ext cx="4875404" cy="892334"/>
            <a:chOff x="0" y="0"/>
            <a:chExt cx="1284057" cy="235018"/>
          </a:xfrm>
        </p:grpSpPr>
        <p:sp>
          <p:nvSpPr>
            <p:cNvPr id="54" name="Freeform 23">
              <a:extLst>
                <a:ext uri="{FF2B5EF4-FFF2-40B4-BE49-F238E27FC236}">
                  <a16:creationId xmlns:a16="http://schemas.microsoft.com/office/drawing/2014/main" id="{605A664C-B989-EB7E-3712-68A07FB25758}"/>
                </a:ext>
              </a:extLst>
            </p:cNvPr>
            <p:cNvSpPr/>
            <p:nvPr/>
          </p:nvSpPr>
          <p:spPr>
            <a:xfrm>
              <a:off x="0" y="0"/>
              <a:ext cx="1284057" cy="235018"/>
            </a:xfrm>
            <a:custGeom>
              <a:avLst/>
              <a:gdLst/>
              <a:ahLst/>
              <a:cxnLst/>
              <a:rect l="l" t="t" r="r" b="b"/>
              <a:pathLst>
                <a:path w="1284057" h="235018">
                  <a:moveTo>
                    <a:pt x="0" y="0"/>
                  </a:moveTo>
                  <a:lnTo>
                    <a:pt x="1284057" y="0"/>
                  </a:lnTo>
                  <a:lnTo>
                    <a:pt x="1284057" y="235018"/>
                  </a:lnTo>
                  <a:lnTo>
                    <a:pt x="0" y="235018"/>
                  </a:ln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95C49458-8F42-F6EC-7A0D-360C5823100B}"/>
                </a:ext>
              </a:extLst>
            </p:cNvPr>
            <p:cNvSpPr txBox="1"/>
            <p:nvPr/>
          </p:nvSpPr>
          <p:spPr>
            <a:xfrm>
              <a:off x="0" y="-28575"/>
              <a:ext cx="1284057" cy="263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33"/>
                </a:lnSpc>
                <a:spcBef>
                  <a:spcPct val="0"/>
                </a:spcBef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6" name="TextBox 25">
            <a:extLst>
              <a:ext uri="{FF2B5EF4-FFF2-40B4-BE49-F238E27FC236}">
                <a16:creationId xmlns:a16="http://schemas.microsoft.com/office/drawing/2014/main" id="{03C1B395-DAA8-DECC-E4ED-4F64EC9C33FA}"/>
              </a:ext>
            </a:extLst>
          </p:cNvPr>
          <p:cNvSpPr txBox="1"/>
          <p:nvPr/>
        </p:nvSpPr>
        <p:spPr>
          <a:xfrm>
            <a:off x="7320275" y="4347190"/>
            <a:ext cx="3649047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sz="2800" b="1" spc="-16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효율적</a:t>
            </a:r>
            <a:r>
              <a:rPr lang="en-US" sz="2800" b="1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800" b="1" spc="-16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개발</a:t>
            </a:r>
            <a:r>
              <a:rPr lang="en-US" sz="2800" b="1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800" b="1" spc="-16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모델</a:t>
            </a:r>
            <a:r>
              <a:rPr lang="en-US" sz="2800" b="1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</a:t>
            </a:r>
            <a:r>
              <a:rPr lang="en-US" sz="2800" b="1" spc="-16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구축</a:t>
            </a:r>
            <a:endParaRPr lang="en-US" sz="2800" b="1" spc="-160" dirty="0">
              <a:solidFill>
                <a:srgbClr val="22222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  <p:sp>
        <p:nvSpPr>
          <p:cNvPr id="57" name="TextBox 26">
            <a:extLst>
              <a:ext uri="{FF2B5EF4-FFF2-40B4-BE49-F238E27FC236}">
                <a16:creationId xmlns:a16="http://schemas.microsoft.com/office/drawing/2014/main" id="{7EE60001-D659-77E3-C93D-79BB09EFA15F}"/>
              </a:ext>
            </a:extLst>
          </p:cNvPr>
          <p:cNvSpPr txBox="1"/>
          <p:nvPr/>
        </p:nvSpPr>
        <p:spPr>
          <a:xfrm>
            <a:off x="7081532" y="5378177"/>
            <a:ext cx="408755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AI 모델링 도구를 적극 활용하여 1인 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개발자가 직면하는 리소스 부족 문제를 해결하고, 퀄리티 있는 결과물을 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창출하는 표준 파이프라인을 입증한다.</a:t>
            </a:r>
          </a:p>
        </p:txBody>
      </p:sp>
      <p:grpSp>
        <p:nvGrpSpPr>
          <p:cNvPr id="58" name="Group 27">
            <a:extLst>
              <a:ext uri="{FF2B5EF4-FFF2-40B4-BE49-F238E27FC236}">
                <a16:creationId xmlns:a16="http://schemas.microsoft.com/office/drawing/2014/main" id="{77431C3E-98B4-B0B5-09BB-A76E987F84D3}"/>
              </a:ext>
            </a:extLst>
          </p:cNvPr>
          <p:cNvGrpSpPr/>
          <p:nvPr/>
        </p:nvGrpSpPr>
        <p:grpSpPr>
          <a:xfrm>
            <a:off x="12573101" y="4190568"/>
            <a:ext cx="4875404" cy="3006616"/>
            <a:chOff x="0" y="0"/>
            <a:chExt cx="1284057" cy="791866"/>
          </a:xfrm>
        </p:grpSpPr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6EE9EC28-908A-06E0-F57F-5AA8F4E7590A}"/>
                </a:ext>
              </a:extLst>
            </p:cNvPr>
            <p:cNvSpPr/>
            <p:nvPr/>
          </p:nvSpPr>
          <p:spPr>
            <a:xfrm>
              <a:off x="0" y="0"/>
              <a:ext cx="1284057" cy="791866"/>
            </a:xfrm>
            <a:custGeom>
              <a:avLst/>
              <a:gdLst/>
              <a:ahLst/>
              <a:cxnLst/>
              <a:rect l="l" t="t" r="r" b="b"/>
              <a:pathLst>
                <a:path w="1284057" h="791866">
                  <a:moveTo>
                    <a:pt x="0" y="0"/>
                  </a:moveTo>
                  <a:lnTo>
                    <a:pt x="1284057" y="0"/>
                  </a:lnTo>
                  <a:lnTo>
                    <a:pt x="1284057" y="791866"/>
                  </a:lnTo>
                  <a:lnTo>
                    <a:pt x="0" y="791866"/>
                  </a:lnTo>
                  <a:close/>
                </a:path>
              </a:pathLst>
            </a:custGeom>
            <a:solidFill>
              <a:srgbClr val="FDFDFB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0" name="TextBox 29">
              <a:extLst>
                <a:ext uri="{FF2B5EF4-FFF2-40B4-BE49-F238E27FC236}">
                  <a16:creationId xmlns:a16="http://schemas.microsoft.com/office/drawing/2014/main" id="{13A373A5-187A-403A-D393-A7E3885905DA}"/>
                </a:ext>
              </a:extLst>
            </p:cNvPr>
            <p:cNvSpPr txBox="1"/>
            <p:nvPr/>
          </p:nvSpPr>
          <p:spPr>
            <a:xfrm>
              <a:off x="0" y="-28575"/>
              <a:ext cx="1284057" cy="82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33"/>
                </a:lnSpc>
                <a:spcBef>
                  <a:spcPct val="0"/>
                </a:spcBef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1" name="Group 30">
            <a:extLst>
              <a:ext uri="{FF2B5EF4-FFF2-40B4-BE49-F238E27FC236}">
                <a16:creationId xmlns:a16="http://schemas.microsoft.com/office/drawing/2014/main" id="{7F405A1F-FE43-4C72-F00E-2A36667527F2}"/>
              </a:ext>
            </a:extLst>
          </p:cNvPr>
          <p:cNvGrpSpPr/>
          <p:nvPr/>
        </p:nvGrpSpPr>
        <p:grpSpPr>
          <a:xfrm>
            <a:off x="12573101" y="4190568"/>
            <a:ext cx="4875404" cy="892334"/>
            <a:chOff x="0" y="0"/>
            <a:chExt cx="1284057" cy="235018"/>
          </a:xfrm>
        </p:grpSpPr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B4262E2E-0BF2-D686-028C-EFD389F800EB}"/>
                </a:ext>
              </a:extLst>
            </p:cNvPr>
            <p:cNvSpPr/>
            <p:nvPr/>
          </p:nvSpPr>
          <p:spPr>
            <a:xfrm>
              <a:off x="0" y="0"/>
              <a:ext cx="1284057" cy="235018"/>
            </a:xfrm>
            <a:custGeom>
              <a:avLst/>
              <a:gdLst/>
              <a:ahLst/>
              <a:cxnLst/>
              <a:rect l="l" t="t" r="r" b="b"/>
              <a:pathLst>
                <a:path w="1284057" h="235018">
                  <a:moveTo>
                    <a:pt x="0" y="0"/>
                  </a:moveTo>
                  <a:lnTo>
                    <a:pt x="1284057" y="0"/>
                  </a:lnTo>
                  <a:lnTo>
                    <a:pt x="1284057" y="235018"/>
                  </a:lnTo>
                  <a:lnTo>
                    <a:pt x="0" y="235018"/>
                  </a:ln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3" name="TextBox 32">
              <a:extLst>
                <a:ext uri="{FF2B5EF4-FFF2-40B4-BE49-F238E27FC236}">
                  <a16:creationId xmlns:a16="http://schemas.microsoft.com/office/drawing/2014/main" id="{5DEE9F48-87D9-BF22-0DFA-00BF684E2385}"/>
                </a:ext>
              </a:extLst>
            </p:cNvPr>
            <p:cNvSpPr txBox="1"/>
            <p:nvPr/>
          </p:nvSpPr>
          <p:spPr>
            <a:xfrm>
              <a:off x="0" y="-28575"/>
              <a:ext cx="1284057" cy="263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33"/>
                </a:lnSpc>
                <a:spcBef>
                  <a:spcPct val="0"/>
                </a:spcBef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4" name="TextBox 33">
            <a:extLst>
              <a:ext uri="{FF2B5EF4-FFF2-40B4-BE49-F238E27FC236}">
                <a16:creationId xmlns:a16="http://schemas.microsoft.com/office/drawing/2014/main" id="{89E7C0B5-B3A9-65E7-C5BE-73A771F9AD79}"/>
              </a:ext>
            </a:extLst>
          </p:cNvPr>
          <p:cNvSpPr txBox="1"/>
          <p:nvPr/>
        </p:nvSpPr>
        <p:spPr>
          <a:xfrm>
            <a:off x="13186280" y="4347190"/>
            <a:ext cx="3649047" cy="540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sz="3149" b="1" spc="-16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크로스 플랫폼 시장성</a:t>
            </a:r>
          </a:p>
        </p:txBody>
      </p:sp>
      <p:sp>
        <p:nvSpPr>
          <p:cNvPr id="65" name="TextBox 34">
            <a:extLst>
              <a:ext uri="{FF2B5EF4-FFF2-40B4-BE49-F238E27FC236}">
                <a16:creationId xmlns:a16="http://schemas.microsoft.com/office/drawing/2014/main" id="{7F7785EB-92C4-5153-0C13-1803DD661D81}"/>
              </a:ext>
            </a:extLst>
          </p:cNvPr>
          <p:cNvSpPr txBox="1"/>
          <p:nvPr/>
        </p:nvSpPr>
        <p:spPr>
          <a:xfrm>
            <a:off x="12947536" y="5378177"/>
            <a:ext cx="4087550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spc="-73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PC의 정밀함과</a:t>
            </a:r>
            <a:r>
              <a:rPr lang="en-US" sz="2100" b="1" u="none" strike="noStrike" spc="-73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모바일의 접근성을 결합하여 폭넓은 사용자 층을 확보할 수 있는 상업적 가능성을 확보한다.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5999-A60B-AEBC-A1E1-E999055C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B34A230-C726-CADD-BEAB-94E2605C1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5ABD281-E0DB-968F-0C39-08AA920A6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5" name="Google Shape;93;p14">
            <a:extLst>
              <a:ext uri="{FF2B5EF4-FFF2-40B4-BE49-F238E27FC236}">
                <a16:creationId xmlns:a16="http://schemas.microsoft.com/office/drawing/2014/main" id="{5D416808-1797-8794-02BF-DEBBC812CD4B}"/>
              </a:ext>
            </a:extLst>
          </p:cNvPr>
          <p:cNvSpPr txBox="1"/>
          <p:nvPr/>
        </p:nvSpPr>
        <p:spPr>
          <a:xfrm>
            <a:off x="457915" y="4489176"/>
            <a:ext cx="17372171" cy="1892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600" dirty="0">
                <a:solidFill>
                  <a:srgbClr val="06402B"/>
                </a:solidFill>
                <a:latin typeface="GangwonEduPower" panose="020B0600000101010101" charset="-127"/>
                <a:ea typeface="GangwonEduPower" panose="020B0600000101010101" charset="-127"/>
              </a:rPr>
              <a:t>피드백 반영</a:t>
            </a:r>
            <a:endParaRPr lang="ko-KR" altLang="ko-KR" sz="9600" dirty="0">
              <a:solidFill>
                <a:srgbClr val="06402B"/>
              </a:solidFill>
              <a:latin typeface="GangwonEduPower" panose="020B0600000101010101" charset="-127"/>
              <a:ea typeface="GangwonEduPower" panose="020B0600000101010101" charset="-127"/>
            </a:endParaRPr>
          </a:p>
          <a:p>
            <a:pPr algn="ctr"/>
            <a:endParaRPr sz="2700" dirty="0">
              <a:latin typeface="GangwonEduPower" panose="020B0600000101010101" charset="-127"/>
              <a:ea typeface="GangwonEduPowe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4621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B664C-C72D-74AC-7B5F-4321514C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6592DBC-9539-7E5E-B16F-ADD2AE932828}"/>
              </a:ext>
            </a:extLst>
          </p:cNvPr>
          <p:cNvSpPr txBox="1"/>
          <p:nvPr/>
        </p:nvSpPr>
        <p:spPr>
          <a:xfrm>
            <a:off x="1385888" y="1257300"/>
            <a:ext cx="1407795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624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아이템 엔티티 설계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00624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프리텐다드 Medium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5D5EC95-5C70-5F2B-4CA2-A201B876D84A}"/>
              </a:ext>
            </a:extLst>
          </p:cNvPr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2FB510D-F7E0-E57B-7BDF-E120A396A92E}"/>
                </a:ext>
              </a:extLst>
            </p:cNvPr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006241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C211B57E-04CF-CB0A-E982-A5D7DE3582CF}"/>
                </a:ext>
              </a:extLst>
            </p:cNvPr>
            <p:cNvSpPr txBox="1"/>
            <p:nvPr/>
          </p:nvSpPr>
          <p:spPr>
            <a:xfrm>
              <a:off x="0" y="-57150"/>
              <a:ext cx="49982" cy="4883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3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15" name="Picture 2">
            <a:extLst>
              <a:ext uri="{FF2B5EF4-FFF2-40B4-BE49-F238E27FC236}">
                <a16:creationId xmlns:a16="http://schemas.microsoft.com/office/drawing/2014/main" id="{FEB09C39-BE32-4188-86A9-B47115CE9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16" name="Google Shape;124;p16">
            <a:extLst>
              <a:ext uri="{FF2B5EF4-FFF2-40B4-BE49-F238E27FC236}">
                <a16:creationId xmlns:a16="http://schemas.microsoft.com/office/drawing/2014/main" id="{EDD5F89A-315B-C4F7-07BB-88602BA171DF}"/>
              </a:ext>
            </a:extLst>
          </p:cNvPr>
          <p:cNvSpPr/>
          <p:nvPr/>
        </p:nvSpPr>
        <p:spPr>
          <a:xfrm>
            <a:off x="871538" y="1333500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3AA1E589-59FC-A431-12D4-45BC6C882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grpSp>
        <p:nvGrpSpPr>
          <p:cNvPr id="42" name="Group 10">
            <a:extLst>
              <a:ext uri="{FF2B5EF4-FFF2-40B4-BE49-F238E27FC236}">
                <a16:creationId xmlns:a16="http://schemas.microsoft.com/office/drawing/2014/main" id="{9AE81254-3802-8275-E774-D386283CBF73}"/>
              </a:ext>
            </a:extLst>
          </p:cNvPr>
          <p:cNvGrpSpPr/>
          <p:nvPr/>
        </p:nvGrpSpPr>
        <p:grpSpPr>
          <a:xfrm>
            <a:off x="839495" y="3060101"/>
            <a:ext cx="6475704" cy="5786318"/>
            <a:chOff x="0" y="0"/>
            <a:chExt cx="1284057" cy="791866"/>
          </a:xfrm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8F2E29F6-FFB7-CE2F-4543-72A4C6FFD10B}"/>
                </a:ext>
              </a:extLst>
            </p:cNvPr>
            <p:cNvSpPr/>
            <p:nvPr/>
          </p:nvSpPr>
          <p:spPr>
            <a:xfrm>
              <a:off x="0" y="0"/>
              <a:ext cx="1284057" cy="791866"/>
            </a:xfrm>
            <a:custGeom>
              <a:avLst/>
              <a:gdLst/>
              <a:ahLst/>
              <a:cxnLst/>
              <a:rect l="l" t="t" r="r" b="b"/>
              <a:pathLst>
                <a:path w="1284057" h="791866">
                  <a:moveTo>
                    <a:pt x="0" y="0"/>
                  </a:moveTo>
                  <a:lnTo>
                    <a:pt x="1284057" y="0"/>
                  </a:lnTo>
                  <a:lnTo>
                    <a:pt x="1284057" y="791866"/>
                  </a:lnTo>
                  <a:lnTo>
                    <a:pt x="0" y="791866"/>
                  </a:lnTo>
                  <a:close/>
                </a:path>
              </a:pathLst>
            </a:custGeom>
            <a:solidFill>
              <a:srgbClr val="FDFDFB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2F522648-7BB4-E51E-5C18-B894F7CC6429}"/>
                </a:ext>
              </a:extLst>
            </p:cNvPr>
            <p:cNvSpPr txBox="1"/>
            <p:nvPr/>
          </p:nvSpPr>
          <p:spPr>
            <a:xfrm>
              <a:off x="0" y="-28575"/>
              <a:ext cx="1284057" cy="82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3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5" name="Group 13">
            <a:extLst>
              <a:ext uri="{FF2B5EF4-FFF2-40B4-BE49-F238E27FC236}">
                <a16:creationId xmlns:a16="http://schemas.microsoft.com/office/drawing/2014/main" id="{86A8CA7C-FCF9-9810-F4DB-BD5221CD0523}"/>
              </a:ext>
            </a:extLst>
          </p:cNvPr>
          <p:cNvGrpSpPr/>
          <p:nvPr/>
        </p:nvGrpSpPr>
        <p:grpSpPr>
          <a:xfrm>
            <a:off x="835679" y="2842113"/>
            <a:ext cx="6475705" cy="892334"/>
            <a:chOff x="0" y="0"/>
            <a:chExt cx="1284057" cy="235018"/>
          </a:xfrm>
        </p:grpSpPr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D4789BF-0DD2-C1C8-A904-ECC5CE12C81C}"/>
                </a:ext>
              </a:extLst>
            </p:cNvPr>
            <p:cNvSpPr/>
            <p:nvPr/>
          </p:nvSpPr>
          <p:spPr>
            <a:xfrm>
              <a:off x="0" y="0"/>
              <a:ext cx="1284057" cy="235018"/>
            </a:xfrm>
            <a:custGeom>
              <a:avLst/>
              <a:gdLst/>
              <a:ahLst/>
              <a:cxnLst/>
              <a:rect l="l" t="t" r="r" b="b"/>
              <a:pathLst>
                <a:path w="1284057" h="235018">
                  <a:moveTo>
                    <a:pt x="0" y="0"/>
                  </a:moveTo>
                  <a:lnTo>
                    <a:pt x="1284057" y="0"/>
                  </a:lnTo>
                  <a:lnTo>
                    <a:pt x="1284057" y="235018"/>
                  </a:lnTo>
                  <a:lnTo>
                    <a:pt x="0" y="235018"/>
                  </a:ln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7" name="TextBox 15">
              <a:extLst>
                <a:ext uri="{FF2B5EF4-FFF2-40B4-BE49-F238E27FC236}">
                  <a16:creationId xmlns:a16="http://schemas.microsoft.com/office/drawing/2014/main" id="{C4FD2415-5B96-249D-AC9E-DCFBA41FB6C4}"/>
                </a:ext>
              </a:extLst>
            </p:cNvPr>
            <p:cNvSpPr txBox="1"/>
            <p:nvPr/>
          </p:nvSpPr>
          <p:spPr>
            <a:xfrm>
              <a:off x="0" y="-28575"/>
              <a:ext cx="1284057" cy="263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3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8" name="TextBox 16">
            <a:extLst>
              <a:ext uri="{FF2B5EF4-FFF2-40B4-BE49-F238E27FC236}">
                <a16:creationId xmlns:a16="http://schemas.microsoft.com/office/drawing/2014/main" id="{65C76D03-A5CD-09C7-2413-F03B9B1CF97F}"/>
              </a:ext>
            </a:extLst>
          </p:cNvPr>
          <p:cNvSpPr txBox="1"/>
          <p:nvPr/>
        </p:nvSpPr>
        <p:spPr>
          <a:xfrm>
            <a:off x="2029756" y="2998973"/>
            <a:ext cx="4087549" cy="52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59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6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ItemData</a:t>
            </a:r>
            <a:r>
              <a: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</a:t>
            </a:r>
            <a:r>
              <a:rPr kumimoji="0" lang="en-US" sz="2800" b="1" i="0" u="none" strike="noStrike" kern="1200" cap="none" spc="-16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ScriptableObject</a:t>
            </a:r>
            <a:r>
              <a: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</a:t>
            </a:r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4445BB3B-3E48-8ABA-0CBF-0D2EF12E18CB}"/>
              </a:ext>
            </a:extLst>
          </p:cNvPr>
          <p:cNvSpPr txBox="1"/>
          <p:nvPr/>
        </p:nvSpPr>
        <p:spPr>
          <a:xfrm>
            <a:off x="1752600" y="3852128"/>
            <a:ext cx="5029200" cy="492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ItemID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(int):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고유 식별 번호 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(PK)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ItemType (Enum): Raw(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원목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), </a:t>
            </a:r>
            <a:r>
              <a:rPr kumimoji="0" 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Processed(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판재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), </a:t>
            </a:r>
            <a:r>
              <a:rPr kumimoji="0" 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Furniture(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의자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BaseBuyPrice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(int): NPC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로부터 매입할 때의 기준가</a:t>
            </a:r>
            <a:endParaRPr kumimoji="0" lang="en-US" altLang="ko-KR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IdealSellPrice</a:t>
            </a:r>
            <a:r>
              <a:rPr kumimoji="0" 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(int):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시스템 권장 판매가</a:t>
            </a:r>
            <a:endParaRPr kumimoji="0" lang="en-US" altLang="ko-KR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MBTISensitivity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(float[]): [S, N, P, J]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각 성향에 대한 가격 저항선 가중치</a:t>
            </a:r>
            <a:endParaRPr kumimoji="0" lang="en-US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45295158-4DD0-C5E3-20E6-77D4F9BC6F68}"/>
              </a:ext>
            </a:extLst>
          </p:cNvPr>
          <p:cNvGrpSpPr/>
          <p:nvPr/>
        </p:nvGrpSpPr>
        <p:grpSpPr>
          <a:xfrm>
            <a:off x="10972801" y="2084888"/>
            <a:ext cx="6475704" cy="4561173"/>
            <a:chOff x="0" y="0"/>
            <a:chExt cx="1284057" cy="791866"/>
          </a:xfrm>
        </p:grpSpPr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10C3F640-8EF1-82BA-A3FC-0450268E7D89}"/>
                </a:ext>
              </a:extLst>
            </p:cNvPr>
            <p:cNvSpPr/>
            <p:nvPr/>
          </p:nvSpPr>
          <p:spPr>
            <a:xfrm>
              <a:off x="0" y="0"/>
              <a:ext cx="1284057" cy="791866"/>
            </a:xfrm>
            <a:custGeom>
              <a:avLst/>
              <a:gdLst/>
              <a:ahLst/>
              <a:cxnLst/>
              <a:rect l="l" t="t" r="r" b="b"/>
              <a:pathLst>
                <a:path w="1284057" h="791866">
                  <a:moveTo>
                    <a:pt x="0" y="0"/>
                  </a:moveTo>
                  <a:lnTo>
                    <a:pt x="1284057" y="0"/>
                  </a:lnTo>
                  <a:lnTo>
                    <a:pt x="1284057" y="791866"/>
                  </a:lnTo>
                  <a:lnTo>
                    <a:pt x="0" y="791866"/>
                  </a:lnTo>
                  <a:close/>
                </a:path>
              </a:pathLst>
            </a:custGeom>
            <a:solidFill>
              <a:srgbClr val="FDFDFB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" name="TextBox 12">
              <a:extLst>
                <a:ext uri="{FF2B5EF4-FFF2-40B4-BE49-F238E27FC236}">
                  <a16:creationId xmlns:a16="http://schemas.microsoft.com/office/drawing/2014/main" id="{7876B9C8-323F-DDC1-B29C-8046B0F33DC4}"/>
                </a:ext>
              </a:extLst>
            </p:cNvPr>
            <p:cNvSpPr txBox="1"/>
            <p:nvPr/>
          </p:nvSpPr>
          <p:spPr>
            <a:xfrm>
              <a:off x="0" y="-28575"/>
              <a:ext cx="1284057" cy="82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3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" name="Group 13">
            <a:extLst>
              <a:ext uri="{FF2B5EF4-FFF2-40B4-BE49-F238E27FC236}">
                <a16:creationId xmlns:a16="http://schemas.microsoft.com/office/drawing/2014/main" id="{C64F005E-0320-FCAF-9A5E-8365A6DFB159}"/>
              </a:ext>
            </a:extLst>
          </p:cNvPr>
          <p:cNvGrpSpPr/>
          <p:nvPr/>
        </p:nvGrpSpPr>
        <p:grpSpPr>
          <a:xfrm>
            <a:off x="10968985" y="1866900"/>
            <a:ext cx="6475705" cy="892334"/>
            <a:chOff x="0" y="0"/>
            <a:chExt cx="1284057" cy="235018"/>
          </a:xfrm>
        </p:grpSpPr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92D019AF-6407-960F-8D75-1CF0A196FA02}"/>
                </a:ext>
              </a:extLst>
            </p:cNvPr>
            <p:cNvSpPr/>
            <p:nvPr/>
          </p:nvSpPr>
          <p:spPr>
            <a:xfrm>
              <a:off x="0" y="0"/>
              <a:ext cx="1284057" cy="235018"/>
            </a:xfrm>
            <a:custGeom>
              <a:avLst/>
              <a:gdLst/>
              <a:ahLst/>
              <a:cxnLst/>
              <a:rect l="l" t="t" r="r" b="b"/>
              <a:pathLst>
                <a:path w="1284057" h="235018">
                  <a:moveTo>
                    <a:pt x="0" y="0"/>
                  </a:moveTo>
                  <a:lnTo>
                    <a:pt x="1284057" y="0"/>
                  </a:lnTo>
                  <a:lnTo>
                    <a:pt x="1284057" y="235018"/>
                  </a:lnTo>
                  <a:lnTo>
                    <a:pt x="0" y="235018"/>
                  </a:ln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C8C8C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777AA202-39DB-6EF6-0100-D1F85831B779}"/>
                </a:ext>
              </a:extLst>
            </p:cNvPr>
            <p:cNvSpPr txBox="1"/>
            <p:nvPr/>
          </p:nvSpPr>
          <p:spPr>
            <a:xfrm>
              <a:off x="0" y="-28575"/>
              <a:ext cx="1284057" cy="263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3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9" name="TextBox 16">
            <a:extLst>
              <a:ext uri="{FF2B5EF4-FFF2-40B4-BE49-F238E27FC236}">
                <a16:creationId xmlns:a16="http://schemas.microsoft.com/office/drawing/2014/main" id="{3AE07B00-C6F1-427C-CDD8-25D6BFEF7A50}"/>
              </a:ext>
            </a:extLst>
          </p:cNvPr>
          <p:cNvSpPr txBox="1"/>
          <p:nvPr/>
        </p:nvSpPr>
        <p:spPr>
          <a:xfrm>
            <a:off x="12163062" y="2023760"/>
            <a:ext cx="4087549" cy="52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59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6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ItemInstance</a:t>
            </a:r>
            <a:r>
              <a: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(Class))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22898537-4CFD-FBE7-34BB-DB5056579434}"/>
              </a:ext>
            </a:extLst>
          </p:cNvPr>
          <p:cNvSpPr txBox="1"/>
          <p:nvPr/>
        </p:nvSpPr>
        <p:spPr>
          <a:xfrm>
            <a:off x="11731710" y="3107206"/>
            <a:ext cx="5029200" cy="3260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InstanceID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(</a:t>
            </a:r>
            <a:r>
              <a:rPr kumimoji="0" lang="en-US" altLang="ko-KR" sz="2400" b="1" i="0" u="none" strike="noStrike" kern="1200" cap="none" spc="-73" normalizeH="0" baseline="0" noProof="0" dirty="0" err="1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Guid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개별 아이템의 고유 식별자</a:t>
            </a:r>
            <a:endParaRPr kumimoji="0" lang="en-US" altLang="ko-KR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CurrentPrice (int):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유저가 직접 책정한 현재 가격</a:t>
            </a:r>
            <a:endParaRPr kumimoji="0" lang="en-US" altLang="ko-KR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Quality (float): 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가공 품질 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(</a:t>
            </a: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가치 상승 계수</a:t>
            </a:r>
            <a:r>
              <a:rPr kumimoji="0" lang="en-US" altLang="ko-KR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</a:t>
            </a:r>
            <a:endParaRPr kumimoji="0" lang="en-US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D5B04B9-E264-C6F3-65CD-1AC28C8C2FE6}"/>
              </a:ext>
            </a:extLst>
          </p:cNvPr>
          <p:cNvCxnSpPr>
            <a:cxnSpLocks/>
          </p:cNvCxnSpPr>
          <p:nvPr/>
        </p:nvCxnSpPr>
        <p:spPr>
          <a:xfrm>
            <a:off x="7384444" y="4945860"/>
            <a:ext cx="3560120" cy="11425"/>
          </a:xfrm>
          <a:prstGeom prst="straightConnector1">
            <a:avLst/>
          </a:prstGeom>
          <a:ln w="57150">
            <a:solidFill>
              <a:srgbClr val="06402B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6">
            <a:extLst>
              <a:ext uri="{FF2B5EF4-FFF2-40B4-BE49-F238E27FC236}">
                <a16:creationId xmlns:a16="http://schemas.microsoft.com/office/drawing/2014/main" id="{80FADFFF-0E60-86A2-7306-914E82FB00E9}"/>
              </a:ext>
            </a:extLst>
          </p:cNvPr>
          <p:cNvSpPr txBox="1"/>
          <p:nvPr/>
        </p:nvSpPr>
        <p:spPr>
          <a:xfrm>
            <a:off x="7954382" y="4229100"/>
            <a:ext cx="2634326" cy="52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59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원본 데이터 참조</a:t>
            </a:r>
            <a:endParaRPr kumimoji="0" lang="en-US" sz="2800" i="0" u="none" strike="noStrike" kern="1200" cap="none" spc="-16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3F9B7E26-4F0D-A6CC-9F3E-9FD6375B6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376886"/>
              </p:ext>
            </p:extLst>
          </p:nvPr>
        </p:nvGraphicFramePr>
        <p:xfrm>
          <a:off x="7720672" y="6896100"/>
          <a:ext cx="9724018" cy="1981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99622">
                  <a:extLst>
                    <a:ext uri="{9D8B030D-6E8A-4147-A177-3AD203B41FA5}">
                      <a16:colId xmlns:a16="http://schemas.microsoft.com/office/drawing/2014/main" val="2119690537"/>
                    </a:ext>
                  </a:extLst>
                </a:gridCol>
                <a:gridCol w="1599622">
                  <a:extLst>
                    <a:ext uri="{9D8B030D-6E8A-4147-A177-3AD203B41FA5}">
                      <a16:colId xmlns:a16="http://schemas.microsoft.com/office/drawing/2014/main" val="1176081757"/>
                    </a:ext>
                  </a:extLst>
                </a:gridCol>
                <a:gridCol w="1599622">
                  <a:extLst>
                    <a:ext uri="{9D8B030D-6E8A-4147-A177-3AD203B41FA5}">
                      <a16:colId xmlns:a16="http://schemas.microsoft.com/office/drawing/2014/main" val="1996324963"/>
                    </a:ext>
                  </a:extLst>
                </a:gridCol>
                <a:gridCol w="1599622">
                  <a:extLst>
                    <a:ext uri="{9D8B030D-6E8A-4147-A177-3AD203B41FA5}">
                      <a16:colId xmlns:a16="http://schemas.microsoft.com/office/drawing/2014/main" val="1642929564"/>
                    </a:ext>
                  </a:extLst>
                </a:gridCol>
                <a:gridCol w="1599622">
                  <a:extLst>
                    <a:ext uri="{9D8B030D-6E8A-4147-A177-3AD203B41FA5}">
                      <a16:colId xmlns:a16="http://schemas.microsoft.com/office/drawing/2014/main" val="1945378918"/>
                    </a:ext>
                  </a:extLst>
                </a:gridCol>
                <a:gridCol w="1725908">
                  <a:extLst>
                    <a:ext uri="{9D8B030D-6E8A-4147-A177-3AD203B41FA5}">
                      <a16:colId xmlns:a16="http://schemas.microsoft.com/office/drawing/2014/main" val="1827293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명칭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타입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매입가</a:t>
                      </a: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NPC→</a:t>
                      </a: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유저</a:t>
                      </a:r>
                      <a:r>
                        <a:rPr lang="en-US" altLang="ko-KR" sz="14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200" b="1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권장가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유저→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NPC)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MBTI </a:t>
                      </a: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특이점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T="101600" marB="101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5584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101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거친 원목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Raw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 G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15 G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실용적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(S) 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성향 선호 </a:t>
                      </a:r>
                    </a:p>
                  </a:txBody>
                  <a:tcPr marT="101600" marB="101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38594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205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참나무 의자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Furniture</a:t>
                      </a:r>
                    </a:p>
                  </a:txBody>
                  <a:tcPr marR="76200" marT="101600" marB="1016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R="76200" marT="101600" marB="1016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120 G</a:t>
                      </a:r>
                    </a:p>
                  </a:txBody>
                  <a:tcPr marR="76200" marT="101600" marB="1016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가치 중심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(N)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성향 선호 </a:t>
                      </a:r>
                    </a:p>
                  </a:txBody>
                  <a:tcPr marT="101600" marB="1016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689862"/>
                  </a:ext>
                </a:extLst>
              </a:tr>
            </a:tbl>
          </a:graphicData>
        </a:graphic>
      </p:graphicFrame>
      <p:sp>
        <p:nvSpPr>
          <p:cNvPr id="26" name="TextBox 17">
            <a:extLst>
              <a:ext uri="{FF2B5EF4-FFF2-40B4-BE49-F238E27FC236}">
                <a16:creationId xmlns:a16="http://schemas.microsoft.com/office/drawing/2014/main" id="{D06D836B-2DEE-BED0-B45A-BC826BA0173C}"/>
              </a:ext>
            </a:extLst>
          </p:cNvPr>
          <p:cNvSpPr txBox="1"/>
          <p:nvPr/>
        </p:nvSpPr>
        <p:spPr>
          <a:xfrm>
            <a:off x="14401800" y="8920501"/>
            <a:ext cx="3198380" cy="490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400" b="1" i="0" u="none" strike="noStrike" kern="1200" cap="none" spc="-73" normalizeH="0" baseline="0" noProof="0" dirty="0">
                <a:ln>
                  <a:noFill/>
                </a:ln>
                <a:solidFill>
                  <a:srgbClr val="4D4D4D">
                    <a:alpha val="61961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실제 아이템 데이터 예시</a:t>
            </a:r>
            <a:endParaRPr kumimoji="0" lang="en-US" sz="2400" b="1" i="0" u="none" strike="noStrike" kern="1200" cap="none" spc="-73" normalizeH="0" baseline="0" noProof="0" dirty="0">
              <a:ln>
                <a:noFill/>
              </a:ln>
              <a:solidFill>
                <a:srgbClr val="4D4D4D">
                  <a:alpha val="61961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700582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5F01C-8C23-45AD-866F-048775DC1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3F264E18-607E-283B-7B6E-9B31FA45AFEF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2890341" y="3957313"/>
            <a:ext cx="7503256" cy="1066134"/>
          </a:xfrm>
          <a:prstGeom prst="straightConnector1">
            <a:avLst/>
          </a:prstGeom>
          <a:ln w="28575">
            <a:solidFill>
              <a:srgbClr val="06402B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A005AE7-D35F-C203-C92E-DBAE00369F27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3035277" y="7019334"/>
            <a:ext cx="2184371" cy="1406504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83A751A-56FE-739E-1668-8137BFA73EA4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11356222" y="6973564"/>
            <a:ext cx="988128" cy="1421045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>
            <a:extLst>
              <a:ext uri="{FF2B5EF4-FFF2-40B4-BE49-F238E27FC236}">
                <a16:creationId xmlns:a16="http://schemas.microsoft.com/office/drawing/2014/main" id="{1BB22C0C-D5F7-AFCB-56AB-6DEBC3B42C92}"/>
              </a:ext>
            </a:extLst>
          </p:cNvPr>
          <p:cNvSpPr txBox="1"/>
          <p:nvPr/>
        </p:nvSpPr>
        <p:spPr>
          <a:xfrm>
            <a:off x="1385888" y="1104900"/>
            <a:ext cx="1407795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ko-KR" altLang="en-US" sz="8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시스템 데이터 관계도 </a:t>
            </a:r>
            <a:r>
              <a:rPr lang="en-US" altLang="ko-KR" sz="8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프리텐다드 Medium"/>
              </a:rPr>
              <a:t>(ERD)</a:t>
            </a:r>
            <a:endParaRPr lang="en-US" sz="8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프리텐다드 Medium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7820A2B-BB2A-95FC-19D3-361158D38F52}"/>
              </a:ext>
            </a:extLst>
          </p:cNvPr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1BF9793-B211-6257-5F15-B50A6E373183}"/>
                </a:ext>
              </a:extLst>
            </p:cNvPr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006241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82C4518-092E-A174-7A0A-61352C7813B7}"/>
                </a:ext>
              </a:extLst>
            </p:cNvPr>
            <p:cNvSpPr txBox="1"/>
            <p:nvPr/>
          </p:nvSpPr>
          <p:spPr>
            <a:xfrm>
              <a:off x="0" y="-57150"/>
              <a:ext cx="49982" cy="4883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15" name="Picture 2">
            <a:extLst>
              <a:ext uri="{FF2B5EF4-FFF2-40B4-BE49-F238E27FC236}">
                <a16:creationId xmlns:a16="http://schemas.microsoft.com/office/drawing/2014/main" id="{BFFDF637-5D16-4D9C-431C-315CAA6DE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sp>
        <p:nvSpPr>
          <p:cNvPr id="16" name="Google Shape;124;p16">
            <a:extLst>
              <a:ext uri="{FF2B5EF4-FFF2-40B4-BE49-F238E27FC236}">
                <a16:creationId xmlns:a16="http://schemas.microsoft.com/office/drawing/2014/main" id="{C74F33CD-619F-983C-F204-650AE16A3E5B}"/>
              </a:ext>
            </a:extLst>
          </p:cNvPr>
          <p:cNvSpPr/>
          <p:nvPr/>
        </p:nvSpPr>
        <p:spPr>
          <a:xfrm>
            <a:off x="871538" y="1181100"/>
            <a:ext cx="114300" cy="822870"/>
          </a:xfrm>
          <a:prstGeom prst="rect">
            <a:avLst/>
          </a:prstGeom>
          <a:solidFill>
            <a:srgbClr val="15704D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Calibri"/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8C47A266-B1F0-E837-73A9-7648F4AC6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619DD9D-0681-C6B6-F84A-CBF7F05C2F77}"/>
              </a:ext>
            </a:extLst>
          </p:cNvPr>
          <p:cNvGrpSpPr/>
          <p:nvPr/>
        </p:nvGrpSpPr>
        <p:grpSpPr>
          <a:xfrm>
            <a:off x="3276600" y="2468690"/>
            <a:ext cx="3886099" cy="3115112"/>
            <a:chOff x="1828799" y="4082072"/>
            <a:chExt cx="3886099" cy="311511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B59DE132-D64B-9337-FAA9-0B61EC6BF70A}"/>
                </a:ext>
              </a:extLst>
            </p:cNvPr>
            <p:cNvGrpSpPr/>
            <p:nvPr/>
          </p:nvGrpSpPr>
          <p:grpSpPr>
            <a:xfrm>
              <a:off x="1828799" y="4082072"/>
              <a:ext cx="3886099" cy="3115112"/>
              <a:chOff x="839495" y="4082072"/>
              <a:chExt cx="4875404" cy="3115112"/>
            </a:xfrm>
          </p:grpSpPr>
          <p:grpSp>
            <p:nvGrpSpPr>
              <p:cNvPr id="42" name="Group 10">
                <a:extLst>
                  <a:ext uri="{FF2B5EF4-FFF2-40B4-BE49-F238E27FC236}">
                    <a16:creationId xmlns:a16="http://schemas.microsoft.com/office/drawing/2014/main" id="{CA568022-CE44-240A-82F5-93E731E64BEB}"/>
                  </a:ext>
                </a:extLst>
              </p:cNvPr>
              <p:cNvGrpSpPr/>
              <p:nvPr/>
            </p:nvGrpSpPr>
            <p:grpSpPr>
              <a:xfrm>
                <a:off x="839495" y="4082072"/>
                <a:ext cx="4875404" cy="3115112"/>
                <a:chOff x="0" y="-28575"/>
                <a:chExt cx="1284057" cy="820441"/>
              </a:xfrm>
            </p:grpSpPr>
            <p:sp>
              <p:nvSpPr>
                <p:cNvPr id="43" name="Freeform 11">
                  <a:extLst>
                    <a:ext uri="{FF2B5EF4-FFF2-40B4-BE49-F238E27FC236}">
                      <a16:creationId xmlns:a16="http://schemas.microsoft.com/office/drawing/2014/main" id="{34F7326A-B54B-644F-78B1-5E1D953EFB4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773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791866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791866"/>
                      </a:lnTo>
                      <a:lnTo>
                        <a:pt x="0" y="791866"/>
                      </a:lnTo>
                      <a:close/>
                    </a:path>
                  </a:pathLst>
                </a:custGeom>
                <a:solidFill>
                  <a:srgbClr val="FDFDFB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44" name="TextBox 12">
                  <a:extLst>
                    <a:ext uri="{FF2B5EF4-FFF2-40B4-BE49-F238E27FC236}">
                      <a16:creationId xmlns:a16="http://schemas.microsoft.com/office/drawing/2014/main" id="{55DE9688-E2F0-A59E-B063-DD0F72A4AAEB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820441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  <p:grpSp>
            <p:nvGrpSpPr>
              <p:cNvPr id="45" name="Group 13">
                <a:extLst>
                  <a:ext uri="{FF2B5EF4-FFF2-40B4-BE49-F238E27FC236}">
                    <a16:creationId xmlns:a16="http://schemas.microsoft.com/office/drawing/2014/main" id="{0BC1DF95-BC1B-3708-A752-1B65EBCEC4CE}"/>
                  </a:ext>
                </a:extLst>
              </p:cNvPr>
              <p:cNvGrpSpPr/>
              <p:nvPr/>
            </p:nvGrpSpPr>
            <p:grpSpPr>
              <a:xfrm>
                <a:off x="839495" y="4190568"/>
                <a:ext cx="4875404" cy="848787"/>
                <a:chOff x="0" y="0"/>
                <a:chExt cx="1284057" cy="235018"/>
              </a:xfrm>
            </p:grpSpPr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FA8EF91-B6F0-E759-2B7B-21CD35594BB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235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235018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235018"/>
                      </a:lnTo>
                      <a:lnTo>
                        <a:pt x="0" y="235018"/>
                      </a:lnTo>
                      <a:close/>
                    </a:path>
                  </a:pathLst>
                </a:custGeom>
                <a:solidFill>
                  <a:srgbClr val="F1F1F1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47" name="TextBox 15">
                  <a:extLst>
                    <a:ext uri="{FF2B5EF4-FFF2-40B4-BE49-F238E27FC236}">
                      <a16:creationId xmlns:a16="http://schemas.microsoft.com/office/drawing/2014/main" id="{B20231AA-6D65-1500-E477-82B615614491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26359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</p:grpSp>
        <p:sp>
          <p:nvSpPr>
            <p:cNvPr id="48" name="TextBox 16">
              <a:extLst>
                <a:ext uri="{FF2B5EF4-FFF2-40B4-BE49-F238E27FC236}">
                  <a16:creationId xmlns:a16="http://schemas.microsoft.com/office/drawing/2014/main" id="{E9CDCB8F-2D94-C5A7-5B78-10DB8F49A820}"/>
                </a:ext>
              </a:extLst>
            </p:cNvPr>
            <p:cNvSpPr txBox="1"/>
            <p:nvPr/>
          </p:nvSpPr>
          <p:spPr>
            <a:xfrm>
              <a:off x="2560503" y="4326544"/>
              <a:ext cx="2422689" cy="540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8"/>
                </a:lnSpc>
              </a:pPr>
              <a:r>
                <a:rPr lang="en-US" sz="3149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Player</a:t>
              </a:r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13997616-E8EC-E5A4-853E-3645BE443A8C}"/>
                </a:ext>
              </a:extLst>
            </p:cNvPr>
            <p:cNvSpPr txBox="1"/>
            <p:nvPr/>
          </p:nvSpPr>
          <p:spPr>
            <a:xfrm>
              <a:off x="2819400" y="5359949"/>
              <a:ext cx="2443670" cy="14599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PlayerID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Money</a:t>
              </a: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Tier</a:t>
              </a: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LicenseBits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2B17BAE-5D2C-18DC-64A2-101052C689B6}"/>
              </a:ext>
            </a:extLst>
          </p:cNvPr>
          <p:cNvGrpSpPr/>
          <p:nvPr/>
        </p:nvGrpSpPr>
        <p:grpSpPr>
          <a:xfrm>
            <a:off x="10393597" y="2508253"/>
            <a:ext cx="3886099" cy="3006616"/>
            <a:chOff x="1828799" y="4190568"/>
            <a:chExt cx="3886099" cy="300661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A3C0105-5397-5F04-CEBF-E6C334AD980F}"/>
                </a:ext>
              </a:extLst>
            </p:cNvPr>
            <p:cNvGrpSpPr/>
            <p:nvPr/>
          </p:nvGrpSpPr>
          <p:grpSpPr>
            <a:xfrm>
              <a:off x="1828799" y="4190568"/>
              <a:ext cx="3886099" cy="3006616"/>
              <a:chOff x="839495" y="4190568"/>
              <a:chExt cx="4875404" cy="3006616"/>
            </a:xfrm>
          </p:grpSpPr>
          <p:grpSp>
            <p:nvGrpSpPr>
              <p:cNvPr id="9" name="Group 10">
                <a:extLst>
                  <a:ext uri="{FF2B5EF4-FFF2-40B4-BE49-F238E27FC236}">
                    <a16:creationId xmlns:a16="http://schemas.microsoft.com/office/drawing/2014/main" id="{CEB40070-EE58-8A5D-B293-A58C8C1920C3}"/>
                  </a:ext>
                </a:extLst>
              </p:cNvPr>
              <p:cNvGrpSpPr/>
              <p:nvPr/>
            </p:nvGrpSpPr>
            <p:grpSpPr>
              <a:xfrm>
                <a:off x="839495" y="4190568"/>
                <a:ext cx="4875404" cy="3006616"/>
                <a:chOff x="0" y="0"/>
                <a:chExt cx="1284057" cy="791866"/>
              </a:xfrm>
            </p:grpSpPr>
            <p:sp>
              <p:nvSpPr>
                <p:cNvPr id="19" name="Freeform 11">
                  <a:extLst>
                    <a:ext uri="{FF2B5EF4-FFF2-40B4-BE49-F238E27FC236}">
                      <a16:creationId xmlns:a16="http://schemas.microsoft.com/office/drawing/2014/main" id="{40FA9B92-1F3E-D970-DF5F-E4A7000B44C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791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791866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791866"/>
                      </a:lnTo>
                      <a:lnTo>
                        <a:pt x="0" y="791866"/>
                      </a:lnTo>
                      <a:close/>
                    </a:path>
                  </a:pathLst>
                </a:custGeom>
                <a:solidFill>
                  <a:srgbClr val="FDFDFB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20" name="TextBox 12">
                  <a:extLst>
                    <a:ext uri="{FF2B5EF4-FFF2-40B4-BE49-F238E27FC236}">
                      <a16:creationId xmlns:a16="http://schemas.microsoft.com/office/drawing/2014/main" id="{7FFC72B5-F6F1-9AE2-680F-30BB1EE421F1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820441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  <p:grpSp>
            <p:nvGrpSpPr>
              <p:cNvPr id="10" name="Group 13">
                <a:extLst>
                  <a:ext uri="{FF2B5EF4-FFF2-40B4-BE49-F238E27FC236}">
                    <a16:creationId xmlns:a16="http://schemas.microsoft.com/office/drawing/2014/main" id="{08EBA9FA-184D-6522-CA76-BEECB8E6457A}"/>
                  </a:ext>
                </a:extLst>
              </p:cNvPr>
              <p:cNvGrpSpPr/>
              <p:nvPr/>
            </p:nvGrpSpPr>
            <p:grpSpPr>
              <a:xfrm>
                <a:off x="839495" y="4190568"/>
                <a:ext cx="4875404" cy="848787"/>
                <a:chOff x="0" y="0"/>
                <a:chExt cx="1284057" cy="235018"/>
              </a:xfrm>
            </p:grpSpPr>
            <p:sp>
              <p:nvSpPr>
                <p:cNvPr id="11" name="Freeform 14">
                  <a:extLst>
                    <a:ext uri="{FF2B5EF4-FFF2-40B4-BE49-F238E27FC236}">
                      <a16:creationId xmlns:a16="http://schemas.microsoft.com/office/drawing/2014/main" id="{E30745AC-D2D3-A8A9-9685-D67A0A25C95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235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235018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235018"/>
                      </a:lnTo>
                      <a:lnTo>
                        <a:pt x="0" y="235018"/>
                      </a:lnTo>
                      <a:close/>
                    </a:path>
                  </a:pathLst>
                </a:custGeom>
                <a:solidFill>
                  <a:srgbClr val="F1F1F1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18" name="TextBox 15">
                  <a:extLst>
                    <a:ext uri="{FF2B5EF4-FFF2-40B4-BE49-F238E27FC236}">
                      <a16:creationId xmlns:a16="http://schemas.microsoft.com/office/drawing/2014/main" id="{DC92E783-FA37-0319-59BB-DD0A8C51EADB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26359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</p:grp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11869997-8A76-74AB-C2A0-F4DF75711C52}"/>
                </a:ext>
              </a:extLst>
            </p:cNvPr>
            <p:cNvSpPr txBox="1"/>
            <p:nvPr/>
          </p:nvSpPr>
          <p:spPr>
            <a:xfrm>
              <a:off x="2560503" y="4326544"/>
              <a:ext cx="2422689" cy="540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8"/>
                </a:lnSpc>
              </a:pPr>
              <a:r>
                <a:rPr lang="en-US" sz="3149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NPC</a:t>
              </a:r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31C54AC9-8149-DF94-02CC-507FC993ECCC}"/>
                </a:ext>
              </a:extLst>
            </p:cNvPr>
            <p:cNvSpPr txBox="1"/>
            <p:nvPr/>
          </p:nvSpPr>
          <p:spPr>
            <a:xfrm>
              <a:off x="2819400" y="5359949"/>
              <a:ext cx="2443670" cy="14599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NpcID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MBTI_Type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JobID</a:t>
              </a:r>
              <a:endPara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Happiness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B40EC5D-9C0F-BC72-AC1C-34FE0A4C7DFA}"/>
              </a:ext>
            </a:extLst>
          </p:cNvPr>
          <p:cNvGrpSpPr/>
          <p:nvPr/>
        </p:nvGrpSpPr>
        <p:grpSpPr>
          <a:xfrm>
            <a:off x="3543298" y="6195932"/>
            <a:ext cx="3352700" cy="823402"/>
            <a:chOff x="3543298" y="6195932"/>
            <a:chExt cx="3352700" cy="823402"/>
          </a:xfrm>
        </p:grpSpPr>
        <p:grpSp>
          <p:nvGrpSpPr>
            <p:cNvPr id="21" name="Group 13">
              <a:extLst>
                <a:ext uri="{FF2B5EF4-FFF2-40B4-BE49-F238E27FC236}">
                  <a16:creationId xmlns:a16="http://schemas.microsoft.com/office/drawing/2014/main" id="{EE911EF9-F2DC-1B2D-65D9-C7E19FAFAB59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22" name="Freeform 14">
                <a:extLst>
                  <a:ext uri="{FF2B5EF4-FFF2-40B4-BE49-F238E27FC236}">
                    <a16:creationId xmlns:a16="http://schemas.microsoft.com/office/drawing/2014/main" id="{8A65EFD0-6F5E-DF31-13D7-6339A69BD188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8F8581BC-2DED-9547-BC77-477B1A05A75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24" name="TextBox 16">
              <a:extLst>
                <a:ext uri="{FF2B5EF4-FFF2-40B4-BE49-F238E27FC236}">
                  <a16:creationId xmlns:a16="http://schemas.microsoft.com/office/drawing/2014/main" id="{26797D90-1174-A2A7-4E46-6DB66EF64328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인벤토리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24C6D9D-9E4E-B9AD-8FCB-5525C5ED9DDA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5219647" y="5583802"/>
            <a:ext cx="3" cy="673824"/>
          </a:xfrm>
          <a:prstGeom prst="line">
            <a:avLst/>
          </a:prstGeom>
          <a:ln w="38100">
            <a:solidFill>
              <a:srgbClr val="0640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D7777DD-FD97-D6D5-2A7F-634A716FBD9E}"/>
              </a:ext>
            </a:extLst>
          </p:cNvPr>
          <p:cNvGrpSpPr/>
          <p:nvPr/>
        </p:nvGrpSpPr>
        <p:grpSpPr>
          <a:xfrm>
            <a:off x="10668000" y="6150162"/>
            <a:ext cx="3352700" cy="823402"/>
            <a:chOff x="3543298" y="6195932"/>
            <a:chExt cx="3352700" cy="823402"/>
          </a:xfrm>
        </p:grpSpPr>
        <p:grpSp>
          <p:nvGrpSpPr>
            <p:cNvPr id="30" name="Group 13">
              <a:extLst>
                <a:ext uri="{FF2B5EF4-FFF2-40B4-BE49-F238E27FC236}">
                  <a16:creationId xmlns:a16="http://schemas.microsoft.com/office/drawing/2014/main" id="{4D94A4A6-0686-33EC-48BE-7229B91C9A9F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98A05373-A5D1-2375-F41C-36DCA651DB68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33" name="TextBox 15">
                <a:extLst>
                  <a:ext uri="{FF2B5EF4-FFF2-40B4-BE49-F238E27FC236}">
                    <a16:creationId xmlns:a16="http://schemas.microsoft.com/office/drawing/2014/main" id="{3BFF0C66-B295-6DB2-596D-99D18CCAF8F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31" name="TextBox 16">
              <a:extLst>
                <a:ext uri="{FF2B5EF4-FFF2-40B4-BE49-F238E27FC236}">
                  <a16:creationId xmlns:a16="http://schemas.microsoft.com/office/drawing/2014/main" id="{B42219BA-2E5A-D492-0807-00B8AE818253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인벤토리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CF8BCA7-B223-E033-C34E-5CB62D9743A0}"/>
              </a:ext>
            </a:extLst>
          </p:cNvPr>
          <p:cNvCxnSpPr>
            <a:cxnSpLocks/>
          </p:cNvCxnSpPr>
          <p:nvPr/>
        </p:nvCxnSpPr>
        <p:spPr>
          <a:xfrm flipH="1">
            <a:off x="12344349" y="5538032"/>
            <a:ext cx="3" cy="673824"/>
          </a:xfrm>
          <a:prstGeom prst="line">
            <a:avLst/>
          </a:prstGeom>
          <a:ln w="38100">
            <a:solidFill>
              <a:srgbClr val="0640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7">
            <a:extLst>
              <a:ext uri="{FF2B5EF4-FFF2-40B4-BE49-F238E27FC236}">
                <a16:creationId xmlns:a16="http://schemas.microsoft.com/office/drawing/2014/main" id="{1F7518A0-DCED-EFE4-982A-D072320FAA47}"/>
              </a:ext>
            </a:extLst>
          </p:cNvPr>
          <p:cNvSpPr txBox="1"/>
          <p:nvPr/>
        </p:nvSpPr>
        <p:spPr>
          <a:xfrm>
            <a:off x="5219646" y="5717736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1:1</a:t>
            </a: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317AA385-AD54-A1B1-1F2A-23DFCEB668A3}"/>
              </a:ext>
            </a:extLst>
          </p:cNvPr>
          <p:cNvSpPr txBox="1"/>
          <p:nvPr/>
        </p:nvSpPr>
        <p:spPr>
          <a:xfrm>
            <a:off x="12290741" y="5675508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1:1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15B9C31-25AF-4CF4-6508-00CADA385037}"/>
              </a:ext>
            </a:extLst>
          </p:cNvPr>
          <p:cNvGrpSpPr/>
          <p:nvPr/>
        </p:nvGrpSpPr>
        <p:grpSpPr>
          <a:xfrm>
            <a:off x="13258800" y="7519273"/>
            <a:ext cx="3352700" cy="823402"/>
            <a:chOff x="3543298" y="6195932"/>
            <a:chExt cx="3352700" cy="823402"/>
          </a:xfrm>
        </p:grpSpPr>
        <p:grpSp>
          <p:nvGrpSpPr>
            <p:cNvPr id="39" name="Group 13">
              <a:extLst>
                <a:ext uri="{FF2B5EF4-FFF2-40B4-BE49-F238E27FC236}">
                  <a16:creationId xmlns:a16="http://schemas.microsoft.com/office/drawing/2014/main" id="{C85EBA7E-2C79-1B24-2C23-F34C412F0F7B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41" name="Freeform 14">
                <a:extLst>
                  <a:ext uri="{FF2B5EF4-FFF2-40B4-BE49-F238E27FC236}">
                    <a16:creationId xmlns:a16="http://schemas.microsoft.com/office/drawing/2014/main" id="{FEE2DBC7-2FFB-DC2A-CDB4-CD5C51EE02E9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66" name="TextBox 15">
                <a:extLst>
                  <a:ext uri="{FF2B5EF4-FFF2-40B4-BE49-F238E27FC236}">
                    <a16:creationId xmlns:a16="http://schemas.microsoft.com/office/drawing/2014/main" id="{E7FE1C39-D7DF-54D8-466A-A45D01C426A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9D5EF87A-38A4-E443-B5F9-51B7ECE60501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원목 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439F279-07A3-382B-2C07-35104BF97689}"/>
              </a:ext>
            </a:extLst>
          </p:cNvPr>
          <p:cNvGrpSpPr/>
          <p:nvPr/>
        </p:nvGrpSpPr>
        <p:grpSpPr>
          <a:xfrm>
            <a:off x="985838" y="7375637"/>
            <a:ext cx="3352700" cy="823402"/>
            <a:chOff x="3543298" y="6195932"/>
            <a:chExt cx="3352700" cy="823402"/>
          </a:xfrm>
        </p:grpSpPr>
        <p:grpSp>
          <p:nvGrpSpPr>
            <p:cNvPr id="68" name="Group 13">
              <a:extLst>
                <a:ext uri="{FF2B5EF4-FFF2-40B4-BE49-F238E27FC236}">
                  <a16:creationId xmlns:a16="http://schemas.microsoft.com/office/drawing/2014/main" id="{E2C66C69-C161-437F-85E3-28ED70C91BB0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70" name="Freeform 14">
                <a:extLst>
                  <a:ext uri="{FF2B5EF4-FFF2-40B4-BE49-F238E27FC236}">
                    <a16:creationId xmlns:a16="http://schemas.microsoft.com/office/drawing/2014/main" id="{4429DFB5-83BC-26BD-912D-D3571D555D21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71" name="TextBox 15">
                <a:extLst>
                  <a:ext uri="{FF2B5EF4-FFF2-40B4-BE49-F238E27FC236}">
                    <a16:creationId xmlns:a16="http://schemas.microsoft.com/office/drawing/2014/main" id="{AEA67D84-5768-D474-23FD-DB138DD87C9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69" name="TextBox 16">
              <a:extLst>
                <a:ext uri="{FF2B5EF4-FFF2-40B4-BE49-F238E27FC236}">
                  <a16:creationId xmlns:a16="http://schemas.microsoft.com/office/drawing/2014/main" id="{3D17A154-B862-C48F-2973-1096B9F9B62B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17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악세사리 </a:t>
              </a:r>
              <a:r>
                <a:rPr lang="en-US" altLang="ko-KR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4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2A45F1A4-3B9A-85B9-151F-A650512B4A94}"/>
              </a:ext>
            </a:extLst>
          </p:cNvPr>
          <p:cNvGrpSpPr/>
          <p:nvPr/>
        </p:nvGrpSpPr>
        <p:grpSpPr>
          <a:xfrm>
            <a:off x="267261" y="3907073"/>
            <a:ext cx="2623080" cy="2204746"/>
            <a:chOff x="1828799" y="4082072"/>
            <a:chExt cx="3886099" cy="3115112"/>
          </a:xfrm>
        </p:grpSpPr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BB4D1626-3EF6-E856-9AB0-4F590C65F707}"/>
                </a:ext>
              </a:extLst>
            </p:cNvPr>
            <p:cNvGrpSpPr/>
            <p:nvPr/>
          </p:nvGrpSpPr>
          <p:grpSpPr>
            <a:xfrm>
              <a:off x="1828799" y="4082072"/>
              <a:ext cx="3886099" cy="3115112"/>
              <a:chOff x="839495" y="4082072"/>
              <a:chExt cx="4875404" cy="3115112"/>
            </a:xfrm>
          </p:grpSpPr>
          <p:grpSp>
            <p:nvGrpSpPr>
              <p:cNvPr id="76" name="Group 10">
                <a:extLst>
                  <a:ext uri="{FF2B5EF4-FFF2-40B4-BE49-F238E27FC236}">
                    <a16:creationId xmlns:a16="http://schemas.microsoft.com/office/drawing/2014/main" id="{F52ABF60-150F-F32C-75DE-84422B91074F}"/>
                  </a:ext>
                </a:extLst>
              </p:cNvPr>
              <p:cNvGrpSpPr/>
              <p:nvPr/>
            </p:nvGrpSpPr>
            <p:grpSpPr>
              <a:xfrm>
                <a:off x="839495" y="4082072"/>
                <a:ext cx="4875404" cy="3115112"/>
                <a:chOff x="0" y="-28575"/>
                <a:chExt cx="1284057" cy="820441"/>
              </a:xfrm>
            </p:grpSpPr>
            <p:sp>
              <p:nvSpPr>
                <p:cNvPr id="80" name="Freeform 11">
                  <a:extLst>
                    <a:ext uri="{FF2B5EF4-FFF2-40B4-BE49-F238E27FC236}">
                      <a16:creationId xmlns:a16="http://schemas.microsoft.com/office/drawing/2014/main" id="{2729D2CD-B60B-04E0-A407-46901A1746D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773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791866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791866"/>
                      </a:lnTo>
                      <a:lnTo>
                        <a:pt x="0" y="791866"/>
                      </a:lnTo>
                      <a:close/>
                    </a:path>
                  </a:pathLst>
                </a:custGeom>
                <a:solidFill>
                  <a:srgbClr val="FDFDFB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81" name="TextBox 12">
                  <a:extLst>
                    <a:ext uri="{FF2B5EF4-FFF2-40B4-BE49-F238E27FC236}">
                      <a16:creationId xmlns:a16="http://schemas.microsoft.com/office/drawing/2014/main" id="{E4C22C3A-1B54-4685-305F-D4C1ECE1B892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820441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  <p:grpSp>
            <p:nvGrpSpPr>
              <p:cNvPr id="77" name="Group 13">
                <a:extLst>
                  <a:ext uri="{FF2B5EF4-FFF2-40B4-BE49-F238E27FC236}">
                    <a16:creationId xmlns:a16="http://schemas.microsoft.com/office/drawing/2014/main" id="{B0F3F2FF-DA1F-BC5D-4132-76679F1A9CCC}"/>
                  </a:ext>
                </a:extLst>
              </p:cNvPr>
              <p:cNvGrpSpPr/>
              <p:nvPr/>
            </p:nvGrpSpPr>
            <p:grpSpPr>
              <a:xfrm>
                <a:off x="839495" y="4190568"/>
                <a:ext cx="4875404" cy="848787"/>
                <a:chOff x="0" y="0"/>
                <a:chExt cx="1284057" cy="235018"/>
              </a:xfrm>
            </p:grpSpPr>
            <p:sp>
              <p:nvSpPr>
                <p:cNvPr id="78" name="Freeform 14">
                  <a:extLst>
                    <a:ext uri="{FF2B5EF4-FFF2-40B4-BE49-F238E27FC236}">
                      <a16:creationId xmlns:a16="http://schemas.microsoft.com/office/drawing/2014/main" id="{B102DE06-3FB0-8A38-6B58-9B9DDCD7D8D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84057" cy="235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057" h="235018">
                      <a:moveTo>
                        <a:pt x="0" y="0"/>
                      </a:moveTo>
                      <a:lnTo>
                        <a:pt x="1284057" y="0"/>
                      </a:lnTo>
                      <a:lnTo>
                        <a:pt x="1284057" y="235018"/>
                      </a:lnTo>
                      <a:lnTo>
                        <a:pt x="0" y="235018"/>
                      </a:lnTo>
                      <a:close/>
                    </a:path>
                  </a:pathLst>
                </a:custGeom>
                <a:solidFill>
                  <a:srgbClr val="F1F1F1"/>
                </a:solidFill>
                <a:ln w="19050" cap="sq">
                  <a:solidFill>
                    <a:srgbClr val="C8C8C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79" name="TextBox 15">
                  <a:extLst>
                    <a:ext uri="{FF2B5EF4-FFF2-40B4-BE49-F238E27FC236}">
                      <a16:creationId xmlns:a16="http://schemas.microsoft.com/office/drawing/2014/main" id="{D39EFB32-73E9-81D3-9107-089D3F7BE3EF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4057" cy="26359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833"/>
                    </a:lnSpc>
                    <a:spcBef>
                      <a:spcPct val="0"/>
                    </a:spcBef>
                  </a:pPr>
                  <a:endParaRPr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</p:grpSp>
        <p:sp>
          <p:nvSpPr>
            <p:cNvPr id="74" name="TextBox 16">
              <a:extLst>
                <a:ext uri="{FF2B5EF4-FFF2-40B4-BE49-F238E27FC236}">
                  <a16:creationId xmlns:a16="http://schemas.microsoft.com/office/drawing/2014/main" id="{28D9A0D0-4B20-96D9-2D5D-6C111C610A4D}"/>
                </a:ext>
              </a:extLst>
            </p:cNvPr>
            <p:cNvSpPr txBox="1"/>
            <p:nvPr/>
          </p:nvSpPr>
          <p:spPr>
            <a:xfrm>
              <a:off x="2560504" y="4177192"/>
              <a:ext cx="2422689" cy="730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8"/>
                </a:lnSpc>
              </a:pPr>
              <a:r>
                <a:rPr lang="en-US" sz="24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ShopSlot</a:t>
              </a:r>
              <a:endParaRPr lang="en-US" sz="2400" b="1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  <p:sp>
          <p:nvSpPr>
            <p:cNvPr id="75" name="TextBox 17">
              <a:extLst>
                <a:ext uri="{FF2B5EF4-FFF2-40B4-BE49-F238E27FC236}">
                  <a16:creationId xmlns:a16="http://schemas.microsoft.com/office/drawing/2014/main" id="{FF625B52-A429-F89A-7168-E77E46FD1BB8}"/>
                </a:ext>
              </a:extLst>
            </p:cNvPr>
            <p:cNvSpPr txBox="1"/>
            <p:nvPr/>
          </p:nvSpPr>
          <p:spPr>
            <a:xfrm>
              <a:off x="2243221" y="5238223"/>
              <a:ext cx="3057253" cy="15240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16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SlotID</a:t>
              </a:r>
              <a:endParaRPr lang="en-US" sz="16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1600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InstanceID</a:t>
              </a:r>
              <a:r>
                <a:rPr lang="en-US" sz="16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(FK)</a:t>
              </a:r>
            </a:p>
            <a:p>
              <a:pPr marL="342900" lvl="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b="1" u="none" strike="noStrike" spc="-73" dirty="0" err="1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DisplayPrice</a:t>
              </a:r>
              <a:r>
                <a:rPr lang="en-US" sz="1600" b="1" u="none" strike="noStrike" spc="-73" dirty="0">
                  <a:solidFill>
                    <a:srgbClr val="4D4D4D">
                      <a:alpha val="61961"/>
                    </a:srgb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(int)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E990346-5D28-BFC8-B99E-2A77C90D8C18}"/>
              </a:ext>
            </a:extLst>
          </p:cNvPr>
          <p:cNvGrpSpPr/>
          <p:nvPr/>
        </p:nvGrpSpPr>
        <p:grpSpPr>
          <a:xfrm>
            <a:off x="8460722" y="7401931"/>
            <a:ext cx="3352700" cy="823402"/>
            <a:chOff x="3543298" y="6195932"/>
            <a:chExt cx="3352700" cy="823402"/>
          </a:xfrm>
        </p:grpSpPr>
        <p:grpSp>
          <p:nvGrpSpPr>
            <p:cNvPr id="83" name="Group 13">
              <a:extLst>
                <a:ext uri="{FF2B5EF4-FFF2-40B4-BE49-F238E27FC236}">
                  <a16:creationId xmlns:a16="http://schemas.microsoft.com/office/drawing/2014/main" id="{F36DCA3E-4282-EB9D-3097-206E9EAB71F9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9120DD4B-1E9B-3434-F873-E7DB8911BD4A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86" name="TextBox 15">
                <a:extLst>
                  <a:ext uri="{FF2B5EF4-FFF2-40B4-BE49-F238E27FC236}">
                    <a16:creationId xmlns:a16="http://schemas.microsoft.com/office/drawing/2014/main" id="{3FF71F8E-C3D6-33BB-00AB-C5329CB47F5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84" name="TextBox 16">
              <a:extLst>
                <a:ext uri="{FF2B5EF4-FFF2-40B4-BE49-F238E27FC236}">
                  <a16:creationId xmlns:a16="http://schemas.microsoft.com/office/drawing/2014/main" id="{CA636789-8347-4AD1-C1E6-B8129AE464CD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광물 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233B37B-A117-6224-6E81-5ACE462F25F3}"/>
              </a:ext>
            </a:extLst>
          </p:cNvPr>
          <p:cNvGrpSpPr/>
          <p:nvPr/>
        </p:nvGrpSpPr>
        <p:grpSpPr>
          <a:xfrm>
            <a:off x="9626473" y="8428991"/>
            <a:ext cx="3352700" cy="823402"/>
            <a:chOff x="3543298" y="6195932"/>
            <a:chExt cx="3352700" cy="823402"/>
          </a:xfrm>
        </p:grpSpPr>
        <p:grpSp>
          <p:nvGrpSpPr>
            <p:cNvPr id="88" name="Group 13">
              <a:extLst>
                <a:ext uri="{FF2B5EF4-FFF2-40B4-BE49-F238E27FC236}">
                  <a16:creationId xmlns:a16="http://schemas.microsoft.com/office/drawing/2014/main" id="{AFAE934D-7139-6B3F-8838-FA02EED450F3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90" name="Freeform 14">
                <a:extLst>
                  <a:ext uri="{FF2B5EF4-FFF2-40B4-BE49-F238E27FC236}">
                    <a16:creationId xmlns:a16="http://schemas.microsoft.com/office/drawing/2014/main" id="{B7D1CF01-84B8-0590-8628-7F406C68AE31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91" name="TextBox 15">
                <a:extLst>
                  <a:ext uri="{FF2B5EF4-FFF2-40B4-BE49-F238E27FC236}">
                    <a16:creationId xmlns:a16="http://schemas.microsoft.com/office/drawing/2014/main" id="{82490045-A2B9-23B9-6D5E-AF810D5D813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89" name="TextBox 16">
              <a:extLst>
                <a:ext uri="{FF2B5EF4-FFF2-40B4-BE49-F238E27FC236}">
                  <a16:creationId xmlns:a16="http://schemas.microsoft.com/office/drawing/2014/main" id="{A6CA50E8-8AB3-867D-BB04-87962E8C9F8A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생선 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87D5359B-1688-B82E-690C-D00265FE2520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10137071" y="6973564"/>
            <a:ext cx="2207279" cy="457865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5D9A0FA-088C-BE52-6D7C-D07498F1AAE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2344350" y="6973564"/>
            <a:ext cx="2590799" cy="533671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7">
            <a:extLst>
              <a:ext uri="{FF2B5EF4-FFF2-40B4-BE49-F238E27FC236}">
                <a16:creationId xmlns:a16="http://schemas.microsoft.com/office/drawing/2014/main" id="{24C33799-4894-0201-56EA-3210B2BEE98E}"/>
              </a:ext>
            </a:extLst>
          </p:cNvPr>
          <p:cNvSpPr txBox="1"/>
          <p:nvPr/>
        </p:nvSpPr>
        <p:spPr>
          <a:xfrm>
            <a:off x="11813421" y="7207166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1:N</a:t>
            </a:r>
          </a:p>
        </p:txBody>
      </p:sp>
      <p:sp>
        <p:nvSpPr>
          <p:cNvPr id="102" name="TextBox 17">
            <a:extLst>
              <a:ext uri="{FF2B5EF4-FFF2-40B4-BE49-F238E27FC236}">
                <a16:creationId xmlns:a16="http://schemas.microsoft.com/office/drawing/2014/main" id="{8D1E1917-5C72-9E6E-69D9-20F9E642A545}"/>
              </a:ext>
            </a:extLst>
          </p:cNvPr>
          <p:cNvSpPr txBox="1"/>
          <p:nvPr/>
        </p:nvSpPr>
        <p:spPr>
          <a:xfrm>
            <a:off x="4522537" y="7213492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1:N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079B5BA6-D945-FD0C-B0AF-64CBA8E09766}"/>
              </a:ext>
            </a:extLst>
          </p:cNvPr>
          <p:cNvGrpSpPr/>
          <p:nvPr/>
        </p:nvGrpSpPr>
        <p:grpSpPr>
          <a:xfrm>
            <a:off x="4920160" y="7784728"/>
            <a:ext cx="3352700" cy="823402"/>
            <a:chOff x="3543298" y="6195932"/>
            <a:chExt cx="3352700" cy="823402"/>
          </a:xfrm>
        </p:grpSpPr>
        <p:grpSp>
          <p:nvGrpSpPr>
            <p:cNvPr id="104" name="Group 13">
              <a:extLst>
                <a:ext uri="{FF2B5EF4-FFF2-40B4-BE49-F238E27FC236}">
                  <a16:creationId xmlns:a16="http://schemas.microsoft.com/office/drawing/2014/main" id="{902065B0-8C99-B66B-D044-24B60D788319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106" name="Freeform 14">
                <a:extLst>
                  <a:ext uri="{FF2B5EF4-FFF2-40B4-BE49-F238E27FC236}">
                    <a16:creationId xmlns:a16="http://schemas.microsoft.com/office/drawing/2014/main" id="{0901511F-73FC-BAD8-C1B9-678BA2810E24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07" name="TextBox 15">
                <a:extLst>
                  <a:ext uri="{FF2B5EF4-FFF2-40B4-BE49-F238E27FC236}">
                    <a16:creationId xmlns:a16="http://schemas.microsoft.com/office/drawing/2014/main" id="{CA23DFC4-7380-F9D5-95E8-E86EF2B0EC1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05" name="TextBox 16">
              <a:extLst>
                <a:ext uri="{FF2B5EF4-FFF2-40B4-BE49-F238E27FC236}">
                  <a16:creationId xmlns:a16="http://schemas.microsoft.com/office/drawing/2014/main" id="{91A1C756-2093-1462-B25E-30BB1C1D0423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295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의자 </a:t>
              </a:r>
              <a:r>
                <a:rPr lang="en-US" altLang="ko-KR" sz="28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8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491D7D18-4330-37E7-2A27-FA4EBEFEA872}"/>
              </a:ext>
            </a:extLst>
          </p:cNvPr>
          <p:cNvGrpSpPr/>
          <p:nvPr/>
        </p:nvGrpSpPr>
        <p:grpSpPr>
          <a:xfrm>
            <a:off x="1358928" y="8499098"/>
            <a:ext cx="3352700" cy="823402"/>
            <a:chOff x="3543298" y="6195932"/>
            <a:chExt cx="3352700" cy="823402"/>
          </a:xfrm>
        </p:grpSpPr>
        <p:grpSp>
          <p:nvGrpSpPr>
            <p:cNvPr id="109" name="Group 13">
              <a:extLst>
                <a:ext uri="{FF2B5EF4-FFF2-40B4-BE49-F238E27FC236}">
                  <a16:creationId xmlns:a16="http://schemas.microsoft.com/office/drawing/2014/main" id="{D960A5CC-2A34-2AE8-FAE5-E9AE42B617DC}"/>
                </a:ext>
              </a:extLst>
            </p:cNvPr>
            <p:cNvGrpSpPr/>
            <p:nvPr/>
          </p:nvGrpSpPr>
          <p:grpSpPr>
            <a:xfrm>
              <a:off x="3543298" y="6195932"/>
              <a:ext cx="3352699" cy="823402"/>
              <a:chOff x="0" y="0"/>
              <a:chExt cx="1284057" cy="235018"/>
            </a:xfrm>
          </p:grpSpPr>
          <p:sp>
            <p:nvSpPr>
              <p:cNvPr id="111" name="Freeform 14">
                <a:extLst>
                  <a:ext uri="{FF2B5EF4-FFF2-40B4-BE49-F238E27FC236}">
                    <a16:creationId xmlns:a16="http://schemas.microsoft.com/office/drawing/2014/main" id="{A75F591D-597D-4841-7BFA-2A6F26FCA7C8}"/>
                  </a:ext>
                </a:extLst>
              </p:cNvPr>
              <p:cNvSpPr/>
              <p:nvPr/>
            </p:nvSpPr>
            <p:spPr>
              <a:xfrm>
                <a:off x="0" y="0"/>
                <a:ext cx="1284057" cy="235018"/>
              </a:xfrm>
              <a:custGeom>
                <a:avLst/>
                <a:gdLst/>
                <a:ahLst/>
                <a:cxnLst/>
                <a:rect l="l" t="t" r="r" b="b"/>
                <a:pathLst>
                  <a:path w="1284057" h="235018">
                    <a:moveTo>
                      <a:pt x="0" y="0"/>
                    </a:moveTo>
                    <a:lnTo>
                      <a:pt x="1284057" y="0"/>
                    </a:lnTo>
                    <a:lnTo>
                      <a:pt x="1284057" y="235018"/>
                    </a:lnTo>
                    <a:lnTo>
                      <a:pt x="0" y="235018"/>
                    </a:lnTo>
                    <a:close/>
                  </a:path>
                </a:pathLst>
              </a:custGeom>
              <a:solidFill>
                <a:srgbClr val="F1F1F1"/>
              </a:solidFill>
              <a:ln w="19050" cap="sq">
                <a:solidFill>
                  <a:srgbClr val="C8C8C6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12" name="TextBox 15">
                <a:extLst>
                  <a:ext uri="{FF2B5EF4-FFF2-40B4-BE49-F238E27FC236}">
                    <a16:creationId xmlns:a16="http://schemas.microsoft.com/office/drawing/2014/main" id="{05F5C327-6F64-CF05-8D7E-07C8873FF65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84057" cy="263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33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10" name="TextBox 16">
              <a:extLst>
                <a:ext uri="{FF2B5EF4-FFF2-40B4-BE49-F238E27FC236}">
                  <a16:creationId xmlns:a16="http://schemas.microsoft.com/office/drawing/2014/main" id="{77EB9263-97D5-021A-65CB-42A2E42EF8E9}"/>
                </a:ext>
              </a:extLst>
            </p:cNvPr>
            <p:cNvSpPr txBox="1"/>
            <p:nvPr/>
          </p:nvSpPr>
          <p:spPr>
            <a:xfrm>
              <a:off x="3543298" y="6318758"/>
              <a:ext cx="3352700" cy="517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59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b="1" spc="-160" dirty="0" err="1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ItemInstance</a:t>
              </a:r>
              <a:r>
                <a:rPr lang="en-US" altLang="ko-KR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 ( </a:t>
              </a:r>
              <a:r>
                <a:rPr lang="ko-KR" altLang="en-US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생선구이 </a:t>
              </a:r>
              <a:r>
                <a:rPr lang="en-US" altLang="ko-KR" sz="2400" b="1" spc="-160" dirty="0">
                  <a:solidFill>
                    <a:srgbClr val="22222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retendard Medium"/>
                </a:rPr>
                <a:t>)</a:t>
              </a:r>
              <a:endParaRPr kumimoji="0" lang="en-US" sz="2400" b="1" i="0" u="none" strike="noStrike" kern="1200" cap="none" spc="-16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endParaRPr>
            </a:p>
          </p:txBody>
        </p:sp>
      </p:grp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73658EF-8B1D-77A3-4CB5-97E63E469E26}"/>
              </a:ext>
            </a:extLst>
          </p:cNvPr>
          <p:cNvCxnSpPr>
            <a:cxnSpLocks/>
          </p:cNvCxnSpPr>
          <p:nvPr/>
        </p:nvCxnSpPr>
        <p:spPr>
          <a:xfrm>
            <a:off x="5219646" y="7019334"/>
            <a:ext cx="1376863" cy="744240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C95A6D25-90CF-C72D-93AA-56C7F499FAC2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2645544" y="7019334"/>
            <a:ext cx="2574104" cy="319017"/>
          </a:xfrm>
          <a:prstGeom prst="line">
            <a:avLst/>
          </a:prstGeom>
          <a:ln w="28575">
            <a:solidFill>
              <a:srgbClr val="064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FEC971DA-17AF-290C-D01D-17B2A97221EE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1578800" y="6272988"/>
            <a:ext cx="1083388" cy="1002534"/>
          </a:xfrm>
          <a:prstGeom prst="straightConnector1">
            <a:avLst/>
          </a:prstGeom>
          <a:ln w="28575">
            <a:solidFill>
              <a:srgbClr val="06402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7">
            <a:extLst>
              <a:ext uri="{FF2B5EF4-FFF2-40B4-BE49-F238E27FC236}">
                <a16:creationId xmlns:a16="http://schemas.microsoft.com/office/drawing/2014/main" id="{94361499-333A-8D0E-9EB2-6AC582B21C29}"/>
              </a:ext>
            </a:extLst>
          </p:cNvPr>
          <p:cNvSpPr txBox="1"/>
          <p:nvPr/>
        </p:nvSpPr>
        <p:spPr>
          <a:xfrm>
            <a:off x="397037" y="6358845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u="none" strike="noStrike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1:1</a:t>
            </a:r>
          </a:p>
        </p:txBody>
      </p:sp>
      <p:sp>
        <p:nvSpPr>
          <p:cNvPr id="129" name="TextBox 17">
            <a:extLst>
              <a:ext uri="{FF2B5EF4-FFF2-40B4-BE49-F238E27FC236}">
                <a16:creationId xmlns:a16="http://schemas.microsoft.com/office/drawing/2014/main" id="{F7E8E516-5950-0E27-A747-FE40357C0B7D}"/>
              </a:ext>
            </a:extLst>
          </p:cNvPr>
          <p:cNvSpPr txBox="1"/>
          <p:nvPr/>
        </p:nvSpPr>
        <p:spPr>
          <a:xfrm>
            <a:off x="8130888" y="3645016"/>
            <a:ext cx="1376864" cy="34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ko-KR" altLang="en-US" sz="2100" b="1" spc="-73" dirty="0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구매 판단</a:t>
            </a:r>
            <a:endParaRPr lang="en-US" sz="2100" b="1" u="none" strike="noStrike" spc="-73" dirty="0">
              <a:solidFill>
                <a:srgbClr val="4D4D4D">
                  <a:alpha val="61961"/>
                </a:srgb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97866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0097224"/>
            <a:ext cx="18543089" cy="189776"/>
          </a:xfrm>
          <a:custGeom>
            <a:avLst/>
            <a:gdLst/>
            <a:ahLst/>
            <a:cxnLst/>
            <a:rect l="l" t="t" r="r" b="b"/>
            <a:pathLst>
              <a:path w="18543089" h="189776">
                <a:moveTo>
                  <a:pt x="0" y="0"/>
                </a:moveTo>
                <a:lnTo>
                  <a:pt x="18543090" y="0"/>
                </a:lnTo>
                <a:lnTo>
                  <a:pt x="18543090" y="189776"/>
                </a:lnTo>
                <a:lnTo>
                  <a:pt x="0" y="18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9495" y="1359082"/>
            <a:ext cx="114300" cy="822874"/>
            <a:chOff x="0" y="0"/>
            <a:chExt cx="152400" cy="10971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7830480" y="2858514"/>
            <a:ext cx="2627039" cy="1666976"/>
          </a:xfrm>
          <a:custGeom>
            <a:avLst/>
            <a:gdLst/>
            <a:ahLst/>
            <a:cxnLst/>
            <a:rect l="l" t="t" r="r" b="b"/>
            <a:pathLst>
              <a:path w="2627039" h="1666976">
                <a:moveTo>
                  <a:pt x="0" y="0"/>
                </a:moveTo>
                <a:lnTo>
                  <a:pt x="2627040" y="0"/>
                </a:lnTo>
                <a:lnTo>
                  <a:pt x="2627040" y="1666976"/>
                </a:lnTo>
                <a:lnTo>
                  <a:pt x="0" y="1666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3061609" y="5956345"/>
            <a:ext cx="2063706" cy="1789796"/>
          </a:xfrm>
          <a:custGeom>
            <a:avLst/>
            <a:gdLst/>
            <a:ahLst/>
            <a:cxnLst/>
            <a:rect l="l" t="t" r="r" b="b"/>
            <a:pathLst>
              <a:path w="2063706" h="1789796">
                <a:moveTo>
                  <a:pt x="0" y="0"/>
                </a:moveTo>
                <a:lnTo>
                  <a:pt x="2063706" y="0"/>
                </a:lnTo>
                <a:lnTo>
                  <a:pt x="2063706" y="1789796"/>
                </a:lnTo>
                <a:lnTo>
                  <a:pt x="0" y="1789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7541" y="1336112"/>
            <a:ext cx="11282870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0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멀티플레이</a:t>
            </a:r>
            <a:r>
              <a:rPr 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 </a:t>
            </a:r>
            <a:r>
              <a:rPr lang="en-US" sz="70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지속성</a:t>
            </a:r>
            <a:r>
              <a:rPr 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 및 </a:t>
            </a:r>
            <a:r>
              <a:rPr lang="en-US" sz="70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권한</a:t>
            </a:r>
            <a:r>
              <a:rPr 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 </a:t>
            </a:r>
            <a:r>
              <a:rPr lang="en-US" sz="70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위임</a:t>
            </a:r>
            <a:endParaRPr lang="en-US" sz="7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473186" y="6485483"/>
            <a:ext cx="4087550" cy="34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spc="-73" dirty="0" err="1">
                <a:solidFill>
                  <a:srgbClr val="4D4D4D">
                    <a:alpha val="61961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Local_Save_JSON</a:t>
            </a:r>
            <a:endParaRPr lang="en-US" sz="2100" b="1" spc="-73" dirty="0">
              <a:solidFill>
                <a:srgbClr val="4D4D4D">
                  <a:alpha val="61961"/>
                </a:srgb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457519" y="3401928"/>
            <a:ext cx="3649047" cy="540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sz="3149" b="1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Cloud Storage (UGS)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68938" y="7813088"/>
            <a:ext cx="3649047" cy="540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sz="3149" b="1" spc="-16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Host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565673" y="5956345"/>
            <a:ext cx="2063706" cy="1789796"/>
          </a:xfrm>
          <a:custGeom>
            <a:avLst/>
            <a:gdLst/>
            <a:ahLst/>
            <a:cxnLst/>
            <a:rect l="l" t="t" r="r" b="b"/>
            <a:pathLst>
              <a:path w="2063706" h="1789796">
                <a:moveTo>
                  <a:pt x="0" y="0"/>
                </a:moveTo>
                <a:lnTo>
                  <a:pt x="2063706" y="0"/>
                </a:lnTo>
                <a:lnTo>
                  <a:pt x="2063706" y="1789796"/>
                </a:lnTo>
                <a:lnTo>
                  <a:pt x="0" y="1789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724553" y="7813088"/>
            <a:ext cx="3649047" cy="540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sz="3149" b="1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Client --</a:t>
            </a:r>
            <a:r>
              <a:rPr lang="en-US" sz="3149" b="1" spc="-16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-- &gt; Host</a:t>
            </a:r>
            <a:endParaRPr lang="en-US" sz="3149" b="1" spc="-160" dirty="0">
              <a:solidFill>
                <a:srgbClr val="22222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Medium"/>
            </a:endParaRPr>
          </a:p>
        </p:txBody>
      </p:sp>
      <p:sp>
        <p:nvSpPr>
          <p:cNvPr id="17" name="AutoShape 17"/>
          <p:cNvSpPr/>
          <p:nvPr/>
        </p:nvSpPr>
        <p:spPr>
          <a:xfrm flipV="1">
            <a:off x="4408127" y="4653917"/>
            <a:ext cx="4401963" cy="13024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9493394" y="4588697"/>
            <a:ext cx="5104132" cy="13676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977279" y="4645406"/>
            <a:ext cx="4861697" cy="49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7"/>
              </a:lnSpc>
            </a:pPr>
            <a:r>
              <a:rPr lang="en-US" sz="2799" b="1" spc="-142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Snapshot Save (5분 </a:t>
            </a:r>
            <a:r>
              <a:rPr lang="en-US" sz="2799" b="1" spc="-142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주기</a:t>
            </a:r>
            <a:r>
              <a:rPr lang="en-US" sz="2799" b="1" spc="-142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/</a:t>
            </a:r>
            <a:r>
              <a:rPr lang="en-US" sz="2799" b="1" spc="-142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종료</a:t>
            </a:r>
            <a:r>
              <a:rPr lang="en-US" sz="2799" b="1" spc="-142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시)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64443" y="4645406"/>
            <a:ext cx="4861697" cy="49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7"/>
              </a:lnSpc>
            </a:pPr>
            <a:r>
              <a:rPr lang="en-US" sz="2799" b="1" spc="-142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Authority Migration (</a:t>
            </a:r>
            <a:r>
              <a:rPr lang="en-US" sz="2799" b="1" spc="-142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권한</a:t>
            </a:r>
            <a:r>
              <a:rPr lang="en-US" sz="2799" b="1" spc="-142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 위</a:t>
            </a:r>
            <a:r>
              <a:rPr lang="ko-KR" altLang="en-US" sz="2799" b="1" spc="-142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임</a:t>
            </a:r>
            <a:r>
              <a:rPr lang="en-US" sz="2799" b="1" spc="-142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Medium"/>
              </a:rPr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EE978-3105-5E16-8FC2-760806E0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865D9F7-BDC2-BBC2-105D-0EC30ACF6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5241BAB-AAFE-CBB2-26A2-392376638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9423400"/>
            <a:ext cx="18580100" cy="863600"/>
          </a:xfrm>
          <a:prstGeom prst="rect">
            <a:avLst/>
          </a:prstGeom>
        </p:spPr>
      </p:pic>
      <p:sp>
        <p:nvSpPr>
          <p:cNvPr id="5" name="Google Shape;93;p14">
            <a:extLst>
              <a:ext uri="{FF2B5EF4-FFF2-40B4-BE49-F238E27FC236}">
                <a16:creationId xmlns:a16="http://schemas.microsoft.com/office/drawing/2014/main" id="{34D140BE-869C-FBF6-1398-F17692367F87}"/>
              </a:ext>
            </a:extLst>
          </p:cNvPr>
          <p:cNvSpPr txBox="1"/>
          <p:nvPr/>
        </p:nvSpPr>
        <p:spPr>
          <a:xfrm>
            <a:off x="457915" y="4489176"/>
            <a:ext cx="1737217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600" dirty="0">
                <a:solidFill>
                  <a:srgbClr val="06402B"/>
                </a:solidFill>
                <a:latin typeface="GangwonEduPower" panose="020B0600000101010101" charset="-127"/>
                <a:ea typeface="GangwonEduPower" panose="020B0600000101010101" charset="-127"/>
              </a:rPr>
              <a:t>개발 현황</a:t>
            </a:r>
            <a:endParaRPr sz="2700" dirty="0">
              <a:latin typeface="GangwonEduPower" panose="020B0600000101010101" charset="-127"/>
              <a:ea typeface="GangwonEduPowe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523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F88FB-2A39-3FA3-2A6D-FF52F350E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0D1FA6-ABFE-1835-1E71-B2A2B53C4B9E}"/>
              </a:ext>
            </a:extLst>
          </p:cNvPr>
          <p:cNvSpPr/>
          <p:nvPr/>
        </p:nvSpPr>
        <p:spPr>
          <a:xfrm>
            <a:off x="-1" y="10097224"/>
            <a:ext cx="18543089" cy="189776"/>
          </a:xfrm>
          <a:custGeom>
            <a:avLst/>
            <a:gdLst/>
            <a:ahLst/>
            <a:cxnLst/>
            <a:rect l="l" t="t" r="r" b="b"/>
            <a:pathLst>
              <a:path w="18543089" h="189776">
                <a:moveTo>
                  <a:pt x="0" y="0"/>
                </a:moveTo>
                <a:lnTo>
                  <a:pt x="18543090" y="0"/>
                </a:lnTo>
                <a:lnTo>
                  <a:pt x="18543090" y="189776"/>
                </a:lnTo>
                <a:lnTo>
                  <a:pt x="0" y="18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87BCF36-62D6-E48F-74C9-4AF9B3A40BEC}"/>
              </a:ext>
            </a:extLst>
          </p:cNvPr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717E53-A6CF-68D8-F480-53EEEFE64DBA}"/>
                </a:ext>
              </a:extLst>
            </p:cNvPr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A345009-EC2E-9DDF-DADE-576DA19198B1}"/>
              </a:ext>
            </a:extLst>
          </p:cNvPr>
          <p:cNvGrpSpPr/>
          <p:nvPr/>
        </p:nvGrpSpPr>
        <p:grpSpPr>
          <a:xfrm>
            <a:off x="839495" y="1359082"/>
            <a:ext cx="114300" cy="822874"/>
            <a:chOff x="0" y="0"/>
            <a:chExt cx="152400" cy="10971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921CDBF-04AC-3515-1498-0A87627C0D64}"/>
                </a:ext>
              </a:extLst>
            </p:cNvPr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212367C-8B17-9C08-49B4-020A5068C5D6}"/>
              </a:ext>
            </a:extLst>
          </p:cNvPr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DC87FBC-915D-37D7-6B2E-5CB840F10BAF}"/>
                </a:ext>
              </a:extLst>
            </p:cNvPr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3504C76-5778-5CCC-A3F2-607CE41AD797}"/>
              </a:ext>
            </a:extLst>
          </p:cNvPr>
          <p:cNvSpPr txBox="1"/>
          <p:nvPr/>
        </p:nvSpPr>
        <p:spPr>
          <a:xfrm>
            <a:off x="1197541" y="1336112"/>
            <a:ext cx="14804458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아키텍처 개요 </a:t>
            </a:r>
            <a:r>
              <a:rPr lang="en-US" altLang="ko-KR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 </a:t>
            </a:r>
            <a:r>
              <a:rPr lang="en-US" altLang="ko-KR" sz="48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Unity</a:t>
            </a:r>
            <a:r>
              <a:rPr lang="ko-KR" altLang="en-US" sz="48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식 </a:t>
            </a:r>
            <a:r>
              <a:rPr lang="en-US" altLang="ko-KR" sz="48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MVC + </a:t>
            </a:r>
            <a:r>
              <a:rPr lang="ko-KR" altLang="en-US" sz="48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서비스 레이어</a:t>
            </a:r>
            <a:endParaRPr lang="en-US" sz="7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7D7924B-1417-096D-8D80-2B72D6F391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756" y="2767213"/>
            <a:ext cx="10126488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22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66A16-17C7-A32A-D0D9-F931A04F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C14459-D0F1-FA64-372E-D060F0884C56}"/>
              </a:ext>
            </a:extLst>
          </p:cNvPr>
          <p:cNvSpPr/>
          <p:nvPr/>
        </p:nvSpPr>
        <p:spPr>
          <a:xfrm>
            <a:off x="-1" y="10097224"/>
            <a:ext cx="18543089" cy="189776"/>
          </a:xfrm>
          <a:custGeom>
            <a:avLst/>
            <a:gdLst/>
            <a:ahLst/>
            <a:cxnLst/>
            <a:rect l="l" t="t" r="r" b="b"/>
            <a:pathLst>
              <a:path w="18543089" h="189776">
                <a:moveTo>
                  <a:pt x="0" y="0"/>
                </a:moveTo>
                <a:lnTo>
                  <a:pt x="18543090" y="0"/>
                </a:lnTo>
                <a:lnTo>
                  <a:pt x="18543090" y="189776"/>
                </a:lnTo>
                <a:lnTo>
                  <a:pt x="0" y="18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8A2629C-2328-5120-A90F-5E131B216BF1}"/>
              </a:ext>
            </a:extLst>
          </p:cNvPr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4F7DA6-463D-8680-4E77-883E8D54015A}"/>
                </a:ext>
              </a:extLst>
            </p:cNvPr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7D09268-4FCA-29E3-33FF-20F613EA087A}"/>
              </a:ext>
            </a:extLst>
          </p:cNvPr>
          <p:cNvGrpSpPr/>
          <p:nvPr/>
        </p:nvGrpSpPr>
        <p:grpSpPr>
          <a:xfrm>
            <a:off x="839495" y="1359082"/>
            <a:ext cx="114300" cy="822874"/>
            <a:chOff x="0" y="0"/>
            <a:chExt cx="152400" cy="10971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C7F73B9-D9D0-FFD5-81EF-FFF32DAC38FB}"/>
                </a:ext>
              </a:extLst>
            </p:cNvPr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8286AB18-0C91-E77F-6BF5-286E27F8BDDE}"/>
              </a:ext>
            </a:extLst>
          </p:cNvPr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81150EB-C33D-ACCF-3891-E269FD6B89A0}"/>
                </a:ext>
              </a:extLst>
            </p:cNvPr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EFCFF7E-2694-A9E0-92CB-8CED61D8A14D}"/>
              </a:ext>
            </a:extLst>
          </p:cNvPr>
          <p:cNvSpPr txBox="1"/>
          <p:nvPr/>
        </p:nvSpPr>
        <p:spPr>
          <a:xfrm>
            <a:off x="1197541" y="1336112"/>
            <a:ext cx="14804458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씬 구성</a:t>
            </a:r>
            <a:endParaRPr lang="en-US" sz="7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416B4D-7082-C9C4-E052-D15FB7165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2808806"/>
            <a:ext cx="4779632" cy="56874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1B6CD3B-846A-42DC-137C-D2E618B233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800832"/>
            <a:ext cx="5849155" cy="568749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2EA2540-F013-1B8F-07C1-E6FA8133FF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4322" y="2814122"/>
            <a:ext cx="3807277" cy="57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94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EC4AA-1738-DAFE-17C5-EAF19F88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179F63-C7DB-373B-8065-CB75387DD295}"/>
              </a:ext>
            </a:extLst>
          </p:cNvPr>
          <p:cNvSpPr/>
          <p:nvPr/>
        </p:nvSpPr>
        <p:spPr>
          <a:xfrm>
            <a:off x="-1" y="10097224"/>
            <a:ext cx="18543089" cy="189776"/>
          </a:xfrm>
          <a:custGeom>
            <a:avLst/>
            <a:gdLst/>
            <a:ahLst/>
            <a:cxnLst/>
            <a:rect l="l" t="t" r="r" b="b"/>
            <a:pathLst>
              <a:path w="18543089" h="189776">
                <a:moveTo>
                  <a:pt x="0" y="0"/>
                </a:moveTo>
                <a:lnTo>
                  <a:pt x="18543090" y="0"/>
                </a:lnTo>
                <a:lnTo>
                  <a:pt x="18543090" y="189776"/>
                </a:lnTo>
                <a:lnTo>
                  <a:pt x="0" y="18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3C690F7-404D-564C-8298-6AA8B0C99D26}"/>
              </a:ext>
            </a:extLst>
          </p:cNvPr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1FE88FD-7B31-C134-6888-82EC781902DA}"/>
                </a:ext>
              </a:extLst>
            </p:cNvPr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BD60D53-F2AB-3824-9040-2E34E572A8CA}"/>
              </a:ext>
            </a:extLst>
          </p:cNvPr>
          <p:cNvGrpSpPr/>
          <p:nvPr/>
        </p:nvGrpSpPr>
        <p:grpSpPr>
          <a:xfrm>
            <a:off x="839495" y="1359082"/>
            <a:ext cx="114300" cy="822874"/>
            <a:chOff x="0" y="0"/>
            <a:chExt cx="152400" cy="10971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15451AE-9319-66DF-7F58-0DC2FB270F3D}"/>
                </a:ext>
              </a:extLst>
            </p:cNvPr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D0AA4B5-3979-E82B-BA6E-973EAE0F5737}"/>
              </a:ext>
            </a:extLst>
          </p:cNvPr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B27CADD-BB4D-BDAF-FA3F-C02D93A7159F}"/>
                </a:ext>
              </a:extLst>
            </p:cNvPr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F49E81C8-BBEF-C640-4C5C-9421A5A8DCE4}"/>
              </a:ext>
            </a:extLst>
          </p:cNvPr>
          <p:cNvSpPr txBox="1"/>
          <p:nvPr/>
        </p:nvSpPr>
        <p:spPr>
          <a:xfrm>
            <a:off x="1197541" y="1336112"/>
            <a:ext cx="14804458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씬 구성</a:t>
            </a:r>
            <a:endParaRPr lang="en-US" sz="7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Bold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DEB17EA-A0D0-EA66-B7F8-8148282C7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282994"/>
            <a:ext cx="13061895" cy="777384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E533D25-A54F-8963-C1B7-C4B4064A74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541" y="7770784"/>
            <a:ext cx="6430272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95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B768-D02D-52EF-FDCC-6C9F5E4A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2731AE-07BF-F601-2B2F-B00CFC1CBBB5}"/>
              </a:ext>
            </a:extLst>
          </p:cNvPr>
          <p:cNvSpPr/>
          <p:nvPr/>
        </p:nvSpPr>
        <p:spPr>
          <a:xfrm>
            <a:off x="-1" y="10097224"/>
            <a:ext cx="18543089" cy="189776"/>
          </a:xfrm>
          <a:custGeom>
            <a:avLst/>
            <a:gdLst/>
            <a:ahLst/>
            <a:cxnLst/>
            <a:rect l="l" t="t" r="r" b="b"/>
            <a:pathLst>
              <a:path w="18543089" h="189776">
                <a:moveTo>
                  <a:pt x="0" y="0"/>
                </a:moveTo>
                <a:lnTo>
                  <a:pt x="18543090" y="0"/>
                </a:lnTo>
                <a:lnTo>
                  <a:pt x="18543090" y="189776"/>
                </a:lnTo>
                <a:lnTo>
                  <a:pt x="0" y="18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B5C6748-773E-1474-E36C-D9BA7E8032B6}"/>
              </a:ext>
            </a:extLst>
          </p:cNvPr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8F1C2F2-42E9-DC63-0395-22A26A7D66E6}"/>
                </a:ext>
              </a:extLst>
            </p:cNvPr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4FBB016-A6B3-0B47-6684-A52EC87EF888}"/>
              </a:ext>
            </a:extLst>
          </p:cNvPr>
          <p:cNvGrpSpPr/>
          <p:nvPr/>
        </p:nvGrpSpPr>
        <p:grpSpPr>
          <a:xfrm>
            <a:off x="839495" y="1359082"/>
            <a:ext cx="114300" cy="822874"/>
            <a:chOff x="0" y="0"/>
            <a:chExt cx="152400" cy="10971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0A1C23D-37A1-1C64-7F3F-CEAF8226AB58}"/>
                </a:ext>
              </a:extLst>
            </p:cNvPr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2ADE02B-9E20-2CE4-6273-9F2D56C4A0CE}"/>
              </a:ext>
            </a:extLst>
          </p:cNvPr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14401D0-79C9-25F4-AA89-166C37D67E7E}"/>
                </a:ext>
              </a:extLst>
            </p:cNvPr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0FD5B319-3E83-CBF1-6C5D-1576F3328448}"/>
              </a:ext>
            </a:extLst>
          </p:cNvPr>
          <p:cNvSpPr txBox="1"/>
          <p:nvPr/>
        </p:nvSpPr>
        <p:spPr>
          <a:xfrm>
            <a:off x="1197541" y="1336112"/>
            <a:ext cx="14804458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모델링 </a:t>
            </a:r>
            <a:r>
              <a:rPr lang="en-US" altLang="ko-KR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 </a:t>
            </a:r>
            <a:r>
              <a:rPr lang="en-US" altLang="ko-KR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9</a:t>
            </a:r>
            <a:r>
              <a:rPr lang="ko-KR" altLang="en-US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캐릭터 </a:t>
            </a:r>
            <a:r>
              <a:rPr lang="en-US" altLang="ko-KR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· 12</a:t>
            </a:r>
            <a:r>
              <a:rPr lang="ko-KR" altLang="en-US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건물 </a:t>
            </a:r>
            <a:r>
              <a:rPr lang="en-US" altLang="ko-KR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· 8</a:t>
            </a:r>
            <a:r>
              <a:rPr lang="ko-KR" altLang="en-US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환경</a:t>
            </a:r>
            <a:endParaRPr lang="en-US" sz="7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8E18200-286A-BD8D-C4E2-5D1130B72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855773"/>
            <a:ext cx="7198386" cy="23117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AD522AA-BD48-25F3-58DC-6E6A740E2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909" y="2831776"/>
            <a:ext cx="3125583" cy="252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AEC650A-9E7E-69AD-F0E3-B058117E5F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7509" y="2831748"/>
            <a:ext cx="2912778" cy="2520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9AABAA2-2D5D-A7D9-0441-F761E33AFF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05509" y="2831748"/>
            <a:ext cx="3149091" cy="252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4B2B2B0-A2F8-D744-1A7D-B393C09EF3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268" y="6127573"/>
            <a:ext cx="3131024" cy="2520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545A460-9308-0C21-5306-4C5464BACA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5767" y="6127573"/>
            <a:ext cx="3205014" cy="2520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5396FF5-0E86-5848-E596-D11597D5D4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9967" y="6127573"/>
            <a:ext cx="2986813" cy="252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DB56D9A-7EE6-35A0-ED4B-C39D057527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1767" y="6134100"/>
            <a:ext cx="2932990" cy="252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FEFC2DD-BFCC-9983-7DB6-FD51962C38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24967" y="6134100"/>
            <a:ext cx="2948855" cy="2520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C11B0CE-A111-8969-DC56-39B65CB25D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73822" y="6134100"/>
            <a:ext cx="2809378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36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18BB-22BA-BACF-20E3-9B45FDBE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A6557D-E7D7-56A0-0F96-E934331D9CF7}"/>
              </a:ext>
            </a:extLst>
          </p:cNvPr>
          <p:cNvSpPr/>
          <p:nvPr/>
        </p:nvSpPr>
        <p:spPr>
          <a:xfrm>
            <a:off x="-1" y="10097224"/>
            <a:ext cx="18543089" cy="189776"/>
          </a:xfrm>
          <a:custGeom>
            <a:avLst/>
            <a:gdLst/>
            <a:ahLst/>
            <a:cxnLst/>
            <a:rect l="l" t="t" r="r" b="b"/>
            <a:pathLst>
              <a:path w="18543089" h="189776">
                <a:moveTo>
                  <a:pt x="0" y="0"/>
                </a:moveTo>
                <a:lnTo>
                  <a:pt x="18543090" y="0"/>
                </a:lnTo>
                <a:lnTo>
                  <a:pt x="18543090" y="189776"/>
                </a:lnTo>
                <a:lnTo>
                  <a:pt x="0" y="18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2D703CB-A049-243E-279E-685AAD1F6784}"/>
              </a:ext>
            </a:extLst>
          </p:cNvPr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1A7591-79E3-1590-BDCD-B23CEC91A8C4}"/>
                </a:ext>
              </a:extLst>
            </p:cNvPr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BE8FCB8-E311-0D2F-E3D7-F2DA0E83A6D4}"/>
              </a:ext>
            </a:extLst>
          </p:cNvPr>
          <p:cNvGrpSpPr/>
          <p:nvPr/>
        </p:nvGrpSpPr>
        <p:grpSpPr>
          <a:xfrm>
            <a:off x="839495" y="1359082"/>
            <a:ext cx="114300" cy="822874"/>
            <a:chOff x="0" y="0"/>
            <a:chExt cx="152400" cy="10971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2E8561-23C8-757C-3419-93EB6F551367}"/>
                </a:ext>
              </a:extLst>
            </p:cNvPr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49D906C-5880-7CC4-DB4A-DE3772D899CC}"/>
              </a:ext>
            </a:extLst>
          </p:cNvPr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AAB5BF8-5238-6DE1-8700-CE6157EF522E}"/>
                </a:ext>
              </a:extLst>
            </p:cNvPr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43274FD7-EB33-ACD5-5587-CAA3697AE72B}"/>
              </a:ext>
            </a:extLst>
          </p:cNvPr>
          <p:cNvSpPr txBox="1"/>
          <p:nvPr/>
        </p:nvSpPr>
        <p:spPr>
          <a:xfrm>
            <a:off x="1197541" y="1336112"/>
            <a:ext cx="14804458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모델링 </a:t>
            </a:r>
            <a:r>
              <a:rPr lang="en-US" altLang="ko-KR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 </a:t>
            </a:r>
            <a:r>
              <a:rPr lang="en-US" altLang="ko-KR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9</a:t>
            </a:r>
            <a:r>
              <a:rPr lang="ko-KR" altLang="en-US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캐릭터 </a:t>
            </a:r>
            <a:r>
              <a:rPr lang="en-US" altLang="ko-KR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· 12</a:t>
            </a:r>
            <a:r>
              <a:rPr lang="ko-KR" altLang="en-US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건물 </a:t>
            </a:r>
            <a:r>
              <a:rPr lang="en-US" altLang="ko-KR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· 8</a:t>
            </a:r>
            <a:r>
              <a:rPr lang="ko-KR" altLang="en-US" sz="54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환경</a:t>
            </a:r>
            <a:endParaRPr lang="en-US" sz="7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2AFA58-90DB-C02F-7172-AACB9EA7F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95" y="2855773"/>
            <a:ext cx="7335274" cy="23625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18A1185-993D-6F75-D052-4E877D8806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4231" y="5341478"/>
            <a:ext cx="6125430" cy="395342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6F0EBB5-7EE9-32B2-99C1-7600F970CC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341" y="5399151"/>
            <a:ext cx="5335385" cy="3960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A538933-C678-3B0C-A56C-9243E86DEB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8283" y="2407007"/>
            <a:ext cx="8040222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0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55E7-B147-867C-3426-50234585D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D44F49-0CF4-4955-11BA-5885E043E968}"/>
              </a:ext>
            </a:extLst>
          </p:cNvPr>
          <p:cNvSpPr/>
          <p:nvPr/>
        </p:nvSpPr>
        <p:spPr>
          <a:xfrm>
            <a:off x="-1" y="10097224"/>
            <a:ext cx="18543089" cy="189776"/>
          </a:xfrm>
          <a:custGeom>
            <a:avLst/>
            <a:gdLst/>
            <a:ahLst/>
            <a:cxnLst/>
            <a:rect l="l" t="t" r="r" b="b"/>
            <a:pathLst>
              <a:path w="18543089" h="189776">
                <a:moveTo>
                  <a:pt x="0" y="0"/>
                </a:moveTo>
                <a:lnTo>
                  <a:pt x="18543090" y="0"/>
                </a:lnTo>
                <a:lnTo>
                  <a:pt x="18543090" y="189776"/>
                </a:lnTo>
                <a:lnTo>
                  <a:pt x="0" y="18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E03AAD2-27EA-1CAA-1955-4ECB0316A79E}"/>
              </a:ext>
            </a:extLst>
          </p:cNvPr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F5F81B6-1D5B-57FC-8287-0A511D7E86FE}"/>
                </a:ext>
              </a:extLst>
            </p:cNvPr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1530AAB-3146-6260-2766-E96908B94E8D}"/>
              </a:ext>
            </a:extLst>
          </p:cNvPr>
          <p:cNvGrpSpPr/>
          <p:nvPr/>
        </p:nvGrpSpPr>
        <p:grpSpPr>
          <a:xfrm>
            <a:off x="839495" y="1359082"/>
            <a:ext cx="114300" cy="822874"/>
            <a:chOff x="0" y="0"/>
            <a:chExt cx="152400" cy="10971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BF06A93-E4A0-9BDD-8D48-E6B40F7D94E7}"/>
                </a:ext>
              </a:extLst>
            </p:cNvPr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A7C1EB3-9699-0BA1-4670-BE2B80C36C06}"/>
              </a:ext>
            </a:extLst>
          </p:cNvPr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66D4B17-9687-5857-7F0D-8CBBD2F5EBC7}"/>
                </a:ext>
              </a:extLst>
            </p:cNvPr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CA1C1D2-8D8C-FB0F-EE7C-BFB2B5E8F1BC}"/>
              </a:ext>
            </a:extLst>
          </p:cNvPr>
          <p:cNvSpPr txBox="1"/>
          <p:nvPr/>
        </p:nvSpPr>
        <p:spPr>
          <a:xfrm>
            <a:off x="1197541" y="1336112"/>
            <a:ext cx="14804458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코드 아키텍처 레이어</a:t>
            </a:r>
            <a:endParaRPr lang="en-US" sz="7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ECB82A1-5CBA-7D6C-462F-D0214E294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752" y="2742062"/>
            <a:ext cx="8221222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02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25D0B-BB2D-5207-D347-A420DC2A2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26A4CB-45F9-41F9-5F43-A11B3877FEEE}"/>
              </a:ext>
            </a:extLst>
          </p:cNvPr>
          <p:cNvSpPr/>
          <p:nvPr/>
        </p:nvSpPr>
        <p:spPr>
          <a:xfrm>
            <a:off x="-1" y="10097224"/>
            <a:ext cx="18543089" cy="189776"/>
          </a:xfrm>
          <a:custGeom>
            <a:avLst/>
            <a:gdLst/>
            <a:ahLst/>
            <a:cxnLst/>
            <a:rect l="l" t="t" r="r" b="b"/>
            <a:pathLst>
              <a:path w="18543089" h="189776">
                <a:moveTo>
                  <a:pt x="0" y="0"/>
                </a:moveTo>
                <a:lnTo>
                  <a:pt x="18543090" y="0"/>
                </a:lnTo>
                <a:lnTo>
                  <a:pt x="18543090" y="189776"/>
                </a:lnTo>
                <a:lnTo>
                  <a:pt x="0" y="18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8CA082-5978-2461-044E-79A5BF3D72EA}"/>
              </a:ext>
            </a:extLst>
          </p:cNvPr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F8401BE-9F66-3B7F-AED5-64E1C676A3F3}"/>
                </a:ext>
              </a:extLst>
            </p:cNvPr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F8B668F-6458-FADD-C9D0-4D1BF533D9CB}"/>
              </a:ext>
            </a:extLst>
          </p:cNvPr>
          <p:cNvGrpSpPr/>
          <p:nvPr/>
        </p:nvGrpSpPr>
        <p:grpSpPr>
          <a:xfrm>
            <a:off x="839495" y="1359082"/>
            <a:ext cx="114300" cy="822874"/>
            <a:chOff x="0" y="0"/>
            <a:chExt cx="152400" cy="10971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283F815-4600-4948-6AA5-DD62B44B2FFB}"/>
                </a:ext>
              </a:extLst>
            </p:cNvPr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A3A5B65-5D8C-AFFD-2F5B-F2945F6C8420}"/>
              </a:ext>
            </a:extLst>
          </p:cNvPr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2031309-935F-141A-2C30-BC4186E9A443}"/>
                </a:ext>
              </a:extLst>
            </p:cNvPr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7B5DAFD-247B-ACC4-101C-FA07DBC8FDE0}"/>
              </a:ext>
            </a:extLst>
          </p:cNvPr>
          <p:cNvSpPr txBox="1"/>
          <p:nvPr/>
        </p:nvSpPr>
        <p:spPr>
          <a:xfrm>
            <a:off x="1197541" y="1336112"/>
            <a:ext cx="14804458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코드 </a:t>
            </a:r>
            <a:r>
              <a:rPr lang="en-US" altLang="ko-KR" sz="70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EconomyService</a:t>
            </a: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 </a:t>
            </a:r>
            <a:endParaRPr lang="en-US" sz="7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ED3A50-ABE5-E466-18C3-6173B643D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9" y="2808806"/>
            <a:ext cx="5656265" cy="576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BFBA04C-8A0C-B243-B3F0-8B017A8E21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622" y="2808806"/>
            <a:ext cx="5240755" cy="5760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732EA62-7B40-1425-12C8-D23659518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9683" y="2808806"/>
            <a:ext cx="6003552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2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FF72-3655-BC50-246F-0522EDD3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2FB12A-EAE9-A60A-B1B1-CE6CA8B1E04F}"/>
              </a:ext>
            </a:extLst>
          </p:cNvPr>
          <p:cNvSpPr/>
          <p:nvPr/>
        </p:nvSpPr>
        <p:spPr>
          <a:xfrm>
            <a:off x="-1" y="10097224"/>
            <a:ext cx="18543089" cy="189776"/>
          </a:xfrm>
          <a:custGeom>
            <a:avLst/>
            <a:gdLst/>
            <a:ahLst/>
            <a:cxnLst/>
            <a:rect l="l" t="t" r="r" b="b"/>
            <a:pathLst>
              <a:path w="18543089" h="189776">
                <a:moveTo>
                  <a:pt x="0" y="0"/>
                </a:moveTo>
                <a:lnTo>
                  <a:pt x="18543090" y="0"/>
                </a:lnTo>
                <a:lnTo>
                  <a:pt x="18543090" y="189776"/>
                </a:lnTo>
                <a:lnTo>
                  <a:pt x="0" y="18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B8C5AC5-1945-A088-478A-DC559F26BDB5}"/>
              </a:ext>
            </a:extLst>
          </p:cNvPr>
          <p:cNvGrpSpPr/>
          <p:nvPr/>
        </p:nvGrpSpPr>
        <p:grpSpPr>
          <a:xfrm>
            <a:off x="-139703" y="838200"/>
            <a:ext cx="18580103" cy="12697"/>
            <a:chOff x="0" y="0"/>
            <a:chExt cx="24773471" cy="1692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5A327D-2DD1-2085-E029-B2D1EF2A9A27}"/>
                </a:ext>
              </a:extLst>
            </p:cNvPr>
            <p:cNvSpPr/>
            <p:nvPr/>
          </p:nvSpPr>
          <p:spPr>
            <a:xfrm>
              <a:off x="0" y="0"/>
              <a:ext cx="24773510" cy="16891"/>
            </a:xfrm>
            <a:custGeom>
              <a:avLst/>
              <a:gdLst/>
              <a:ahLst/>
              <a:cxnLst/>
              <a:rect l="l" t="t" r="r" b="b"/>
              <a:pathLst>
                <a:path w="24773510" h="16891">
                  <a:moveTo>
                    <a:pt x="0" y="0"/>
                  </a:moveTo>
                  <a:lnTo>
                    <a:pt x="24773510" y="0"/>
                  </a:lnTo>
                  <a:lnTo>
                    <a:pt x="24773510" y="16891"/>
                  </a:lnTo>
                  <a:lnTo>
                    <a:pt x="0" y="16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12" b="-2533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1F7994E-B2DA-3324-1CF4-32032EB3DCAD}"/>
              </a:ext>
            </a:extLst>
          </p:cNvPr>
          <p:cNvGrpSpPr/>
          <p:nvPr/>
        </p:nvGrpSpPr>
        <p:grpSpPr>
          <a:xfrm>
            <a:off x="839495" y="1359082"/>
            <a:ext cx="114300" cy="822874"/>
            <a:chOff x="0" y="0"/>
            <a:chExt cx="152400" cy="10971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FC3C29D-EB60-EAC2-46F7-2A959781C142}"/>
                </a:ext>
              </a:extLst>
            </p:cNvPr>
            <p:cNvSpPr/>
            <p:nvPr/>
          </p:nvSpPr>
          <p:spPr>
            <a:xfrm>
              <a:off x="0" y="0"/>
              <a:ext cx="152400" cy="1097153"/>
            </a:xfrm>
            <a:custGeom>
              <a:avLst/>
              <a:gdLst/>
              <a:ahLst/>
              <a:cxnLst/>
              <a:rect l="l" t="t" r="r" b="b"/>
              <a:pathLst>
                <a:path w="152400" h="1097153">
                  <a:moveTo>
                    <a:pt x="0" y="0"/>
                  </a:moveTo>
                  <a:lnTo>
                    <a:pt x="152400" y="0"/>
                  </a:lnTo>
                  <a:lnTo>
                    <a:pt x="152400" y="1097153"/>
                  </a:lnTo>
                  <a:lnTo>
                    <a:pt x="0" y="1097153"/>
                  </a:lnTo>
                  <a:close/>
                </a:path>
              </a:pathLst>
            </a:custGeom>
            <a:solidFill>
              <a:srgbClr val="15704D"/>
            </a:solidFill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2344BEC-FAE7-DFD6-C440-20AE97654014}"/>
              </a:ext>
            </a:extLst>
          </p:cNvPr>
          <p:cNvGrpSpPr/>
          <p:nvPr/>
        </p:nvGrpSpPr>
        <p:grpSpPr>
          <a:xfrm>
            <a:off x="-139703" y="9423397"/>
            <a:ext cx="18580103" cy="863603"/>
            <a:chOff x="0" y="0"/>
            <a:chExt cx="24773471" cy="11514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0AE33BE-7BC5-A855-F93D-54D420367786}"/>
                </a:ext>
              </a:extLst>
            </p:cNvPr>
            <p:cNvSpPr/>
            <p:nvPr/>
          </p:nvSpPr>
          <p:spPr>
            <a:xfrm>
              <a:off x="0" y="0"/>
              <a:ext cx="24773510" cy="1151509"/>
            </a:xfrm>
            <a:custGeom>
              <a:avLst/>
              <a:gdLst/>
              <a:ahLst/>
              <a:cxnLst/>
              <a:rect l="l" t="t" r="r" b="b"/>
              <a:pathLst>
                <a:path w="24773510" h="1151509">
                  <a:moveTo>
                    <a:pt x="0" y="0"/>
                  </a:moveTo>
                  <a:lnTo>
                    <a:pt x="24773510" y="0"/>
                  </a:lnTo>
                  <a:lnTo>
                    <a:pt x="2477351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3" r="-352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C093DA6E-E376-50BE-2F26-2D9FC02BAF2B}"/>
              </a:ext>
            </a:extLst>
          </p:cNvPr>
          <p:cNvSpPr txBox="1"/>
          <p:nvPr/>
        </p:nvSpPr>
        <p:spPr>
          <a:xfrm>
            <a:off x="1197541" y="1336112"/>
            <a:ext cx="14804458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코드 </a:t>
            </a:r>
            <a:r>
              <a:rPr lang="en-US" altLang="ko-KR" sz="7000" b="1" dirty="0" err="1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NPCProfile</a:t>
            </a:r>
            <a:r>
              <a:rPr lang="ko-KR" altLang="en-US" sz="7000" b="1" dirty="0">
                <a:solidFill>
                  <a:srgbClr val="00624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Pretendard Bold"/>
              </a:rPr>
              <a:t> </a:t>
            </a:r>
            <a:endParaRPr lang="en-US" sz="7000" b="1" dirty="0">
              <a:solidFill>
                <a:srgbClr val="00624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Pretendard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08A77CD-D353-924B-05B4-4E9ECFDD8A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35" y="2584379"/>
            <a:ext cx="8920768" cy="648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AEE9D93-D981-B1E2-9673-EB17B39DF7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703" y="2585265"/>
            <a:ext cx="7339687" cy="6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45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/>
        </p:nvSpPr>
        <p:spPr>
          <a:xfrm>
            <a:off x="457914" y="4451002"/>
            <a:ext cx="1737217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0" b="1" dirty="0">
                <a:solidFill>
                  <a:srgbClr val="15704D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sz="2700" dirty="0">
              <a:solidFill>
                <a:srgbClr val="15704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1944</Words>
  <Application>Microsoft Office PowerPoint</Application>
  <PresentationFormat>사용자 지정</PresentationFormat>
  <Paragraphs>269</Paragraphs>
  <Slides>31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Arial</vt:lpstr>
      <vt:lpstr>맑은 고딕</vt:lpstr>
      <vt:lpstr>GangwonEduPower</vt:lpstr>
      <vt:lpstr>Pretendard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신동준</dc:creator>
  <cp:lastModifiedBy>동준 신</cp:lastModifiedBy>
  <cp:revision>14</cp:revision>
  <cp:lastPrinted>2026-04-07T02:39:34Z</cp:lastPrinted>
  <dcterms:created xsi:type="dcterms:W3CDTF">2006-08-16T00:00:00Z</dcterms:created>
  <dcterms:modified xsi:type="dcterms:W3CDTF">2026-04-14T05:06:46Z</dcterms:modified>
</cp:coreProperties>
</file>