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8288000" cy="10287000" type="wide"/>
  <p:notesSz cx="6858000" cy="9144000"/>
  <p:defaultTextStyle>
    <a:defPPr>
      <a:defRPr lang="ko-KR"/>
    </a:defPPr>
  </p:defaultTextStyle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/>
</file>

<file path=ppt/slides/_rels/slide2.xml.rels><?xml version="1.0" encoding="UTF-8" standalone="yes"?><Relationships xmlns="http://schemas.openxmlformats.org/package/2006/relationships"/>
</file>

<file path=ppt/slides/_rels/slide3.xml.rels><?xml version="1.0" encoding="UTF-8" standalone="yes"?><Relationships xmlns="http://schemas.openxmlformats.org/package/2006/relationships"/>
</file>

<file path=ppt/slides/_rels/slide4.xml.rels><?xml version="1.0" encoding="UTF-8" standalone="yes"?><Relationships xmlns="http://schemas.openxmlformats.org/package/2006/relationships"/>
</file>

<file path=ppt/slides/_rels/slide5.xml.rels><?xml version="1.0" encoding="UTF-8" standalone="yes"?><Relationships xmlns="http://schemas.openxmlformats.org/package/2006/relationships"/>
</file>

<file path=ppt/slides/_rels/slide6.xml.rels><?xml version="1.0" encoding="UTF-8" standalone="yes"?><Relationships xmlns="http://schemas.openxmlformats.org/package/2006/relationships"/>
</file>

<file path=ppt/slides/_rels/slide7.xml.rels><?xml version="1.0" encoding="UTF-8" standalone="yes"?><Relationships xmlns="http://schemas.openxmlformats.org/package/2006/relationships"/>
</file>

<file path=ppt/slides/_rels/slide8.xml.rels><?xml version="1.0" encoding="UTF-8" standalone="yes"?><Relationships xmlns="http://schemas.openxmlformats.org/package/2006/relationships"/>
</file>

<file path=ppt/slides/_rels/slide9.xml.rels><?xml version="1.0" encoding="UTF-8" standalone="yes"?><Relationships xmlns="http://schemas.openxmlformats.org/package/2006/relationships"/>
</file>

<file path=ppt/slides/_rels/slide10.xml.rels><?xml version="1.0" encoding="UTF-8" standalone="yes"?><Relationships xmlns="http://schemas.openxmlformats.org/package/2006/relationships"/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DFDFB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640080" y="502920"/>
            <a:ext cx="146304" cy="1097280"/>
          </a:xfrm>
          <a:prstGeom prst="rect">
            <a:avLst/>
          </a:prstGeom>
          <a:solidFill>
            <a:srgbClr val="15704D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914400" y="54864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ko-KR" sz="4000" b="1">
                <a:solidFill>
                  <a:srgbClr val="15704D"/>
                </a:solidFill>
                <a:latin typeface="Malgun Gothic"/>
                <a:ea typeface="Malgun Gothic"/>
                <a:cs typeface="Malgun Gothic"/>
              </a:rPr>
              <a:t>Project P.A</a:t>
            </a:r>
            <a:endParaRPr lang="ko-KR" sz="4000"/>
          </a:p>
        </p:txBody>
      </p:sp>
      <p:sp>
        <p:nvSpPr>
          <p:cNvPr id="5" name="TextBox 5"/>
          <p:cNvSpPr txBox="1"/>
          <p:nvPr/>
        </p:nvSpPr>
        <p:spPr>
          <a:xfrm>
            <a:off x="960120" y="123444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ko-KR" sz="3400" b="1">
                <a:solidFill>
                  <a:srgbClr val="1F2D37"/>
                </a:solidFill>
                <a:latin typeface="Malgun Gothic"/>
                <a:ea typeface="Malgun Gothic"/>
                <a:cs typeface="Malgun Gothic"/>
              </a:rPr>
              <a:t>11주차 구현 현황 발표</a:t>
            </a:r>
            <a:endParaRPr lang="ko-KR" sz="3400"/>
          </a:p>
        </p:txBody>
      </p:sp>
      <p:sp>
        <p:nvSpPr>
          <p:cNvPr id="6" name="TextBox 6"/>
          <p:cNvSpPr txBox="1"/>
          <p:nvPr/>
        </p:nvSpPr>
        <p:spPr>
          <a:xfrm>
            <a:off x="987552" y="2057400"/>
            <a:ext cx="978408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ko-KR" sz="1900" b="0">
                <a:solidFill>
                  <a:srgbClr val="4D4D4D"/>
                </a:solidFill>
                <a:latin typeface="Malgun Gothic"/>
                <a:ea typeface="Malgun Gothic"/>
                <a:cs typeface="Malgun Gothic"/>
              </a:rPr>
              <a:t>동물의 숲 감성의 상점 운영 게임 · 수직 슬라이스 중심 개발</a:t>
            </a:r>
            <a:endParaRPr lang="ko-KR" sz="1900"/>
          </a:p>
        </p:txBody>
      </p:sp>
      <p:sp>
        <p:nvSpPr>
          <p:cNvPr id="7" name="Shape 7"/>
          <p:cNvSpPr/>
          <p:nvPr/>
        </p:nvSpPr>
        <p:spPr>
          <a:xfrm>
            <a:off x="914400" y="2834640"/>
            <a:ext cx="5577840" cy="4160520"/>
          </a:xfrm>
          <a:prstGeom prst="rect">
            <a:avLst/>
          </a:prstGeom>
          <a:solidFill>
            <a:srgbClr val="1F2D37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TextBox 8"/>
          <p:cNvSpPr txBox="1"/>
          <p:nvPr/>
        </p:nvSpPr>
        <p:spPr>
          <a:xfrm>
            <a:off x="1234440" y="3246120"/>
            <a:ext cx="493776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ko-KR" sz="2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발표 범위</a:t>
            </a:r>
            <a:endParaRPr lang="ko-KR" sz="2500"/>
          </a:p>
        </p:txBody>
      </p:sp>
      <p:sp>
        <p:nvSpPr>
          <p:cNvPr id="9" name="TextBox 9"/>
          <p:cNvSpPr txBox="1"/>
          <p:nvPr/>
        </p:nvSpPr>
        <p:spPr>
          <a:xfrm>
            <a:off x="1280160" y="3931920"/>
            <a:ext cx="4754880" cy="246888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marL="342900" indent="-171450">
              <a:buChar char="•"/>
            </a:pPr>
            <a:r>
              <a:rPr lang="ko-KR" sz="18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현재 구현된 플레이 루프</a:t>
            </a:r>
            <a:endParaRPr lang="ko-KR" sz="1800"/>
          </a:p>
          <a:p>
            <a:pPr marL="342900" indent="-171450">
              <a:buChar char="•"/>
            </a:pPr>
            <a:r>
              <a:rPr lang="ko-KR" sz="18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상점 운영/NPC 경제/스마트폰 UI</a:t>
            </a:r>
            <a:endParaRPr lang="ko-KR" sz="1800"/>
          </a:p>
          <a:p>
            <a:pPr marL="342900" indent="-171450">
              <a:buChar char="•"/>
            </a:pPr>
            <a:r>
              <a:rPr lang="ko-KR" sz="18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11주차 기준 부족한 부분과 다음 일정</a:t>
            </a:r>
            <a:endParaRPr lang="ko-KR" sz="1800"/>
          </a:p>
        </p:txBody>
      </p:sp>
      <p:sp>
        <p:nvSpPr>
          <p:cNvPr id="10" name="Shape 10"/>
          <p:cNvSpPr/>
          <p:nvPr/>
        </p:nvSpPr>
        <p:spPr>
          <a:xfrm>
            <a:off x="6949440" y="2834640"/>
            <a:ext cx="978408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C6"/>
            </a:solidFill>
          </a:ln>
        </p:spPr>
        <p:txBody>
          <a:bodyPr/>
          <a:lstStyle/>
          <a:p/>
        </p:txBody>
      </p:sp>
      <p:sp>
        <p:nvSpPr>
          <p:cNvPr id="11" name="TextBox 11"/>
          <p:cNvSpPr txBox="1"/>
          <p:nvPr/>
        </p:nvSpPr>
        <p:spPr>
          <a:xfrm>
            <a:off x="7315200" y="3246120"/>
            <a:ext cx="89611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ko-KR" sz="2000" b="1">
                <a:solidFill>
                  <a:srgbClr val="15704D"/>
                </a:solidFill>
                <a:latin typeface="Malgun Gothic"/>
                <a:ea typeface="Malgun Gothic"/>
                <a:cs typeface="Malgun Gothic"/>
              </a:rPr>
              <a:t>한 줄 정의</a:t>
            </a:r>
            <a:endParaRPr lang="ko-KR" sz="2000"/>
          </a:p>
        </p:txBody>
      </p:sp>
      <p:sp>
        <p:nvSpPr>
          <p:cNvPr id="12" name="TextBox 12"/>
          <p:cNvSpPr txBox="1"/>
          <p:nvPr/>
        </p:nvSpPr>
        <p:spPr>
          <a:xfrm>
            <a:off x="7315200" y="3886200"/>
            <a:ext cx="8595360" cy="13716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ko-KR" sz="2200" b="1">
                <a:solidFill>
                  <a:srgbClr val="1F1F1F"/>
                </a:solidFill>
                <a:latin typeface="Malgun Gothic"/>
                <a:ea typeface="Malgun Gothic"/>
                <a:cs typeface="Malgun Gothic"/>
              </a:rPr>
              <a:t>플레이어가 마을 상점을 직접 운영하고, NPC 성향과 관계를 읽어 상품을 진열하며, 매출로 마을 기능을 해금하는 생활형 경영 시뮬레이션</a:t>
            </a:r>
            <a:endParaRPr lang="ko-KR" sz="2200"/>
          </a:p>
        </p:txBody>
      </p:sp>
      <p:sp>
        <p:nvSpPr>
          <p:cNvPr id="13" name="Shape 13"/>
          <p:cNvSpPr/>
          <p:nvPr/>
        </p:nvSpPr>
        <p:spPr>
          <a:xfrm>
            <a:off x="7315200" y="5715000"/>
            <a:ext cx="2011680" cy="502920"/>
          </a:xfrm>
          <a:prstGeom prst="roundRect">
            <a:avLst/>
          </a:prstGeom>
          <a:solidFill>
            <a:srgbClr val="15704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Box 14"/>
          <p:cNvSpPr txBox="1"/>
          <p:nvPr/>
        </p:nvSpPr>
        <p:spPr>
          <a:xfrm>
            <a:off x="7315200" y="5751576"/>
            <a:ext cx="2011680" cy="466344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ko-KR" sz="16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상점 운영</a:t>
            </a:r>
            <a:endParaRPr lang="ko-KR" sz="1600"/>
          </a:p>
        </p:txBody>
      </p:sp>
      <p:sp>
        <p:nvSpPr>
          <p:cNvPr id="15" name="Shape 15"/>
          <p:cNvSpPr/>
          <p:nvPr/>
        </p:nvSpPr>
        <p:spPr>
          <a:xfrm>
            <a:off x="9555480" y="5715000"/>
            <a:ext cx="2103120" cy="502920"/>
          </a:xfrm>
          <a:prstGeom prst="roundRect">
            <a:avLst/>
          </a:prstGeom>
          <a:solidFill>
            <a:srgbClr val="4E7C7D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TextBox 16"/>
          <p:cNvSpPr txBox="1"/>
          <p:nvPr/>
        </p:nvSpPr>
        <p:spPr>
          <a:xfrm>
            <a:off x="9555480" y="5751576"/>
            <a:ext cx="2103120" cy="466344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ko-KR" sz="16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NPC 경제</a:t>
            </a:r>
            <a:endParaRPr lang="ko-KR" sz="1600"/>
          </a:p>
        </p:txBody>
      </p:sp>
      <p:sp>
        <p:nvSpPr>
          <p:cNvPr id="17" name="Shape 17"/>
          <p:cNvSpPr/>
          <p:nvPr/>
        </p:nvSpPr>
        <p:spPr>
          <a:xfrm>
            <a:off x="11887200" y="5715000"/>
            <a:ext cx="2103120" cy="502920"/>
          </a:xfrm>
          <a:prstGeom prst="roundRect">
            <a:avLst/>
          </a:prstGeom>
          <a:solidFill>
            <a:srgbClr val="5F8883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TextBox 18"/>
          <p:cNvSpPr txBox="1"/>
          <p:nvPr/>
        </p:nvSpPr>
        <p:spPr>
          <a:xfrm>
            <a:off x="11887200" y="5751576"/>
            <a:ext cx="2103120" cy="466344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ko-KR" sz="16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티어 해금</a:t>
            </a:r>
            <a:endParaRPr lang="ko-KR" sz="1600"/>
          </a:p>
        </p:txBody>
      </p:sp>
      <p:sp>
        <p:nvSpPr>
          <p:cNvPr id="19" name="Shape 19"/>
          <p:cNvSpPr/>
          <p:nvPr/>
        </p:nvSpPr>
        <p:spPr>
          <a:xfrm>
            <a:off x="14218920" y="5715000"/>
            <a:ext cx="1920240" cy="502920"/>
          </a:xfrm>
          <a:prstGeom prst="roundRect">
            <a:avLst/>
          </a:prstGeom>
          <a:solidFill>
            <a:srgbClr val="1F2D37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Box 20"/>
          <p:cNvSpPr txBox="1"/>
          <p:nvPr/>
        </p:nvSpPr>
        <p:spPr>
          <a:xfrm>
            <a:off x="14218920" y="5751576"/>
            <a:ext cx="1920240" cy="466344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ko-KR" sz="16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스마트폰</a:t>
            </a:r>
            <a:endParaRPr lang="ko-KR" sz="1600"/>
          </a:p>
        </p:txBody>
      </p:sp>
      <p:sp>
        <p:nvSpPr>
          <p:cNvPr id="21" name="Shape 21"/>
          <p:cNvSpPr/>
          <p:nvPr/>
        </p:nvSpPr>
        <p:spPr>
          <a:xfrm>
            <a:off x="0" y="9784080"/>
            <a:ext cx="18288000" cy="502920"/>
          </a:xfrm>
          <a:prstGeom prst="rect">
            <a:avLst/>
          </a:prstGeom>
          <a:solidFill>
            <a:srgbClr val="06402B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TextBox 22"/>
          <p:cNvSpPr txBox="1"/>
          <p:nvPr/>
        </p:nvSpPr>
        <p:spPr>
          <a:xfrm>
            <a:off x="640080" y="9875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ko-KR" sz="1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Project P.A.  |  졸업작품 개발현황</a:t>
            </a:r>
            <a:endParaRPr lang="ko-KR" sz="1000"/>
          </a:p>
        </p:txBody>
      </p:sp>
      <p:sp>
        <p:nvSpPr>
          <p:cNvPr id="23" name="TextBox 23"/>
          <p:cNvSpPr txBox="1"/>
          <p:nvPr/>
        </p:nvSpPr>
        <p:spPr>
          <a:xfrm>
            <a:off x="17190720" y="9875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r"/>
            <a:r>
              <a:rPr lang="ko-KR" sz="1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  <a:endParaRPr lang="ko-KR"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4"/>
          <p:cNvSpPr txBox="1"/>
          <p:nvPr/>
        </p:nvSpPr>
        <p:spPr>
          <a:xfrm>
            <a:off x="594360" y="411480"/>
            <a:ext cx="11704320" cy="65836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ko-KR" sz="4200" b="1">
                <a:solidFill>
                  <a:srgbClr val="15704D"/>
                </a:solidFill>
                <a:latin typeface="Malgun Gothic"/>
                <a:ea typeface="Malgun Gothic"/>
                <a:cs typeface="Malgun Gothic"/>
              </a:rPr>
              <a:t>게임의 방향</a:t>
            </a:r>
            <a:endParaRPr lang="ko-KR" sz="4200"/>
          </a:p>
        </p:txBody>
      </p:sp>
      <p:sp>
        <p:nvSpPr>
          <p:cNvPr id="25" name="TextBox 25"/>
          <p:cNvSpPr txBox="1"/>
          <p:nvPr/>
        </p:nvSpPr>
        <p:spPr>
          <a:xfrm>
            <a:off x="658368" y="1143000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ko-KR" sz="1500" b="0">
                <a:solidFill>
                  <a:srgbClr val="4D4D4D"/>
                </a:solidFill>
                <a:latin typeface="Malgun Gothic"/>
                <a:ea typeface="Malgun Gothic"/>
                <a:cs typeface="Malgun Gothic"/>
              </a:rPr>
              <a:t>아이디어의 출발점과 현재 구현 목표</a:t>
            </a:r>
            <a:endParaRPr lang="ko-KR" sz="1500"/>
          </a:p>
        </p:txBody>
      </p:sp>
      <p:sp>
        <p:nvSpPr>
          <p:cNvPr id="26" name="Shape 26"/>
          <p:cNvSpPr/>
          <p:nvPr/>
        </p:nvSpPr>
        <p:spPr>
          <a:xfrm>
            <a:off x="731520" y="1828800"/>
            <a:ext cx="5120640" cy="4023360"/>
          </a:xfrm>
          <a:prstGeom prst="rect">
            <a:avLst/>
          </a:prstGeom>
          <a:solidFill>
            <a:srgbClr val="FDFDFB"/>
          </a:solidFill>
          <a:ln w="12700">
            <a:solidFill>
              <a:srgbClr val="C8C8C6"/>
            </a:solidFill>
          </a:ln>
        </p:spPr>
        <p:txBody>
          <a:bodyPr/>
          <a:lstStyle/>
          <a:p/>
        </p:txBody>
      </p:sp>
      <p:sp>
        <p:nvSpPr>
          <p:cNvPr id="27" name="Shape 27"/>
          <p:cNvSpPr/>
          <p:nvPr/>
        </p:nvSpPr>
        <p:spPr>
          <a:xfrm>
            <a:off x="731520" y="1828800"/>
            <a:ext cx="5120640" cy="109728"/>
          </a:xfrm>
          <a:prstGeom prst="rect">
            <a:avLst/>
          </a:prstGeom>
          <a:solidFill>
            <a:srgbClr val="15704D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TextBox 28"/>
          <p:cNvSpPr txBox="1"/>
          <p:nvPr/>
        </p:nvSpPr>
        <p:spPr>
          <a:xfrm>
            <a:off x="896112" y="2011680"/>
            <a:ext cx="4791456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ko-KR" sz="1700" b="1">
                <a:solidFill>
                  <a:srgbClr val="15704D"/>
                </a:solidFill>
                <a:latin typeface="Malgun Gothic"/>
                <a:ea typeface="Malgun Gothic"/>
                <a:cs typeface="Malgun Gothic"/>
              </a:rPr>
              <a:t>출발점</a:t>
            </a:r>
            <a:endParaRPr lang="ko-KR" sz="1700"/>
          </a:p>
        </p:txBody>
      </p:sp>
      <p:sp>
        <p:nvSpPr>
          <p:cNvPr id="29" name="TextBox 29"/>
          <p:cNvSpPr txBox="1"/>
          <p:nvPr/>
        </p:nvSpPr>
        <p:spPr>
          <a:xfrm>
            <a:off x="896112" y="2468880"/>
            <a:ext cx="4791456" cy="32004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ko-KR" sz="1400" b="0">
                <a:solidFill>
                  <a:srgbClr val="1F1F1F"/>
                </a:solidFill>
                <a:latin typeface="Malgun Gothic"/>
                <a:ea typeface="Malgun Gothic"/>
                <a:cs typeface="Malgun Gothic"/>
              </a:rPr>
              <a:t>동물의 숲 같은 생활형 게임에서 플레이어가 상점을 직접 운영하면 어떨까?</a:t>
            </a:r>
            <a:endParaRPr lang="ko-KR" sz="1400"/>
          </a:p>
          <a:p>
            <a:pPr/>
            <a:r>
              <a:rPr lang="ko-KR" sz="1400" b="0">
                <a:solidFill>
                  <a:srgbClr val="1F1F1F"/>
                </a:solidFill>
                <a:latin typeface="Malgun Gothic"/>
                <a:ea typeface="Malgun Gothic"/>
                <a:cs typeface="Malgun Gothic"/>
              </a:rPr>
              <a:t/>
            </a:r>
            <a:endParaRPr lang="ko-KR" sz="1400"/>
          </a:p>
          <a:p>
            <a:pPr/>
            <a:r>
              <a:rPr lang="ko-KR" sz="1400" b="0">
                <a:solidFill>
                  <a:srgbClr val="1F1F1F"/>
                </a:solidFill>
                <a:latin typeface="Malgun Gothic"/>
                <a:ea typeface="Malgun Gothic"/>
                <a:cs typeface="Malgun Gothic"/>
              </a:rPr>
              <a:t>너굴상점의 손님이 아니라, 상점 주인이 되는 경험.</a:t>
            </a:r>
            <a:endParaRPr lang="ko-KR" sz="1400"/>
          </a:p>
        </p:txBody>
      </p:sp>
      <p:sp>
        <p:nvSpPr>
          <p:cNvPr id="30" name="Shape 30"/>
          <p:cNvSpPr/>
          <p:nvPr/>
        </p:nvSpPr>
        <p:spPr>
          <a:xfrm>
            <a:off x="6583680" y="1828800"/>
            <a:ext cx="5120640" cy="4023360"/>
          </a:xfrm>
          <a:prstGeom prst="rect">
            <a:avLst/>
          </a:prstGeom>
          <a:solidFill>
            <a:srgbClr val="FDFDFB"/>
          </a:solidFill>
          <a:ln w="12700">
            <a:solidFill>
              <a:srgbClr val="C8C8C6"/>
            </a:solidFill>
          </a:ln>
        </p:spPr>
        <p:txBody>
          <a:bodyPr/>
          <a:lstStyle/>
          <a:p/>
        </p:txBody>
      </p:sp>
      <p:sp>
        <p:nvSpPr>
          <p:cNvPr id="31" name="Shape 31"/>
          <p:cNvSpPr/>
          <p:nvPr/>
        </p:nvSpPr>
        <p:spPr>
          <a:xfrm>
            <a:off x="6583680" y="1828800"/>
            <a:ext cx="5120640" cy="109728"/>
          </a:xfrm>
          <a:prstGeom prst="rect">
            <a:avLst/>
          </a:prstGeom>
          <a:solidFill>
            <a:srgbClr val="4E7C7D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Box 32"/>
          <p:cNvSpPr txBox="1"/>
          <p:nvPr/>
        </p:nvSpPr>
        <p:spPr>
          <a:xfrm>
            <a:off x="6748272" y="2011680"/>
            <a:ext cx="4791456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ko-KR" sz="1700" b="1">
                <a:solidFill>
                  <a:srgbClr val="4E7C7D"/>
                </a:solidFill>
                <a:latin typeface="Malgun Gothic"/>
                <a:ea typeface="Malgun Gothic"/>
                <a:cs typeface="Malgun Gothic"/>
              </a:rPr>
              <a:t>문제의식</a:t>
            </a:r>
            <a:endParaRPr lang="ko-KR" sz="1700"/>
          </a:p>
        </p:txBody>
      </p:sp>
      <p:sp>
        <p:nvSpPr>
          <p:cNvPr id="33" name="TextBox 33"/>
          <p:cNvSpPr txBox="1"/>
          <p:nvPr/>
        </p:nvSpPr>
        <p:spPr>
          <a:xfrm>
            <a:off x="6748272" y="2468880"/>
            <a:ext cx="4791456" cy="32004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ko-KR" sz="1400" b="0">
                <a:solidFill>
                  <a:srgbClr val="1F1F1F"/>
                </a:solidFill>
                <a:latin typeface="Malgun Gothic"/>
                <a:ea typeface="Malgun Gothic"/>
                <a:cs typeface="Malgun Gothic"/>
              </a:rPr>
              <a:t>단순 상점 운영만 있으면 반복이 빨리 지루해진다.</a:t>
            </a:r>
            <a:endParaRPr lang="ko-KR" sz="1400"/>
          </a:p>
          <a:p>
            <a:pPr/>
            <a:r>
              <a:rPr lang="ko-KR" sz="1400" b="0">
                <a:solidFill>
                  <a:srgbClr val="1F1F1F"/>
                </a:solidFill>
                <a:latin typeface="Malgun Gothic"/>
                <a:ea typeface="Malgun Gothic"/>
                <a:cs typeface="Malgun Gothic"/>
              </a:rPr>
              <a:t/>
            </a:r>
            <a:endParaRPr lang="ko-KR" sz="1400"/>
          </a:p>
          <a:p>
            <a:pPr/>
            <a:r>
              <a:rPr lang="ko-KR" sz="1400" b="0">
                <a:solidFill>
                  <a:srgbClr val="1F1F1F"/>
                </a:solidFill>
                <a:latin typeface="Malgun Gothic"/>
                <a:ea typeface="Malgun Gothic"/>
                <a:cs typeface="Malgun Gothic"/>
              </a:rPr>
              <a:t>목표, 관계, 경제 변화, 해금 기대감이 함께 돌아가야 한다.</a:t>
            </a:r>
            <a:endParaRPr lang="ko-KR" sz="1400"/>
          </a:p>
        </p:txBody>
      </p:sp>
      <p:sp>
        <p:nvSpPr>
          <p:cNvPr id="34" name="Shape 34"/>
          <p:cNvSpPr/>
          <p:nvPr/>
        </p:nvSpPr>
        <p:spPr>
          <a:xfrm>
            <a:off x="12435840" y="1828800"/>
            <a:ext cx="5120640" cy="4023360"/>
          </a:xfrm>
          <a:prstGeom prst="rect">
            <a:avLst/>
          </a:prstGeom>
          <a:solidFill>
            <a:srgbClr val="FDFDFB"/>
          </a:solidFill>
          <a:ln w="12700">
            <a:solidFill>
              <a:srgbClr val="C8C8C6"/>
            </a:solidFill>
          </a:ln>
        </p:spPr>
        <p:txBody>
          <a:bodyPr/>
          <a:lstStyle/>
          <a:p/>
        </p:txBody>
      </p:sp>
      <p:sp>
        <p:nvSpPr>
          <p:cNvPr id="35" name="Shape 35"/>
          <p:cNvSpPr/>
          <p:nvPr/>
        </p:nvSpPr>
        <p:spPr>
          <a:xfrm>
            <a:off x="12435840" y="1828800"/>
            <a:ext cx="5120640" cy="109728"/>
          </a:xfrm>
          <a:prstGeom prst="rect">
            <a:avLst/>
          </a:prstGeom>
          <a:solidFill>
            <a:srgbClr val="1F2D37"/>
          </a:solidFill>
          <a:ln>
            <a:noFill/>
          </a:ln>
        </p:spPr>
        <p:txBody>
          <a:bodyPr/>
          <a:lstStyle/>
          <a:p/>
        </p:txBody>
      </p:sp>
      <p:sp>
        <p:nvSpPr>
          <p:cNvPr id="36" name="TextBox 36"/>
          <p:cNvSpPr txBox="1"/>
          <p:nvPr/>
        </p:nvSpPr>
        <p:spPr>
          <a:xfrm>
            <a:off x="12600432" y="2011680"/>
            <a:ext cx="4791456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ko-KR" sz="1700" b="1">
                <a:solidFill>
                  <a:srgbClr val="1F2D37"/>
                </a:solidFill>
                <a:latin typeface="Malgun Gothic"/>
                <a:ea typeface="Malgun Gothic"/>
                <a:cs typeface="Malgun Gothic"/>
              </a:rPr>
              <a:t>해결 방향</a:t>
            </a:r>
            <a:endParaRPr lang="ko-KR" sz="1700"/>
          </a:p>
        </p:txBody>
      </p:sp>
      <p:sp>
        <p:nvSpPr>
          <p:cNvPr id="37" name="TextBox 37"/>
          <p:cNvSpPr txBox="1"/>
          <p:nvPr/>
        </p:nvSpPr>
        <p:spPr>
          <a:xfrm>
            <a:off x="12600432" y="2468880"/>
            <a:ext cx="4791456" cy="32004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ko-KR" sz="1400" b="0">
                <a:solidFill>
                  <a:srgbClr val="1F1F1F"/>
                </a:solidFill>
                <a:latin typeface="Malgun Gothic"/>
                <a:ea typeface="Malgun Gothic"/>
                <a:cs typeface="Malgun Gothic"/>
              </a:rPr>
              <a:t>스타듀밸리식 관계/경제, 딩컴식 해금, 데이브 더 다이버식 직원/스마트폰 흐름을 Project P.A. 문법으로 재구성한다.</a:t>
            </a:r>
            <a:endParaRPr lang="ko-KR" sz="1400"/>
          </a:p>
        </p:txBody>
      </p:sp>
      <p:sp>
        <p:nvSpPr>
          <p:cNvPr id="38" name="Shape 38"/>
          <p:cNvSpPr/>
          <p:nvPr/>
        </p:nvSpPr>
        <p:spPr>
          <a:xfrm>
            <a:off x="914400" y="6400800"/>
            <a:ext cx="16367759" cy="868680"/>
          </a:xfrm>
          <a:prstGeom prst="rect">
            <a:avLst/>
          </a:prstGeom>
          <a:solidFill>
            <a:srgbClr val="06402B"/>
          </a:solidFill>
          <a:ln>
            <a:noFill/>
          </a:ln>
        </p:spPr>
        <p:txBody>
          <a:bodyPr/>
          <a:lstStyle/>
          <a:p/>
        </p:txBody>
      </p:sp>
      <p:sp>
        <p:nvSpPr>
          <p:cNvPr id="39" name="TextBox 39"/>
          <p:cNvSpPr txBox="1"/>
          <p:nvPr/>
        </p:nvSpPr>
        <p:spPr>
          <a:xfrm>
            <a:off x="1188720" y="6547104"/>
            <a:ext cx="1572768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tr"/>
            <a:r>
              <a:rPr lang="ko-KR"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현재 우선순위: 완성된 아트보다 “눈에 보이는 플레이 가능한 수직 슬라이스”</a:t>
            </a:r>
            <a:endParaRPr lang="ko-KR" sz="2100"/>
          </a:p>
        </p:txBody>
      </p:sp>
      <p:sp>
        <p:nvSpPr>
          <p:cNvPr id="40" name="Shape 40"/>
          <p:cNvSpPr/>
          <p:nvPr/>
        </p:nvSpPr>
        <p:spPr>
          <a:xfrm>
            <a:off x="0" y="9784080"/>
            <a:ext cx="18288000" cy="502920"/>
          </a:xfrm>
          <a:prstGeom prst="rect">
            <a:avLst/>
          </a:prstGeom>
          <a:solidFill>
            <a:srgbClr val="06402B"/>
          </a:solidFill>
          <a:ln>
            <a:noFill/>
          </a:ln>
        </p:spPr>
        <p:txBody>
          <a:bodyPr/>
          <a:lstStyle/>
          <a:p/>
        </p:txBody>
      </p:sp>
      <p:sp>
        <p:nvSpPr>
          <p:cNvPr id="41" name="TextBox 41"/>
          <p:cNvSpPr txBox="1"/>
          <p:nvPr/>
        </p:nvSpPr>
        <p:spPr>
          <a:xfrm>
            <a:off x="640080" y="9875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ko-KR" sz="1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Project P.A.  |  졸업작품 개발현황</a:t>
            </a:r>
            <a:endParaRPr lang="ko-KR" sz="1000"/>
          </a:p>
        </p:txBody>
      </p:sp>
      <p:sp>
        <p:nvSpPr>
          <p:cNvPr id="42" name="TextBox 42"/>
          <p:cNvSpPr txBox="1"/>
          <p:nvPr/>
        </p:nvSpPr>
        <p:spPr>
          <a:xfrm>
            <a:off x="17190720" y="9875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r"/>
            <a:r>
              <a:rPr lang="ko-KR" sz="1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  <a:endParaRPr lang="ko-KR"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3"/>
          <p:cNvSpPr txBox="1"/>
          <p:nvPr/>
        </p:nvSpPr>
        <p:spPr>
          <a:xfrm>
            <a:off x="594360" y="411480"/>
            <a:ext cx="11704320" cy="65836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ko-KR" sz="4200" b="1">
                <a:solidFill>
                  <a:srgbClr val="15704D"/>
                </a:solidFill>
                <a:latin typeface="Malgun Gothic"/>
                <a:ea typeface="Malgun Gothic"/>
                <a:cs typeface="Malgun Gothic"/>
              </a:rPr>
              <a:t>현재 동작하는 핵심 루프</a:t>
            </a:r>
            <a:endParaRPr lang="ko-KR" sz="4200"/>
          </a:p>
        </p:txBody>
      </p:sp>
      <p:sp>
        <p:nvSpPr>
          <p:cNvPr id="44" name="TextBox 44"/>
          <p:cNvSpPr txBox="1"/>
          <p:nvPr/>
        </p:nvSpPr>
        <p:spPr>
          <a:xfrm>
            <a:off x="658368" y="1143000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ko-KR" sz="1500" b="0">
                <a:solidFill>
                  <a:srgbClr val="4D4D4D"/>
                </a:solidFill>
                <a:latin typeface="Malgun Gothic"/>
                <a:ea typeface="Malgun Gothic"/>
                <a:cs typeface="Malgun Gothic"/>
              </a:rPr>
              <a:t>11주차 발표에서는 코드보다 플레이 흐름을 중심으로 전달</a:t>
            </a:r>
            <a:endParaRPr lang="ko-KR" sz="1500"/>
          </a:p>
        </p:txBody>
      </p:sp>
      <p:sp>
        <p:nvSpPr>
          <p:cNvPr id="45" name="Shape 45"/>
          <p:cNvSpPr/>
          <p:nvPr/>
        </p:nvSpPr>
        <p:spPr>
          <a:xfrm>
            <a:off x="914400" y="2377440"/>
            <a:ext cx="2057400" cy="1325880"/>
          </a:xfrm>
          <a:prstGeom prst="roundRect">
            <a:avLst/>
          </a:prstGeom>
          <a:solidFill>
            <a:srgbClr val="15704D"/>
          </a:solidFill>
          <a:ln>
            <a:noFill/>
          </a:ln>
        </p:spPr>
        <p:txBody>
          <a:bodyPr/>
          <a:lstStyle/>
          <a:p/>
        </p:txBody>
      </p:sp>
      <p:sp>
        <p:nvSpPr>
          <p:cNvPr id="46" name="TextBox 46"/>
          <p:cNvSpPr txBox="1"/>
          <p:nvPr/>
        </p:nvSpPr>
        <p:spPr>
          <a:xfrm>
            <a:off x="1005840" y="2761488"/>
            <a:ext cx="1874519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tr"/>
            <a:r>
              <a:rPr lang="ko-KR" sz="17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아이템 확보</a:t>
            </a:r>
            <a:endParaRPr lang="ko-KR" sz="1700"/>
          </a:p>
        </p:txBody>
      </p:sp>
      <p:sp>
        <p:nvSpPr>
          <p:cNvPr id="47" name="TextBox 47"/>
          <p:cNvSpPr txBox="1"/>
          <p:nvPr/>
        </p:nvSpPr>
        <p:spPr>
          <a:xfrm>
            <a:off x="3063240" y="2743200"/>
            <a:ext cx="4114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tr"/>
            <a:r>
              <a:rPr lang="ko-KR" sz="2200" b="1">
                <a:solidFill>
                  <a:srgbClr val="4D4D4D"/>
                </a:solidFill>
                <a:latin typeface="Malgun Gothic"/>
                <a:ea typeface="Malgun Gothic"/>
                <a:cs typeface="Malgun Gothic"/>
              </a:rPr>
              <a:t>→</a:t>
            </a:r>
            <a:endParaRPr lang="ko-KR" sz="2200"/>
          </a:p>
        </p:txBody>
      </p:sp>
      <p:sp>
        <p:nvSpPr>
          <p:cNvPr id="48" name="Shape 48"/>
          <p:cNvSpPr/>
          <p:nvPr/>
        </p:nvSpPr>
        <p:spPr>
          <a:xfrm>
            <a:off x="3611880" y="2377440"/>
            <a:ext cx="2057400" cy="1325880"/>
          </a:xfrm>
          <a:prstGeom prst="roundRect">
            <a:avLst/>
          </a:prstGeom>
          <a:solidFill>
            <a:srgbClr val="9AC4AB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TextBox 49"/>
          <p:cNvSpPr txBox="1"/>
          <p:nvPr/>
        </p:nvSpPr>
        <p:spPr>
          <a:xfrm>
            <a:off x="3703320" y="2761488"/>
            <a:ext cx="1874519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tr"/>
            <a:r>
              <a:rPr lang="ko-KR" sz="1700" b="1">
                <a:solidFill>
                  <a:srgbClr val="1F1F1F"/>
                </a:solidFill>
                <a:latin typeface="Malgun Gothic"/>
                <a:ea typeface="Malgun Gothic"/>
                <a:cs typeface="Malgun Gothic"/>
              </a:rPr>
              <a:t>상점 진열</a:t>
            </a:r>
            <a:endParaRPr lang="ko-KR" sz="1700"/>
          </a:p>
        </p:txBody>
      </p:sp>
      <p:sp>
        <p:nvSpPr>
          <p:cNvPr id="50" name="TextBox 50"/>
          <p:cNvSpPr txBox="1"/>
          <p:nvPr/>
        </p:nvSpPr>
        <p:spPr>
          <a:xfrm>
            <a:off x="5760720" y="2743200"/>
            <a:ext cx="4114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tr"/>
            <a:r>
              <a:rPr lang="ko-KR" sz="2200" b="1">
                <a:solidFill>
                  <a:srgbClr val="4D4D4D"/>
                </a:solidFill>
                <a:latin typeface="Malgun Gothic"/>
                <a:ea typeface="Malgun Gothic"/>
                <a:cs typeface="Malgun Gothic"/>
              </a:rPr>
              <a:t>→</a:t>
            </a:r>
            <a:endParaRPr lang="ko-KR" sz="2200"/>
          </a:p>
        </p:txBody>
      </p:sp>
      <p:sp>
        <p:nvSpPr>
          <p:cNvPr id="51" name="Shape 51"/>
          <p:cNvSpPr/>
          <p:nvPr/>
        </p:nvSpPr>
        <p:spPr>
          <a:xfrm>
            <a:off x="6309360" y="2377440"/>
            <a:ext cx="2057400" cy="1325880"/>
          </a:xfrm>
          <a:prstGeom prst="roundRect">
            <a:avLst/>
          </a:prstGeom>
          <a:solidFill>
            <a:srgbClr val="4E7C7D"/>
          </a:solidFill>
          <a:ln>
            <a:noFill/>
          </a:ln>
        </p:spPr>
        <p:txBody>
          <a:bodyPr/>
          <a:lstStyle/>
          <a:p/>
        </p:txBody>
      </p:sp>
      <p:sp>
        <p:nvSpPr>
          <p:cNvPr id="52" name="TextBox 52"/>
          <p:cNvSpPr txBox="1"/>
          <p:nvPr/>
        </p:nvSpPr>
        <p:spPr>
          <a:xfrm>
            <a:off x="6400800" y="2761488"/>
            <a:ext cx="1874519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tr"/>
            <a:r>
              <a:rPr lang="ko-KR" sz="17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가격 책정</a:t>
            </a:r>
            <a:endParaRPr lang="ko-KR" sz="1700"/>
          </a:p>
        </p:txBody>
      </p:sp>
      <p:sp>
        <p:nvSpPr>
          <p:cNvPr id="53" name="TextBox 53"/>
          <p:cNvSpPr txBox="1"/>
          <p:nvPr/>
        </p:nvSpPr>
        <p:spPr>
          <a:xfrm>
            <a:off x="8458200" y="2743200"/>
            <a:ext cx="4114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tr"/>
            <a:r>
              <a:rPr lang="ko-KR" sz="2200" b="1">
                <a:solidFill>
                  <a:srgbClr val="4D4D4D"/>
                </a:solidFill>
                <a:latin typeface="Malgun Gothic"/>
                <a:ea typeface="Malgun Gothic"/>
                <a:cs typeface="Malgun Gothic"/>
              </a:rPr>
              <a:t>→</a:t>
            </a:r>
            <a:endParaRPr lang="ko-KR" sz="2200"/>
          </a:p>
        </p:txBody>
      </p:sp>
      <p:sp>
        <p:nvSpPr>
          <p:cNvPr id="54" name="Shape 54"/>
          <p:cNvSpPr/>
          <p:nvPr/>
        </p:nvSpPr>
        <p:spPr>
          <a:xfrm>
            <a:off x="9006840" y="2377440"/>
            <a:ext cx="2057400" cy="1325880"/>
          </a:xfrm>
          <a:prstGeom prst="roundRect">
            <a:avLst/>
          </a:prstGeom>
          <a:solidFill>
            <a:srgbClr val="5F8883"/>
          </a:solidFill>
          <a:ln>
            <a:noFill/>
          </a:ln>
        </p:spPr>
        <p:txBody>
          <a:bodyPr/>
          <a:lstStyle/>
          <a:p/>
        </p:txBody>
      </p:sp>
      <p:sp>
        <p:nvSpPr>
          <p:cNvPr id="55" name="TextBox 55"/>
          <p:cNvSpPr txBox="1"/>
          <p:nvPr/>
        </p:nvSpPr>
        <p:spPr>
          <a:xfrm>
            <a:off x="9098280" y="2761488"/>
            <a:ext cx="1874519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tr"/>
            <a:r>
              <a:rPr lang="ko-KR" sz="17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NPC 방문</a:t>
            </a:r>
            <a:endParaRPr lang="ko-KR" sz="1700"/>
          </a:p>
        </p:txBody>
      </p:sp>
      <p:sp>
        <p:nvSpPr>
          <p:cNvPr id="56" name="TextBox 56"/>
          <p:cNvSpPr txBox="1"/>
          <p:nvPr/>
        </p:nvSpPr>
        <p:spPr>
          <a:xfrm>
            <a:off x="11155680" y="2743200"/>
            <a:ext cx="4114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tr"/>
            <a:r>
              <a:rPr lang="ko-KR" sz="2200" b="1">
                <a:solidFill>
                  <a:srgbClr val="4D4D4D"/>
                </a:solidFill>
                <a:latin typeface="Malgun Gothic"/>
                <a:ea typeface="Malgun Gothic"/>
                <a:cs typeface="Malgun Gothic"/>
              </a:rPr>
              <a:t>→</a:t>
            </a:r>
            <a:endParaRPr lang="ko-KR" sz="2200"/>
          </a:p>
        </p:txBody>
      </p:sp>
      <p:sp>
        <p:nvSpPr>
          <p:cNvPr id="57" name="Shape 57"/>
          <p:cNvSpPr/>
          <p:nvPr/>
        </p:nvSpPr>
        <p:spPr>
          <a:xfrm>
            <a:off x="11704320" y="2377440"/>
            <a:ext cx="2057400" cy="1325880"/>
          </a:xfrm>
          <a:prstGeom prst="roundRect">
            <a:avLst/>
          </a:prstGeom>
          <a:solidFill>
            <a:srgbClr val="1F2D37"/>
          </a:solidFill>
          <a:ln>
            <a:noFill/>
          </a:ln>
        </p:spPr>
        <p:txBody>
          <a:bodyPr/>
          <a:lstStyle/>
          <a:p/>
        </p:txBody>
      </p:sp>
      <p:sp>
        <p:nvSpPr>
          <p:cNvPr id="58" name="TextBox 58"/>
          <p:cNvSpPr txBox="1"/>
          <p:nvPr/>
        </p:nvSpPr>
        <p:spPr>
          <a:xfrm>
            <a:off x="11795760" y="2761488"/>
            <a:ext cx="1874519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tr"/>
            <a:r>
              <a:rPr lang="ko-KR" sz="17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구매 판단</a:t>
            </a:r>
            <a:endParaRPr lang="ko-KR" sz="1700"/>
          </a:p>
        </p:txBody>
      </p:sp>
      <p:sp>
        <p:nvSpPr>
          <p:cNvPr id="59" name="TextBox 59"/>
          <p:cNvSpPr txBox="1"/>
          <p:nvPr/>
        </p:nvSpPr>
        <p:spPr>
          <a:xfrm>
            <a:off x="13853160" y="2743200"/>
            <a:ext cx="4114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tr"/>
            <a:r>
              <a:rPr lang="ko-KR" sz="2200" b="1">
                <a:solidFill>
                  <a:srgbClr val="4D4D4D"/>
                </a:solidFill>
                <a:latin typeface="Malgun Gothic"/>
                <a:ea typeface="Malgun Gothic"/>
                <a:cs typeface="Malgun Gothic"/>
              </a:rPr>
              <a:t>→</a:t>
            </a:r>
            <a:endParaRPr lang="ko-KR" sz="2200"/>
          </a:p>
        </p:txBody>
      </p:sp>
      <p:sp>
        <p:nvSpPr>
          <p:cNvPr id="60" name="Shape 60"/>
          <p:cNvSpPr/>
          <p:nvPr/>
        </p:nvSpPr>
        <p:spPr>
          <a:xfrm>
            <a:off x="14401800" y="2377440"/>
            <a:ext cx="2057400" cy="1325880"/>
          </a:xfrm>
          <a:prstGeom prst="roundRect">
            <a:avLst/>
          </a:prstGeom>
          <a:solidFill>
            <a:srgbClr val="06402B"/>
          </a:solidFill>
          <a:ln>
            <a:noFill/>
          </a:ln>
        </p:spPr>
        <p:txBody>
          <a:bodyPr/>
          <a:lstStyle/>
          <a:p/>
        </p:txBody>
      </p:sp>
      <p:sp>
        <p:nvSpPr>
          <p:cNvPr id="61" name="TextBox 61"/>
          <p:cNvSpPr txBox="1"/>
          <p:nvPr/>
        </p:nvSpPr>
        <p:spPr>
          <a:xfrm>
            <a:off x="14493240" y="2761488"/>
            <a:ext cx="1874519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tr"/>
            <a:r>
              <a:rPr lang="ko-KR" sz="17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매출 성장</a:t>
            </a:r>
            <a:endParaRPr lang="ko-KR" sz="1700"/>
          </a:p>
        </p:txBody>
      </p:sp>
      <p:sp>
        <p:nvSpPr>
          <p:cNvPr id="62" name="Shape 62"/>
          <p:cNvSpPr/>
          <p:nvPr/>
        </p:nvSpPr>
        <p:spPr>
          <a:xfrm>
            <a:off x="914400" y="4480560"/>
            <a:ext cx="16093440" cy="1920240"/>
          </a:xfrm>
          <a:prstGeom prst="rect">
            <a:avLst/>
          </a:prstGeom>
          <a:solidFill>
            <a:srgbClr val="F7F8F5"/>
          </a:solidFill>
          <a:ln w="12700">
            <a:solidFill>
              <a:srgbClr val="C8C8C6"/>
            </a:solidFill>
          </a:ln>
        </p:spPr>
        <p:txBody>
          <a:bodyPr/>
          <a:lstStyle/>
          <a:p/>
        </p:txBody>
      </p:sp>
      <p:sp>
        <p:nvSpPr>
          <p:cNvPr id="63" name="TextBox 63"/>
          <p:cNvSpPr txBox="1"/>
          <p:nvPr/>
        </p:nvSpPr>
        <p:spPr>
          <a:xfrm>
            <a:off x="1234440" y="4800600"/>
            <a:ext cx="15453359" cy="118872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ko-KR" sz="2300" b="1">
                <a:solidFill>
                  <a:srgbClr val="1F2D37"/>
                </a:solidFill>
                <a:latin typeface="Malgun Gothic"/>
                <a:ea typeface="Malgun Gothic"/>
                <a:cs typeface="Malgun Gothic"/>
              </a:rPr>
              <a:t>핵심은 “상품이 팔렸다”에서 끝나지 않고, NPC 성향 기반 구매 판단 → 돈/티어/관계 데이터 변화 → 다음 해금 기대감으로 이어지는 구조입니다.</a:t>
            </a:r>
            <a:endParaRPr lang="ko-KR" sz="2300"/>
          </a:p>
        </p:txBody>
      </p:sp>
      <p:sp>
        <p:nvSpPr>
          <p:cNvPr id="64" name="Shape 64"/>
          <p:cNvSpPr/>
          <p:nvPr/>
        </p:nvSpPr>
        <p:spPr>
          <a:xfrm>
            <a:off x="0" y="9784080"/>
            <a:ext cx="18288000" cy="502920"/>
          </a:xfrm>
          <a:prstGeom prst="rect">
            <a:avLst/>
          </a:prstGeom>
          <a:solidFill>
            <a:srgbClr val="06402B"/>
          </a:solidFill>
          <a:ln>
            <a:noFill/>
          </a:ln>
        </p:spPr>
        <p:txBody>
          <a:bodyPr/>
          <a:lstStyle/>
          <a:p/>
        </p:txBody>
      </p:sp>
      <p:sp>
        <p:nvSpPr>
          <p:cNvPr id="65" name="TextBox 65"/>
          <p:cNvSpPr txBox="1"/>
          <p:nvPr/>
        </p:nvSpPr>
        <p:spPr>
          <a:xfrm>
            <a:off x="640080" y="9875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ko-KR" sz="1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Project P.A.  |  졸업작품 개발현황</a:t>
            </a:r>
            <a:endParaRPr lang="ko-KR" sz="1000"/>
          </a:p>
        </p:txBody>
      </p:sp>
      <p:sp>
        <p:nvSpPr>
          <p:cNvPr id="66" name="TextBox 66"/>
          <p:cNvSpPr txBox="1"/>
          <p:nvPr/>
        </p:nvSpPr>
        <p:spPr>
          <a:xfrm>
            <a:off x="17190720" y="9875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r"/>
            <a:r>
              <a:rPr lang="ko-KR" sz="1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  <a:endParaRPr lang="ko-KR" sz="1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Box 67"/>
          <p:cNvSpPr txBox="1"/>
          <p:nvPr/>
        </p:nvSpPr>
        <p:spPr>
          <a:xfrm>
            <a:off x="594360" y="411480"/>
            <a:ext cx="11704320" cy="65836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ko-KR" sz="4200" b="1">
                <a:solidFill>
                  <a:srgbClr val="15704D"/>
                </a:solidFill>
                <a:latin typeface="Malgun Gothic"/>
                <a:ea typeface="Malgun Gothic"/>
                <a:cs typeface="Malgun Gothic"/>
              </a:rPr>
              <a:t>현재 구현된 기능 요약</a:t>
            </a:r>
            <a:endParaRPr lang="ko-KR" sz="4200"/>
          </a:p>
        </p:txBody>
      </p:sp>
      <p:sp>
        <p:nvSpPr>
          <p:cNvPr id="68" name="TextBox 68"/>
          <p:cNvSpPr txBox="1"/>
          <p:nvPr/>
        </p:nvSpPr>
        <p:spPr>
          <a:xfrm>
            <a:off x="658368" y="1143000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ko-KR" sz="1500" b="0">
                <a:solidFill>
                  <a:srgbClr val="4D4D4D"/>
                </a:solidFill>
                <a:latin typeface="Malgun Gothic"/>
                <a:ea typeface="Malgun Gothic"/>
                <a:cs typeface="Malgun Gothic"/>
              </a:rPr>
              <a:t>발표에서 보여줄 수 있는 구현 단위</a:t>
            </a:r>
            <a:endParaRPr lang="ko-KR" sz="1500"/>
          </a:p>
        </p:txBody>
      </p:sp>
      <p:sp>
        <p:nvSpPr>
          <p:cNvPr id="69" name="Shape 69"/>
          <p:cNvSpPr/>
          <p:nvPr/>
        </p:nvSpPr>
        <p:spPr>
          <a:xfrm>
            <a:off x="731520" y="1645920"/>
            <a:ext cx="4023360" cy="4937760"/>
          </a:xfrm>
          <a:prstGeom prst="rect">
            <a:avLst/>
          </a:prstGeom>
          <a:solidFill>
            <a:srgbClr val="FDFDFB"/>
          </a:solidFill>
          <a:ln w="12700">
            <a:solidFill>
              <a:srgbClr val="C8C8C6"/>
            </a:solidFill>
          </a:ln>
        </p:spPr>
        <p:txBody>
          <a:bodyPr/>
          <a:lstStyle/>
          <a:p/>
        </p:txBody>
      </p:sp>
      <p:sp>
        <p:nvSpPr>
          <p:cNvPr id="70" name="Shape 70"/>
          <p:cNvSpPr/>
          <p:nvPr/>
        </p:nvSpPr>
        <p:spPr>
          <a:xfrm>
            <a:off x="731520" y="1645920"/>
            <a:ext cx="4023360" cy="109728"/>
          </a:xfrm>
          <a:prstGeom prst="rect">
            <a:avLst/>
          </a:prstGeom>
          <a:solidFill>
            <a:srgbClr val="15704D"/>
          </a:solidFill>
          <a:ln>
            <a:noFill/>
          </a:ln>
        </p:spPr>
        <p:txBody>
          <a:bodyPr/>
          <a:lstStyle/>
          <a:p/>
        </p:txBody>
      </p:sp>
      <p:sp>
        <p:nvSpPr>
          <p:cNvPr id="71" name="TextBox 71"/>
          <p:cNvSpPr txBox="1"/>
          <p:nvPr/>
        </p:nvSpPr>
        <p:spPr>
          <a:xfrm>
            <a:off x="896112" y="1828800"/>
            <a:ext cx="3694176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ko-KR" sz="1700" b="1">
                <a:solidFill>
                  <a:srgbClr val="15704D"/>
                </a:solidFill>
                <a:latin typeface="Malgun Gothic"/>
                <a:ea typeface="Malgun Gothic"/>
                <a:cs typeface="Malgun Gothic"/>
              </a:rPr>
              <a:t>플레이어 / UI</a:t>
            </a:r>
            <a:endParaRPr lang="ko-KR" sz="1700"/>
          </a:p>
        </p:txBody>
      </p:sp>
      <p:sp>
        <p:nvSpPr>
          <p:cNvPr id="72" name="TextBox 72"/>
          <p:cNvSpPr txBox="1"/>
          <p:nvPr/>
        </p:nvSpPr>
        <p:spPr>
          <a:xfrm>
            <a:off x="896112" y="2286000"/>
            <a:ext cx="3694176" cy="41148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ko-KR" sz="1400" b="0">
                <a:solidFill>
                  <a:srgbClr val="1F1F1F"/>
                </a:solidFill>
                <a:latin typeface="Malgun Gothic"/>
                <a:ea typeface="Malgun Gothic"/>
                <a:cs typeface="Malgun Gothic"/>
              </a:rPr>
              <a:t>이동, 상호작용, HUD</a:t>
            </a:r>
            <a:endParaRPr lang="ko-KR" sz="1400"/>
          </a:p>
          <a:p>
            <a:pPr/>
            <a:r>
              <a:rPr lang="ko-KR" sz="1400" b="0">
                <a:solidFill>
                  <a:srgbClr val="1F1F1F"/>
                </a:solidFill>
                <a:latin typeface="Malgun Gothic"/>
                <a:ea typeface="Malgun Gothic"/>
                <a:cs typeface="Malgun Gothic"/>
              </a:rPr>
              <a:t>인벤토리/핫바 기본 연결</a:t>
            </a:r>
            <a:endParaRPr lang="ko-KR" sz="1400"/>
          </a:p>
          <a:p>
            <a:pPr/>
            <a:r>
              <a:rPr lang="ko-KR" sz="1400" b="0">
                <a:solidFill>
                  <a:srgbClr val="1F1F1F"/>
                </a:solidFill>
                <a:latin typeface="Malgun Gothic"/>
                <a:ea typeface="Malgun Gothic"/>
                <a:cs typeface="Malgun Gothic"/>
              </a:rPr>
              <a:t>스마트폰 앱 홈/감사/설정 흐름</a:t>
            </a:r>
            <a:endParaRPr lang="ko-KR" sz="1400"/>
          </a:p>
          <a:p>
            <a:pPr/>
            <a:r>
              <a:rPr lang="ko-KR" sz="1400" b="0">
                <a:solidFill>
                  <a:srgbClr val="1F1F1F"/>
                </a:solidFill>
                <a:latin typeface="Malgun Gothic"/>
                <a:ea typeface="Malgun Gothic"/>
                <a:cs typeface="Malgun Gothic"/>
              </a:rPr>
              <a:t>동물의 숲풍 인벤토리 개선 진행</a:t>
            </a:r>
            <a:endParaRPr lang="ko-KR" sz="1400"/>
          </a:p>
        </p:txBody>
      </p:sp>
      <p:sp>
        <p:nvSpPr>
          <p:cNvPr id="73" name="Shape 73"/>
          <p:cNvSpPr/>
          <p:nvPr/>
        </p:nvSpPr>
        <p:spPr>
          <a:xfrm>
            <a:off x="5074920" y="1645920"/>
            <a:ext cx="4023360" cy="4937760"/>
          </a:xfrm>
          <a:prstGeom prst="rect">
            <a:avLst/>
          </a:prstGeom>
          <a:solidFill>
            <a:srgbClr val="FDFDFB"/>
          </a:solidFill>
          <a:ln w="12700">
            <a:solidFill>
              <a:srgbClr val="C8C8C6"/>
            </a:solidFill>
          </a:ln>
        </p:spPr>
        <p:txBody>
          <a:bodyPr/>
          <a:lstStyle/>
          <a:p/>
        </p:txBody>
      </p:sp>
      <p:sp>
        <p:nvSpPr>
          <p:cNvPr id="74" name="Shape 74"/>
          <p:cNvSpPr/>
          <p:nvPr/>
        </p:nvSpPr>
        <p:spPr>
          <a:xfrm>
            <a:off x="5074920" y="1645920"/>
            <a:ext cx="4023360" cy="109728"/>
          </a:xfrm>
          <a:prstGeom prst="rect">
            <a:avLst/>
          </a:prstGeom>
          <a:solidFill>
            <a:srgbClr val="4E7C7D"/>
          </a:solidFill>
          <a:ln>
            <a:noFill/>
          </a:ln>
        </p:spPr>
        <p:txBody>
          <a:bodyPr/>
          <a:lstStyle/>
          <a:p/>
        </p:txBody>
      </p:sp>
      <p:sp>
        <p:nvSpPr>
          <p:cNvPr id="75" name="TextBox 75"/>
          <p:cNvSpPr txBox="1"/>
          <p:nvPr/>
        </p:nvSpPr>
        <p:spPr>
          <a:xfrm>
            <a:off x="5239512" y="1828800"/>
            <a:ext cx="3694176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ko-KR" sz="1700" b="1">
                <a:solidFill>
                  <a:srgbClr val="4E7C7D"/>
                </a:solidFill>
                <a:latin typeface="Malgun Gothic"/>
                <a:ea typeface="Malgun Gothic"/>
                <a:cs typeface="Malgun Gothic"/>
              </a:rPr>
              <a:t>상점 / 경제</a:t>
            </a:r>
            <a:endParaRPr lang="ko-KR" sz="1700"/>
          </a:p>
        </p:txBody>
      </p:sp>
      <p:sp>
        <p:nvSpPr>
          <p:cNvPr id="76" name="TextBox 76"/>
          <p:cNvSpPr txBox="1"/>
          <p:nvPr/>
        </p:nvSpPr>
        <p:spPr>
          <a:xfrm>
            <a:off x="5239512" y="2286000"/>
            <a:ext cx="3694176" cy="41148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ko-KR" sz="1400" b="0">
                <a:solidFill>
                  <a:srgbClr val="1F1F1F"/>
                </a:solidFill>
                <a:latin typeface="Malgun Gothic"/>
                <a:ea typeface="Malgun Gothic"/>
                <a:cs typeface="Malgun Gothic"/>
              </a:rPr>
              <a:t>ShopSlot 기반 진열대</a:t>
            </a:r>
            <a:endParaRPr lang="ko-KR" sz="1400"/>
          </a:p>
          <a:p>
            <a:pPr/>
            <a:r>
              <a:rPr lang="ko-KR" sz="1400" b="0">
                <a:solidFill>
                  <a:srgbClr val="1F1F1F"/>
                </a:solidFill>
                <a:latin typeface="Malgun Gothic"/>
                <a:ea typeface="Malgun Gothic"/>
                <a:cs typeface="Malgun Gothic"/>
              </a:rPr>
              <a:t>가격 조정 UI</a:t>
            </a:r>
            <a:endParaRPr lang="ko-KR" sz="1400"/>
          </a:p>
          <a:p>
            <a:pPr/>
            <a:r>
              <a:rPr lang="ko-KR" sz="1400" b="0">
                <a:solidFill>
                  <a:srgbClr val="1F1F1F"/>
                </a:solidFill>
                <a:latin typeface="Malgun Gothic"/>
                <a:ea typeface="Malgun Gothic"/>
                <a:cs typeface="Malgun Gothic"/>
              </a:rPr>
              <a:t>EconomyService / TierService</a:t>
            </a:r>
            <a:endParaRPr lang="ko-KR" sz="1400"/>
          </a:p>
          <a:p>
            <a:pPr/>
            <a:r>
              <a:rPr lang="ko-KR" sz="1400" b="0">
                <a:solidFill>
                  <a:srgbClr val="1F1F1F"/>
                </a:solidFill>
                <a:latin typeface="Malgun Gothic"/>
                <a:ea typeface="Malgun Gothic"/>
                <a:cs typeface="Malgun Gothic"/>
              </a:rPr>
              <a:t>PurchaseEvaluator 순수 함수 구조</a:t>
            </a:r>
            <a:endParaRPr lang="ko-KR" sz="1400"/>
          </a:p>
        </p:txBody>
      </p:sp>
      <p:sp>
        <p:nvSpPr>
          <p:cNvPr id="77" name="Shape 77"/>
          <p:cNvSpPr/>
          <p:nvPr/>
        </p:nvSpPr>
        <p:spPr>
          <a:xfrm>
            <a:off x="9418320" y="1645920"/>
            <a:ext cx="4023360" cy="4937760"/>
          </a:xfrm>
          <a:prstGeom prst="rect">
            <a:avLst/>
          </a:prstGeom>
          <a:solidFill>
            <a:srgbClr val="FDFDFB"/>
          </a:solidFill>
          <a:ln w="12700">
            <a:solidFill>
              <a:srgbClr val="C8C8C6"/>
            </a:solidFill>
          </a:ln>
        </p:spPr>
        <p:txBody>
          <a:bodyPr/>
          <a:lstStyle/>
          <a:p/>
        </p:txBody>
      </p:sp>
      <p:sp>
        <p:nvSpPr>
          <p:cNvPr id="78" name="Shape 78"/>
          <p:cNvSpPr/>
          <p:nvPr/>
        </p:nvSpPr>
        <p:spPr>
          <a:xfrm>
            <a:off x="9418320" y="1645920"/>
            <a:ext cx="4023360" cy="109728"/>
          </a:xfrm>
          <a:prstGeom prst="rect">
            <a:avLst/>
          </a:prstGeom>
          <a:solidFill>
            <a:srgbClr val="1F2D37"/>
          </a:solidFill>
          <a:ln>
            <a:noFill/>
          </a:ln>
        </p:spPr>
        <p:txBody>
          <a:bodyPr/>
          <a:lstStyle/>
          <a:p/>
        </p:txBody>
      </p:sp>
      <p:sp>
        <p:nvSpPr>
          <p:cNvPr id="79" name="TextBox 79"/>
          <p:cNvSpPr txBox="1"/>
          <p:nvPr/>
        </p:nvSpPr>
        <p:spPr>
          <a:xfrm>
            <a:off x="9582912" y="1828800"/>
            <a:ext cx="3694176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ko-KR" sz="1700" b="1">
                <a:solidFill>
                  <a:srgbClr val="1F2D37"/>
                </a:solidFill>
                <a:latin typeface="Malgun Gothic"/>
                <a:ea typeface="Malgun Gothic"/>
                <a:cs typeface="Malgun Gothic"/>
              </a:rPr>
              <a:t>NPC / 관계</a:t>
            </a:r>
            <a:endParaRPr lang="ko-KR" sz="1700"/>
          </a:p>
        </p:txBody>
      </p:sp>
      <p:sp>
        <p:nvSpPr>
          <p:cNvPr id="80" name="TextBox 80"/>
          <p:cNvSpPr txBox="1"/>
          <p:nvPr/>
        </p:nvSpPr>
        <p:spPr>
          <a:xfrm>
            <a:off x="9582912" y="2286000"/>
            <a:ext cx="3694176" cy="41148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ko-KR" sz="1400" b="0">
                <a:solidFill>
                  <a:srgbClr val="1F1F1F"/>
                </a:solidFill>
                <a:latin typeface="Malgun Gothic"/>
                <a:ea typeface="Malgun Gothic"/>
                <a:cs typeface="Malgun Gothic"/>
              </a:rPr>
              <a:t>Idle/Wander/Evaluate/Purchase/Leave FSM</a:t>
            </a:r>
            <a:endParaRPr lang="ko-KR" sz="1400"/>
          </a:p>
          <a:p>
            <a:pPr/>
            <a:r>
              <a:rPr lang="ko-KR" sz="1400" b="0">
                <a:solidFill>
                  <a:srgbClr val="1F1F1F"/>
                </a:solidFill>
                <a:latin typeface="Malgun Gothic"/>
                <a:ea typeface="Malgun Gothic"/>
                <a:cs typeface="Malgun Gothic"/>
              </a:rPr>
              <a:t>MBTI 4축 성향 데이터</a:t>
            </a:r>
            <a:endParaRPr lang="ko-KR" sz="1400"/>
          </a:p>
          <a:p>
            <a:pPr/>
            <a:r>
              <a:rPr lang="ko-KR" sz="1400" b="0">
                <a:solidFill>
                  <a:srgbClr val="1F1F1F"/>
                </a:solidFill>
                <a:latin typeface="Malgun Gothic"/>
                <a:ea typeface="Malgun Gothic"/>
                <a:cs typeface="Malgun Gothic"/>
              </a:rPr>
              <a:t>대화/친밀도 증가 제한 설계</a:t>
            </a:r>
            <a:endParaRPr lang="ko-KR" sz="1400"/>
          </a:p>
          <a:p>
            <a:pPr/>
            <a:r>
              <a:rPr lang="ko-KR" sz="1400" b="0">
                <a:solidFill>
                  <a:srgbClr val="1F1F1F"/>
                </a:solidFill>
                <a:latin typeface="Malgun Gothic"/>
                <a:ea typeface="Malgun Gothic"/>
                <a:cs typeface="Malgun Gothic"/>
              </a:rPr>
              <a:t>고용 NPC 저장 확장 진행</a:t>
            </a:r>
            <a:endParaRPr lang="ko-KR" sz="1400"/>
          </a:p>
        </p:txBody>
      </p:sp>
      <p:sp>
        <p:nvSpPr>
          <p:cNvPr id="81" name="Shape 81"/>
          <p:cNvSpPr/>
          <p:nvPr/>
        </p:nvSpPr>
        <p:spPr>
          <a:xfrm>
            <a:off x="13761720" y="1645920"/>
            <a:ext cx="4023360" cy="4937760"/>
          </a:xfrm>
          <a:prstGeom prst="rect">
            <a:avLst/>
          </a:prstGeom>
          <a:solidFill>
            <a:srgbClr val="FDFDFB"/>
          </a:solidFill>
          <a:ln w="12700">
            <a:solidFill>
              <a:srgbClr val="C8C8C6"/>
            </a:solidFill>
          </a:ln>
        </p:spPr>
        <p:txBody>
          <a:bodyPr/>
          <a:lstStyle/>
          <a:p/>
        </p:txBody>
      </p:sp>
      <p:sp>
        <p:nvSpPr>
          <p:cNvPr id="82" name="Shape 82"/>
          <p:cNvSpPr/>
          <p:nvPr/>
        </p:nvSpPr>
        <p:spPr>
          <a:xfrm>
            <a:off x="13761720" y="1645920"/>
            <a:ext cx="4023360" cy="109728"/>
          </a:xfrm>
          <a:prstGeom prst="rect">
            <a:avLst/>
          </a:prstGeom>
          <a:solidFill>
            <a:srgbClr val="5F8883"/>
          </a:solidFill>
          <a:ln>
            <a:noFill/>
          </a:ln>
        </p:spPr>
        <p:txBody>
          <a:bodyPr/>
          <a:lstStyle/>
          <a:p/>
        </p:txBody>
      </p:sp>
      <p:sp>
        <p:nvSpPr>
          <p:cNvPr id="83" name="TextBox 83"/>
          <p:cNvSpPr txBox="1"/>
          <p:nvPr/>
        </p:nvSpPr>
        <p:spPr>
          <a:xfrm>
            <a:off x="13926312" y="1828800"/>
            <a:ext cx="3694176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ko-KR" sz="1700" b="1">
                <a:solidFill>
                  <a:srgbClr val="5F8883"/>
                </a:solidFill>
                <a:latin typeface="Malgun Gothic"/>
                <a:ea typeface="Malgun Gothic"/>
                <a:cs typeface="Malgun Gothic"/>
              </a:rPr>
              <a:t>저장 / 자동화</a:t>
            </a:r>
            <a:endParaRPr lang="ko-KR" sz="1700"/>
          </a:p>
        </p:txBody>
      </p:sp>
      <p:sp>
        <p:nvSpPr>
          <p:cNvPr id="84" name="TextBox 84"/>
          <p:cNvSpPr txBox="1"/>
          <p:nvPr/>
        </p:nvSpPr>
        <p:spPr>
          <a:xfrm>
            <a:off x="13926312" y="2286000"/>
            <a:ext cx="3694176" cy="41148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ko-KR" sz="1400" b="0">
                <a:solidFill>
                  <a:srgbClr val="1F1F1F"/>
                </a:solidFill>
                <a:latin typeface="Malgun Gothic"/>
                <a:ea typeface="Malgun Gothic"/>
                <a:cs typeface="Malgun Gothic"/>
              </a:rPr>
              <a:t>ISaveRepository 유지</a:t>
            </a:r>
            <a:endParaRPr lang="ko-KR" sz="1400"/>
          </a:p>
          <a:p>
            <a:pPr/>
            <a:r>
              <a:rPr lang="ko-KR" sz="1400" b="0">
                <a:solidFill>
                  <a:srgbClr val="1F1F1F"/>
                </a:solidFill>
                <a:latin typeface="Malgun Gothic"/>
                <a:ea typeface="Malgun Gothic"/>
                <a:cs typeface="Malgun Gothic"/>
              </a:rPr>
              <a:t>SaveData v4 마이그레이션 설계</a:t>
            </a:r>
            <a:endParaRPr lang="ko-KR" sz="1400"/>
          </a:p>
          <a:p>
            <a:pPr/>
            <a:r>
              <a:rPr lang="ko-KR" sz="1400" b="0">
                <a:solidFill>
                  <a:srgbClr val="1F1F1F"/>
                </a:solidFill>
                <a:latin typeface="Malgun Gothic"/>
                <a:ea typeface="Malgun Gothic"/>
                <a:cs typeface="Malgun Gothic"/>
              </a:rPr>
              <a:t>Dev Console / Scene Auto Builder</a:t>
            </a:r>
            <a:endParaRPr lang="ko-KR" sz="1400"/>
          </a:p>
          <a:p>
            <a:pPr/>
            <a:r>
              <a:rPr lang="ko-KR" sz="1400" b="0">
                <a:solidFill>
                  <a:srgbClr val="1F1F1F"/>
                </a:solidFill>
                <a:latin typeface="Malgun Gothic"/>
                <a:ea typeface="Malgun Gothic"/>
                <a:cs typeface="Malgun Gothic"/>
              </a:rPr>
              <a:t>중복 생성 검증 도구 추가</a:t>
            </a:r>
            <a:endParaRPr lang="ko-KR" sz="1400"/>
          </a:p>
        </p:txBody>
      </p:sp>
      <p:sp>
        <p:nvSpPr>
          <p:cNvPr id="85" name="Shape 85"/>
          <p:cNvSpPr/>
          <p:nvPr/>
        </p:nvSpPr>
        <p:spPr>
          <a:xfrm>
            <a:off x="0" y="9784080"/>
            <a:ext cx="18288000" cy="502920"/>
          </a:xfrm>
          <a:prstGeom prst="rect">
            <a:avLst/>
          </a:prstGeom>
          <a:solidFill>
            <a:srgbClr val="06402B"/>
          </a:solidFill>
          <a:ln>
            <a:noFill/>
          </a:ln>
        </p:spPr>
        <p:txBody>
          <a:bodyPr/>
          <a:lstStyle/>
          <a:p/>
        </p:txBody>
      </p:sp>
      <p:sp>
        <p:nvSpPr>
          <p:cNvPr id="86" name="TextBox 86"/>
          <p:cNvSpPr txBox="1"/>
          <p:nvPr/>
        </p:nvSpPr>
        <p:spPr>
          <a:xfrm>
            <a:off x="640080" y="9875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ko-KR" sz="1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Project P.A.  |  졸업작품 개발현황</a:t>
            </a:r>
            <a:endParaRPr lang="ko-KR" sz="1000"/>
          </a:p>
        </p:txBody>
      </p:sp>
      <p:sp>
        <p:nvSpPr>
          <p:cNvPr id="87" name="TextBox 87"/>
          <p:cNvSpPr txBox="1"/>
          <p:nvPr/>
        </p:nvSpPr>
        <p:spPr>
          <a:xfrm>
            <a:off x="17190720" y="9875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r"/>
            <a:r>
              <a:rPr lang="ko-KR" sz="1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  <a:endParaRPr lang="ko-KR"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extBox 88"/>
          <p:cNvSpPr txBox="1"/>
          <p:nvPr/>
        </p:nvSpPr>
        <p:spPr>
          <a:xfrm>
            <a:off x="594360" y="411480"/>
            <a:ext cx="11704320" cy="65836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ko-KR" sz="4200" b="1">
                <a:solidFill>
                  <a:srgbClr val="15704D"/>
                </a:solidFill>
                <a:latin typeface="Malgun Gothic"/>
                <a:ea typeface="Malgun Gothic"/>
                <a:cs typeface="Malgun Gothic"/>
              </a:rPr>
              <a:t>수업 발표 시연 시나리오</a:t>
            </a:r>
            <a:endParaRPr lang="ko-KR" sz="4200"/>
          </a:p>
        </p:txBody>
      </p:sp>
      <p:sp>
        <p:nvSpPr>
          <p:cNvPr id="89" name="TextBox 89"/>
          <p:cNvSpPr txBox="1"/>
          <p:nvPr/>
        </p:nvSpPr>
        <p:spPr>
          <a:xfrm>
            <a:off x="658368" y="1143000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ko-KR" sz="1500" b="0">
                <a:solidFill>
                  <a:srgbClr val="4D4D4D"/>
                </a:solidFill>
                <a:latin typeface="Malgun Gothic"/>
                <a:ea typeface="Malgun Gothic"/>
                <a:cs typeface="Malgun Gothic"/>
              </a:rPr>
              <a:t>코드 설명보다 “게임이 실제로 어떻게 굴러가는지”를 먼저 보여주기</a:t>
            </a:r>
            <a:endParaRPr lang="ko-KR" sz="1500"/>
          </a:p>
        </p:txBody>
      </p:sp>
      <p:sp>
        <p:nvSpPr>
          <p:cNvPr id="90" name="Shape 90"/>
          <p:cNvSpPr/>
          <p:nvPr/>
        </p:nvSpPr>
        <p:spPr>
          <a:xfrm>
            <a:off x="822960" y="1691640"/>
            <a:ext cx="16642080" cy="5349240"/>
          </a:xfrm>
          <a:prstGeom prst="rect">
            <a:avLst/>
          </a:prstGeom>
          <a:solidFill>
            <a:srgbClr val="FDFDFB"/>
          </a:solidFill>
          <a:ln w="12700">
            <a:solidFill>
              <a:srgbClr val="C8C8C6"/>
            </a:solidFill>
          </a:ln>
        </p:spPr>
        <p:txBody>
          <a:bodyPr/>
          <a:lstStyle/>
          <a:p/>
        </p:txBody>
      </p:sp>
      <p:sp>
        <p:nvSpPr>
          <p:cNvPr id="91" name="TextBox 91"/>
          <p:cNvSpPr txBox="1"/>
          <p:nvPr/>
        </p:nvSpPr>
        <p:spPr>
          <a:xfrm>
            <a:off x="1097280" y="201168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ko-KR" sz="1800" b="1">
                <a:solidFill>
                  <a:srgbClr val="15704D"/>
                </a:solidFill>
                <a:latin typeface="Malgun Gothic"/>
                <a:ea typeface="Malgun Gothic"/>
                <a:cs typeface="Malgun Gothic"/>
              </a:rPr>
              <a:t>00:00</a:t>
            </a:r>
            <a:endParaRPr lang="ko-KR" sz="1800"/>
          </a:p>
        </p:txBody>
      </p:sp>
      <p:sp>
        <p:nvSpPr>
          <p:cNvPr id="92" name="TextBox 92"/>
          <p:cNvSpPr txBox="1"/>
          <p:nvPr/>
        </p:nvSpPr>
        <p:spPr>
          <a:xfrm>
            <a:off x="2423160" y="2011680"/>
            <a:ext cx="140817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ko-KR" sz="1800" b="0">
                <a:solidFill>
                  <a:srgbClr val="1F1F1F"/>
                </a:solidFill>
                <a:latin typeface="Malgun Gothic"/>
                <a:ea typeface="Malgun Gothic"/>
                <a:cs typeface="Malgun Gothic"/>
              </a:rPr>
              <a:t>마을 씬 진입: HUD, 시간, 재화, NPC 배치 확인</a:t>
            </a:r>
            <a:endParaRPr lang="ko-KR" sz="1800"/>
          </a:p>
        </p:txBody>
      </p:sp>
      <p:sp>
        <p:nvSpPr>
          <p:cNvPr id="93" name="TextBox 93"/>
          <p:cNvSpPr txBox="1"/>
          <p:nvPr/>
        </p:nvSpPr>
        <p:spPr>
          <a:xfrm>
            <a:off x="1097280" y="274320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ko-KR" sz="1800" b="1">
                <a:solidFill>
                  <a:srgbClr val="15704D"/>
                </a:solidFill>
                <a:latin typeface="Malgun Gothic"/>
                <a:ea typeface="Malgun Gothic"/>
                <a:cs typeface="Malgun Gothic"/>
              </a:rPr>
              <a:t>00:40</a:t>
            </a:r>
            <a:endParaRPr lang="ko-KR" sz="1800"/>
          </a:p>
        </p:txBody>
      </p:sp>
      <p:sp>
        <p:nvSpPr>
          <p:cNvPr id="94" name="TextBox 94"/>
          <p:cNvSpPr txBox="1"/>
          <p:nvPr/>
        </p:nvSpPr>
        <p:spPr>
          <a:xfrm>
            <a:off x="2423160" y="2743200"/>
            <a:ext cx="140817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ko-KR" sz="1800" b="0">
                <a:solidFill>
                  <a:srgbClr val="1F1F1F"/>
                </a:solidFill>
                <a:latin typeface="Malgun Gothic"/>
                <a:ea typeface="Malgun Gothic"/>
                <a:cs typeface="Malgun Gothic"/>
              </a:rPr>
              <a:t>인벤토리/핫바 열기: 현재 UI 개선 방향 설명</a:t>
            </a:r>
            <a:endParaRPr lang="ko-KR" sz="1800"/>
          </a:p>
        </p:txBody>
      </p:sp>
      <p:sp>
        <p:nvSpPr>
          <p:cNvPr id="95" name="TextBox 95"/>
          <p:cNvSpPr txBox="1"/>
          <p:nvPr/>
        </p:nvSpPr>
        <p:spPr>
          <a:xfrm>
            <a:off x="1097280" y="347472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ko-KR" sz="1800" b="1">
                <a:solidFill>
                  <a:srgbClr val="15704D"/>
                </a:solidFill>
                <a:latin typeface="Malgun Gothic"/>
                <a:ea typeface="Malgun Gothic"/>
                <a:cs typeface="Malgun Gothic"/>
              </a:rPr>
              <a:t>01:20</a:t>
            </a:r>
            <a:endParaRPr lang="ko-KR" sz="1800"/>
          </a:p>
        </p:txBody>
      </p:sp>
      <p:sp>
        <p:nvSpPr>
          <p:cNvPr id="96" name="TextBox 96"/>
          <p:cNvSpPr txBox="1"/>
          <p:nvPr/>
        </p:nvSpPr>
        <p:spPr>
          <a:xfrm>
            <a:off x="2423160" y="3474720"/>
            <a:ext cx="140817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ko-KR" sz="1800" b="0">
                <a:solidFill>
                  <a:srgbClr val="1F1F1F"/>
                </a:solidFill>
                <a:latin typeface="Malgun Gothic"/>
                <a:ea typeface="Malgun Gothic"/>
                <a:cs typeface="Malgun Gothic"/>
              </a:rPr>
              <a:t>상점 진열대 접근: 상품 등록과 가격 조정 흐름</a:t>
            </a:r>
            <a:endParaRPr lang="ko-KR" sz="1800"/>
          </a:p>
        </p:txBody>
      </p:sp>
      <p:sp>
        <p:nvSpPr>
          <p:cNvPr id="97" name="TextBox 97"/>
          <p:cNvSpPr txBox="1"/>
          <p:nvPr/>
        </p:nvSpPr>
        <p:spPr>
          <a:xfrm>
            <a:off x="1097280" y="420624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ko-KR" sz="1800" b="1">
                <a:solidFill>
                  <a:srgbClr val="15704D"/>
                </a:solidFill>
                <a:latin typeface="Malgun Gothic"/>
                <a:ea typeface="Malgun Gothic"/>
                <a:cs typeface="Malgun Gothic"/>
              </a:rPr>
              <a:t>02:10</a:t>
            </a:r>
            <a:endParaRPr lang="ko-KR" sz="1800"/>
          </a:p>
        </p:txBody>
      </p:sp>
      <p:sp>
        <p:nvSpPr>
          <p:cNvPr id="98" name="TextBox 98"/>
          <p:cNvSpPr txBox="1"/>
          <p:nvPr/>
        </p:nvSpPr>
        <p:spPr>
          <a:xfrm>
            <a:off x="2423160" y="4206240"/>
            <a:ext cx="140817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ko-KR" sz="1800" b="0">
                <a:solidFill>
                  <a:srgbClr val="1F1F1F"/>
                </a:solidFill>
                <a:latin typeface="Malgun Gothic"/>
                <a:ea typeface="Malgun Gothic"/>
                <a:cs typeface="Malgun Gothic"/>
              </a:rPr>
              <a:t>NPC 방문: 성향 기반 구매 판단과 FSM 상태 전환</a:t>
            </a:r>
            <a:endParaRPr lang="ko-KR" sz="1800"/>
          </a:p>
        </p:txBody>
      </p:sp>
      <p:sp>
        <p:nvSpPr>
          <p:cNvPr id="99" name="TextBox 99"/>
          <p:cNvSpPr txBox="1"/>
          <p:nvPr/>
        </p:nvSpPr>
        <p:spPr>
          <a:xfrm>
            <a:off x="1097280" y="493776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ko-KR" sz="1800" b="1">
                <a:solidFill>
                  <a:srgbClr val="15704D"/>
                </a:solidFill>
                <a:latin typeface="Malgun Gothic"/>
                <a:ea typeface="Malgun Gothic"/>
                <a:cs typeface="Malgun Gothic"/>
              </a:rPr>
              <a:t>03:00</a:t>
            </a:r>
            <a:endParaRPr lang="ko-KR" sz="1800"/>
          </a:p>
        </p:txBody>
      </p:sp>
      <p:sp>
        <p:nvSpPr>
          <p:cNvPr id="100" name="TextBox 100"/>
          <p:cNvSpPr txBox="1"/>
          <p:nvPr/>
        </p:nvSpPr>
        <p:spPr>
          <a:xfrm>
            <a:off x="2423160" y="4937760"/>
            <a:ext cx="140817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ko-KR" sz="1800" b="0">
                <a:solidFill>
                  <a:srgbClr val="1F1F1F"/>
                </a:solidFill>
                <a:latin typeface="Malgun Gothic"/>
                <a:ea typeface="Malgun Gothic"/>
                <a:cs typeface="Malgun Gothic"/>
              </a:rPr>
              <a:t>구매 결과: 돈/티어/친밀도/저장 데이터 변화 설명</a:t>
            </a:r>
            <a:endParaRPr lang="ko-KR" sz="1800"/>
          </a:p>
        </p:txBody>
      </p:sp>
      <p:sp>
        <p:nvSpPr>
          <p:cNvPr id="101" name="TextBox 101"/>
          <p:cNvSpPr txBox="1"/>
          <p:nvPr/>
        </p:nvSpPr>
        <p:spPr>
          <a:xfrm>
            <a:off x="1097280" y="566928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ko-KR" sz="1800" b="1">
                <a:solidFill>
                  <a:srgbClr val="15704D"/>
                </a:solidFill>
                <a:latin typeface="Malgun Gothic"/>
                <a:ea typeface="Malgun Gothic"/>
                <a:cs typeface="Malgun Gothic"/>
              </a:rPr>
              <a:t>04:00</a:t>
            </a:r>
            <a:endParaRPr lang="ko-KR" sz="1800"/>
          </a:p>
        </p:txBody>
      </p:sp>
      <p:sp>
        <p:nvSpPr>
          <p:cNvPr id="102" name="TextBox 102"/>
          <p:cNvSpPr txBox="1"/>
          <p:nvPr/>
        </p:nvSpPr>
        <p:spPr>
          <a:xfrm>
            <a:off x="2423160" y="5669280"/>
            <a:ext cx="140817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ko-KR" sz="1800" b="0">
                <a:solidFill>
                  <a:srgbClr val="1F1F1F"/>
                </a:solidFill>
                <a:latin typeface="Malgun Gothic"/>
                <a:ea typeface="Malgun Gothic"/>
                <a:cs typeface="Malgun Gothic"/>
              </a:rPr>
              <a:t>스마트폰/작업대/건물 배치: 다음 개발 단계 연결</a:t>
            </a:r>
            <a:endParaRPr lang="ko-KR" sz="1800"/>
          </a:p>
        </p:txBody>
      </p:sp>
      <p:sp>
        <p:nvSpPr>
          <p:cNvPr id="103" name="Shape 103"/>
          <p:cNvSpPr/>
          <p:nvPr/>
        </p:nvSpPr>
        <p:spPr>
          <a:xfrm>
            <a:off x="914400" y="7315200"/>
            <a:ext cx="16276320" cy="594360"/>
          </a:xfrm>
          <a:prstGeom prst="rect">
            <a:avLst/>
          </a:prstGeom>
          <a:solidFill>
            <a:srgbClr val="06402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4" name="TextBox 104"/>
          <p:cNvSpPr txBox="1"/>
          <p:nvPr/>
        </p:nvSpPr>
        <p:spPr>
          <a:xfrm>
            <a:off x="1188720" y="7406640"/>
            <a:ext cx="156362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tr"/>
            <a:r>
              <a:rPr lang="ko-KR"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시연 실패 대비: 실제 플레이 영상 30~60초 녹화본을 백업으로 준비</a:t>
            </a:r>
            <a:endParaRPr lang="ko-KR" sz="1800"/>
          </a:p>
        </p:txBody>
      </p:sp>
      <p:sp>
        <p:nvSpPr>
          <p:cNvPr id="105" name="Shape 105"/>
          <p:cNvSpPr/>
          <p:nvPr/>
        </p:nvSpPr>
        <p:spPr>
          <a:xfrm>
            <a:off x="0" y="9784080"/>
            <a:ext cx="18288000" cy="502920"/>
          </a:xfrm>
          <a:prstGeom prst="rect">
            <a:avLst/>
          </a:prstGeom>
          <a:solidFill>
            <a:srgbClr val="06402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6" name="TextBox 106"/>
          <p:cNvSpPr txBox="1"/>
          <p:nvPr/>
        </p:nvSpPr>
        <p:spPr>
          <a:xfrm>
            <a:off x="640080" y="9875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ko-KR" sz="1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Project P.A.  |  졸업작품 개발현황</a:t>
            </a:r>
            <a:endParaRPr lang="ko-KR" sz="1000"/>
          </a:p>
        </p:txBody>
      </p:sp>
      <p:sp>
        <p:nvSpPr>
          <p:cNvPr id="107" name="TextBox 107"/>
          <p:cNvSpPr txBox="1"/>
          <p:nvPr/>
        </p:nvSpPr>
        <p:spPr>
          <a:xfrm>
            <a:off x="17190720" y="9875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r"/>
            <a:r>
              <a:rPr lang="ko-KR" sz="1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  <a:endParaRPr lang="ko-KR"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Box 108"/>
          <p:cNvSpPr txBox="1"/>
          <p:nvPr/>
        </p:nvSpPr>
        <p:spPr>
          <a:xfrm>
            <a:off x="594360" y="411480"/>
            <a:ext cx="11704320" cy="65836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ko-KR" sz="4200" b="1">
                <a:solidFill>
                  <a:srgbClr val="15704D"/>
                </a:solidFill>
                <a:latin typeface="Malgun Gothic"/>
                <a:ea typeface="Malgun Gothic"/>
                <a:cs typeface="Malgun Gothic"/>
              </a:rPr>
              <a:t>11주차 기준 진행 위치</a:t>
            </a:r>
            <a:endParaRPr lang="ko-KR" sz="4200"/>
          </a:p>
        </p:txBody>
      </p:sp>
      <p:sp>
        <p:nvSpPr>
          <p:cNvPr id="109" name="TextBox 109"/>
          <p:cNvSpPr txBox="1"/>
          <p:nvPr/>
        </p:nvSpPr>
        <p:spPr>
          <a:xfrm>
            <a:off x="658368" y="1143000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ko-KR" sz="1500" b="0">
                <a:solidFill>
                  <a:srgbClr val="4D4D4D"/>
                </a:solidFill>
                <a:latin typeface="Malgun Gothic"/>
                <a:ea typeface="Malgun Gothic"/>
                <a:cs typeface="Malgun Gothic"/>
              </a:rPr>
              <a:t>1학기 로드맵 중 9~12주차: 상점 매입 및 소비 로직 검증 구간</a:t>
            </a:r>
            <a:endParaRPr lang="ko-KR" sz="1500"/>
          </a:p>
        </p:txBody>
      </p:sp>
      <p:sp>
        <p:nvSpPr>
          <p:cNvPr id="110" name="Shape 110"/>
          <p:cNvSpPr/>
          <p:nvPr/>
        </p:nvSpPr>
        <p:spPr>
          <a:xfrm>
            <a:off x="731520" y="1965960"/>
            <a:ext cx="3017520" cy="1005840"/>
          </a:xfrm>
          <a:prstGeom prst="rect">
            <a:avLst/>
          </a:prstGeom>
          <a:solidFill>
            <a:srgbClr val="93B1B2"/>
          </a:solidFill>
          <a:ln>
            <a:noFill/>
          </a:ln>
        </p:spPr>
        <p:txBody>
          <a:bodyPr/>
          <a:lstStyle/>
          <a:p/>
        </p:txBody>
      </p:sp>
      <p:sp>
        <p:nvSpPr>
          <p:cNvPr id="111" name="TextBox 111"/>
          <p:cNvSpPr txBox="1"/>
          <p:nvPr/>
        </p:nvSpPr>
        <p:spPr>
          <a:xfrm>
            <a:off x="731520" y="214884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tr"/>
            <a:r>
              <a:rPr lang="ko-KR" sz="1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1~4주차</a:t>
            </a:r>
            <a:endParaRPr lang="ko-KR" sz="1900"/>
          </a:p>
        </p:txBody>
      </p:sp>
      <p:sp>
        <p:nvSpPr>
          <p:cNvPr id="112" name="TextBox 112"/>
          <p:cNvSpPr txBox="1"/>
          <p:nvPr/>
        </p:nvSpPr>
        <p:spPr>
          <a:xfrm>
            <a:off x="731520" y="2542032"/>
            <a:ext cx="30175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tr"/>
            <a:r>
              <a:rPr lang="ko-KR" sz="1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요구사항/기본구현</a:t>
            </a:r>
            <a:endParaRPr lang="ko-KR" sz="1000"/>
          </a:p>
        </p:txBody>
      </p:sp>
      <p:sp>
        <p:nvSpPr>
          <p:cNvPr id="113" name="Shape 113"/>
          <p:cNvSpPr/>
          <p:nvPr/>
        </p:nvSpPr>
        <p:spPr>
          <a:xfrm>
            <a:off x="3749040" y="1965960"/>
            <a:ext cx="3017520" cy="1005840"/>
          </a:xfrm>
          <a:prstGeom prst="rect">
            <a:avLst/>
          </a:prstGeom>
          <a:solidFill>
            <a:srgbClr val="9AC4AB"/>
          </a:solidFill>
          <a:ln>
            <a:noFill/>
          </a:ln>
        </p:spPr>
        <p:txBody>
          <a:bodyPr/>
          <a:lstStyle/>
          <a:p/>
        </p:txBody>
      </p:sp>
      <p:sp>
        <p:nvSpPr>
          <p:cNvPr id="114" name="TextBox 114"/>
          <p:cNvSpPr txBox="1"/>
          <p:nvPr/>
        </p:nvSpPr>
        <p:spPr>
          <a:xfrm>
            <a:off x="3749040" y="214884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tr"/>
            <a:r>
              <a:rPr lang="ko-KR" sz="1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5~8주차</a:t>
            </a:r>
            <a:endParaRPr lang="ko-KR" sz="1900"/>
          </a:p>
        </p:txBody>
      </p:sp>
      <p:sp>
        <p:nvSpPr>
          <p:cNvPr id="115" name="TextBox 115"/>
          <p:cNvSpPr txBox="1"/>
          <p:nvPr/>
        </p:nvSpPr>
        <p:spPr>
          <a:xfrm>
            <a:off x="3749040" y="2542032"/>
            <a:ext cx="30175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tr"/>
            <a:r>
              <a:rPr lang="ko-KR" sz="1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NPC AI/FSM</a:t>
            </a:r>
            <a:endParaRPr lang="ko-KR" sz="1000"/>
          </a:p>
        </p:txBody>
      </p:sp>
      <p:sp>
        <p:nvSpPr>
          <p:cNvPr id="116" name="Shape 116"/>
          <p:cNvSpPr/>
          <p:nvPr/>
        </p:nvSpPr>
        <p:spPr>
          <a:xfrm>
            <a:off x="6766560" y="1965960"/>
            <a:ext cx="3017520" cy="1005840"/>
          </a:xfrm>
          <a:prstGeom prst="rect">
            <a:avLst/>
          </a:prstGeom>
          <a:solidFill>
            <a:srgbClr val="5F8883"/>
          </a:solidFill>
          <a:ln>
            <a:noFill/>
          </a:ln>
        </p:spPr>
        <p:txBody>
          <a:bodyPr/>
          <a:lstStyle/>
          <a:p/>
        </p:txBody>
      </p:sp>
      <p:sp>
        <p:nvSpPr>
          <p:cNvPr id="117" name="TextBox 117"/>
          <p:cNvSpPr txBox="1"/>
          <p:nvPr/>
        </p:nvSpPr>
        <p:spPr>
          <a:xfrm>
            <a:off x="6766560" y="214884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tr"/>
            <a:r>
              <a:rPr lang="ko-KR" sz="1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9~12주차</a:t>
            </a:r>
            <a:endParaRPr lang="ko-KR" sz="1900"/>
          </a:p>
        </p:txBody>
      </p:sp>
      <p:sp>
        <p:nvSpPr>
          <p:cNvPr id="118" name="TextBox 118"/>
          <p:cNvSpPr txBox="1"/>
          <p:nvPr/>
        </p:nvSpPr>
        <p:spPr>
          <a:xfrm>
            <a:off x="6766560" y="2542032"/>
            <a:ext cx="30175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tr"/>
            <a:r>
              <a:rPr lang="ko-KR" sz="1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상점 매입 검증</a:t>
            </a:r>
            <a:endParaRPr lang="ko-KR" sz="1000"/>
          </a:p>
        </p:txBody>
      </p:sp>
      <p:sp>
        <p:nvSpPr>
          <p:cNvPr id="119" name="Shape 119"/>
          <p:cNvSpPr/>
          <p:nvPr/>
        </p:nvSpPr>
        <p:spPr>
          <a:xfrm>
            <a:off x="9784080" y="1965960"/>
            <a:ext cx="2194560" cy="1005840"/>
          </a:xfrm>
          <a:prstGeom prst="rect">
            <a:avLst/>
          </a:prstGeom>
          <a:solidFill>
            <a:srgbClr val="4E7C7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0" name="TextBox 120"/>
          <p:cNvSpPr txBox="1"/>
          <p:nvPr/>
        </p:nvSpPr>
        <p:spPr>
          <a:xfrm>
            <a:off x="9784080" y="214884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tr"/>
            <a:r>
              <a:rPr lang="ko-KR" sz="1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13주차</a:t>
            </a:r>
            <a:endParaRPr lang="ko-KR" sz="1900"/>
          </a:p>
        </p:txBody>
      </p:sp>
      <p:sp>
        <p:nvSpPr>
          <p:cNvPr id="121" name="TextBox 121"/>
          <p:cNvSpPr txBox="1"/>
          <p:nvPr/>
        </p:nvSpPr>
        <p:spPr>
          <a:xfrm>
            <a:off x="9784080" y="2542032"/>
            <a:ext cx="21945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tr"/>
            <a:r>
              <a:rPr lang="ko-KR" sz="1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저장/로드 데모</a:t>
            </a:r>
            <a:endParaRPr lang="ko-KR" sz="1000"/>
          </a:p>
        </p:txBody>
      </p:sp>
      <p:sp>
        <p:nvSpPr>
          <p:cNvPr id="122" name="Shape 122"/>
          <p:cNvSpPr/>
          <p:nvPr/>
        </p:nvSpPr>
        <p:spPr>
          <a:xfrm>
            <a:off x="11978640" y="1965960"/>
            <a:ext cx="2834640" cy="1005840"/>
          </a:xfrm>
          <a:prstGeom prst="rect">
            <a:avLst/>
          </a:prstGeom>
          <a:solidFill>
            <a:srgbClr val="3B5D5A"/>
          </a:solidFill>
          <a:ln>
            <a:noFill/>
          </a:ln>
        </p:spPr>
        <p:txBody>
          <a:bodyPr/>
          <a:lstStyle/>
          <a:p/>
        </p:txBody>
      </p:sp>
      <p:sp>
        <p:nvSpPr>
          <p:cNvPr id="123" name="TextBox 123"/>
          <p:cNvSpPr txBox="1"/>
          <p:nvPr/>
        </p:nvSpPr>
        <p:spPr>
          <a:xfrm>
            <a:off x="11978640" y="2148840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tr"/>
            <a:r>
              <a:rPr lang="ko-KR" sz="1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14~15주차</a:t>
            </a:r>
            <a:endParaRPr lang="ko-KR" sz="1900"/>
          </a:p>
        </p:txBody>
      </p:sp>
      <p:sp>
        <p:nvSpPr>
          <p:cNvPr id="124" name="TextBox 124"/>
          <p:cNvSpPr txBox="1"/>
          <p:nvPr/>
        </p:nvSpPr>
        <p:spPr>
          <a:xfrm>
            <a:off x="11978640" y="2542032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tr"/>
            <a:r>
              <a:rPr lang="ko-KR" sz="1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가공 시스템</a:t>
            </a:r>
            <a:endParaRPr lang="ko-KR" sz="1000"/>
          </a:p>
        </p:txBody>
      </p:sp>
      <p:sp>
        <p:nvSpPr>
          <p:cNvPr id="125" name="Shape 125"/>
          <p:cNvSpPr/>
          <p:nvPr/>
        </p:nvSpPr>
        <p:spPr>
          <a:xfrm>
            <a:off x="14813280" y="1965960"/>
            <a:ext cx="2377440" cy="1005840"/>
          </a:xfrm>
          <a:prstGeom prst="rect">
            <a:avLst/>
          </a:prstGeom>
          <a:solidFill>
            <a:srgbClr val="1F2D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6" name="TextBox 126"/>
          <p:cNvSpPr txBox="1"/>
          <p:nvPr/>
        </p:nvSpPr>
        <p:spPr>
          <a:xfrm>
            <a:off x="14813280" y="214884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tr"/>
            <a:r>
              <a:rPr lang="ko-KR" sz="1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16주차</a:t>
            </a:r>
            <a:endParaRPr lang="ko-KR" sz="1900"/>
          </a:p>
        </p:txBody>
      </p:sp>
      <p:sp>
        <p:nvSpPr>
          <p:cNvPr id="127" name="TextBox 127"/>
          <p:cNvSpPr txBox="1"/>
          <p:nvPr/>
        </p:nvSpPr>
        <p:spPr>
          <a:xfrm>
            <a:off x="14813280" y="2542032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tr"/>
            <a:r>
              <a:rPr lang="ko-KR" sz="1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발표용 데모</a:t>
            </a:r>
            <a:endParaRPr lang="ko-KR" sz="1000"/>
          </a:p>
        </p:txBody>
      </p:sp>
      <p:sp>
        <p:nvSpPr>
          <p:cNvPr id="128" name="Shape 128"/>
          <p:cNvSpPr/>
          <p:nvPr/>
        </p:nvSpPr>
        <p:spPr>
          <a:xfrm>
            <a:off x="6720840" y="3154680"/>
            <a:ext cx="2834640" cy="201168"/>
          </a:xfrm>
          <a:prstGeom prst="rect">
            <a:avLst/>
          </a:prstGeom>
          <a:solidFill>
            <a:srgbClr val="F3C94C"/>
          </a:solidFill>
          <a:ln>
            <a:noFill/>
          </a:ln>
        </p:spPr>
        <p:txBody>
          <a:bodyPr/>
          <a:lstStyle/>
          <a:p/>
        </p:txBody>
      </p:sp>
      <p:sp>
        <p:nvSpPr>
          <p:cNvPr id="129" name="TextBox 129"/>
          <p:cNvSpPr txBox="1"/>
          <p:nvPr/>
        </p:nvSpPr>
        <p:spPr>
          <a:xfrm>
            <a:off x="6446520" y="3429000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tr"/>
            <a:r>
              <a:rPr lang="ko-KR" sz="1600" b="1">
                <a:solidFill>
                  <a:srgbClr val="1F2D37"/>
                </a:solidFill>
                <a:latin typeface="Malgun Gothic"/>
                <a:ea typeface="Malgun Gothic"/>
                <a:cs typeface="Malgun Gothic"/>
              </a:rPr>
              <a:t>현재 발표 지점</a:t>
            </a:r>
            <a:endParaRPr lang="ko-KR" sz="1600"/>
          </a:p>
        </p:txBody>
      </p:sp>
      <p:sp>
        <p:nvSpPr>
          <p:cNvPr id="130" name="Shape 130"/>
          <p:cNvSpPr/>
          <p:nvPr/>
        </p:nvSpPr>
        <p:spPr>
          <a:xfrm>
            <a:off x="914400" y="4297680"/>
            <a:ext cx="5029200" cy="2286000"/>
          </a:xfrm>
          <a:prstGeom prst="rect">
            <a:avLst/>
          </a:prstGeom>
          <a:solidFill>
            <a:srgbClr val="FDFDFB"/>
          </a:solidFill>
          <a:ln w="12700">
            <a:solidFill>
              <a:srgbClr val="C8C8C6"/>
            </a:solidFill>
          </a:ln>
        </p:spPr>
        <p:txBody>
          <a:bodyPr/>
          <a:lstStyle/>
          <a:p/>
        </p:txBody>
      </p:sp>
      <p:sp>
        <p:nvSpPr>
          <p:cNvPr id="131" name="Shape 131"/>
          <p:cNvSpPr/>
          <p:nvPr/>
        </p:nvSpPr>
        <p:spPr>
          <a:xfrm>
            <a:off x="914400" y="4297680"/>
            <a:ext cx="5029200" cy="109728"/>
          </a:xfrm>
          <a:prstGeom prst="rect">
            <a:avLst/>
          </a:prstGeom>
          <a:solidFill>
            <a:srgbClr val="15704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2" name="TextBox 132"/>
          <p:cNvSpPr txBox="1"/>
          <p:nvPr/>
        </p:nvSpPr>
        <p:spPr>
          <a:xfrm>
            <a:off x="1078992" y="4480560"/>
            <a:ext cx="4700016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ko-KR" sz="1700" b="1">
                <a:solidFill>
                  <a:srgbClr val="15704D"/>
                </a:solidFill>
                <a:latin typeface="Malgun Gothic"/>
                <a:ea typeface="Malgun Gothic"/>
                <a:cs typeface="Malgun Gothic"/>
              </a:rPr>
              <a:t>완료/시연 가능</a:t>
            </a:r>
            <a:endParaRPr lang="ko-KR" sz="1700"/>
          </a:p>
        </p:txBody>
      </p:sp>
      <p:sp>
        <p:nvSpPr>
          <p:cNvPr id="133" name="TextBox 133"/>
          <p:cNvSpPr txBox="1"/>
          <p:nvPr/>
        </p:nvSpPr>
        <p:spPr>
          <a:xfrm>
            <a:off x="1078992" y="4937760"/>
            <a:ext cx="4700016" cy="146304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ko-KR" sz="1400" b="0">
                <a:solidFill>
                  <a:srgbClr val="1F1F1F"/>
                </a:solidFill>
                <a:latin typeface="Malgun Gothic"/>
                <a:ea typeface="Malgun Gothic"/>
                <a:cs typeface="Malgun Gothic"/>
              </a:rPr>
              <a:t>플레이어 이동, HUD, 스마트폰, 인벤토리 기본, NPC FSM, 상점 슬롯, 가격/구매 판단 기본 흐름</a:t>
            </a:r>
            <a:endParaRPr lang="ko-KR" sz="1400"/>
          </a:p>
        </p:txBody>
      </p:sp>
      <p:sp>
        <p:nvSpPr>
          <p:cNvPr id="134" name="Shape 134"/>
          <p:cNvSpPr/>
          <p:nvPr/>
        </p:nvSpPr>
        <p:spPr>
          <a:xfrm>
            <a:off x="6583680" y="4297680"/>
            <a:ext cx="5029200" cy="2286000"/>
          </a:xfrm>
          <a:prstGeom prst="rect">
            <a:avLst/>
          </a:prstGeom>
          <a:solidFill>
            <a:srgbClr val="FDFDFB"/>
          </a:solidFill>
          <a:ln w="12700">
            <a:solidFill>
              <a:srgbClr val="C8C8C6"/>
            </a:solidFill>
          </a:ln>
        </p:spPr>
        <p:txBody>
          <a:bodyPr/>
          <a:lstStyle/>
          <a:p/>
        </p:txBody>
      </p:sp>
      <p:sp>
        <p:nvSpPr>
          <p:cNvPr id="135" name="Shape 135"/>
          <p:cNvSpPr/>
          <p:nvPr/>
        </p:nvSpPr>
        <p:spPr>
          <a:xfrm>
            <a:off x="6583680" y="4297680"/>
            <a:ext cx="5029200" cy="109728"/>
          </a:xfrm>
          <a:prstGeom prst="rect">
            <a:avLst/>
          </a:prstGeom>
          <a:solidFill>
            <a:srgbClr val="4E7C7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6" name="TextBox 136"/>
          <p:cNvSpPr txBox="1"/>
          <p:nvPr/>
        </p:nvSpPr>
        <p:spPr>
          <a:xfrm>
            <a:off x="6748272" y="4480560"/>
            <a:ext cx="4700016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ko-KR" sz="1700" b="1">
                <a:solidFill>
                  <a:srgbClr val="4E7C7D"/>
                </a:solidFill>
                <a:latin typeface="Malgun Gothic"/>
                <a:ea typeface="Malgun Gothic"/>
                <a:cs typeface="Malgun Gothic"/>
              </a:rPr>
              <a:t>안정화 중</a:t>
            </a:r>
            <a:endParaRPr lang="ko-KR" sz="1700"/>
          </a:p>
        </p:txBody>
      </p:sp>
      <p:sp>
        <p:nvSpPr>
          <p:cNvPr id="137" name="TextBox 137"/>
          <p:cNvSpPr txBox="1"/>
          <p:nvPr/>
        </p:nvSpPr>
        <p:spPr>
          <a:xfrm>
            <a:off x="6748272" y="4937760"/>
            <a:ext cx="4700016" cy="146304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ko-KR" sz="1400" b="0">
                <a:solidFill>
                  <a:srgbClr val="1F1F1F"/>
                </a:solidFill>
                <a:latin typeface="Malgun Gothic"/>
                <a:ea typeface="Malgun Gothic"/>
                <a:cs typeface="Malgun Gothic"/>
              </a:rPr>
              <a:t>저장 v4, 고용/친밀도 저장, NPC 중복 방지, 건물 방향/스케일 통합, NavMesh 검증</a:t>
            </a:r>
            <a:endParaRPr lang="ko-KR" sz="1400"/>
          </a:p>
        </p:txBody>
      </p:sp>
      <p:sp>
        <p:nvSpPr>
          <p:cNvPr id="138" name="Shape 138"/>
          <p:cNvSpPr/>
          <p:nvPr/>
        </p:nvSpPr>
        <p:spPr>
          <a:xfrm>
            <a:off x="12252960" y="4297680"/>
            <a:ext cx="5029200" cy="2286000"/>
          </a:xfrm>
          <a:prstGeom prst="rect">
            <a:avLst/>
          </a:prstGeom>
          <a:solidFill>
            <a:srgbClr val="FDFDFB"/>
          </a:solidFill>
          <a:ln w="12700">
            <a:solidFill>
              <a:srgbClr val="C8C8C6"/>
            </a:solidFill>
          </a:ln>
        </p:spPr>
        <p:txBody>
          <a:bodyPr/>
          <a:lstStyle/>
          <a:p/>
        </p:txBody>
      </p:sp>
      <p:sp>
        <p:nvSpPr>
          <p:cNvPr id="139" name="Shape 139"/>
          <p:cNvSpPr/>
          <p:nvPr/>
        </p:nvSpPr>
        <p:spPr>
          <a:xfrm>
            <a:off x="12252960" y="4297680"/>
            <a:ext cx="5029200" cy="109728"/>
          </a:xfrm>
          <a:prstGeom prst="rect">
            <a:avLst/>
          </a:prstGeom>
          <a:solidFill>
            <a:srgbClr val="1F2D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40" name="TextBox 140"/>
          <p:cNvSpPr txBox="1"/>
          <p:nvPr/>
        </p:nvSpPr>
        <p:spPr>
          <a:xfrm>
            <a:off x="12417552" y="4480560"/>
            <a:ext cx="4700016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ko-KR" sz="1700" b="1">
                <a:solidFill>
                  <a:srgbClr val="1F2D37"/>
                </a:solidFill>
                <a:latin typeface="Malgun Gothic"/>
                <a:ea typeface="Malgun Gothic"/>
                <a:cs typeface="Malgun Gothic"/>
              </a:rPr>
              <a:t>다음 목표</a:t>
            </a:r>
            <a:endParaRPr lang="ko-KR" sz="1700"/>
          </a:p>
        </p:txBody>
      </p:sp>
      <p:sp>
        <p:nvSpPr>
          <p:cNvPr id="141" name="TextBox 141"/>
          <p:cNvSpPr txBox="1"/>
          <p:nvPr/>
        </p:nvSpPr>
        <p:spPr>
          <a:xfrm>
            <a:off x="12417552" y="4937760"/>
            <a:ext cx="4700016" cy="146304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ko-KR" sz="1400" b="0">
                <a:solidFill>
                  <a:srgbClr val="1F1F1F"/>
                </a:solidFill>
                <a:latin typeface="Malgun Gothic"/>
                <a:ea typeface="Malgun Gothic"/>
                <a:cs typeface="Malgun Gothic"/>
              </a:rPr>
              <a:t>13주차 저장-종료-재실행-복원 1회 통과, 14~15주차 가공/레시피 시스템, 16주차 5분 데모</a:t>
            </a:r>
            <a:endParaRPr lang="ko-KR" sz="1400"/>
          </a:p>
        </p:txBody>
      </p:sp>
      <p:sp>
        <p:nvSpPr>
          <p:cNvPr id="142" name="Shape 142"/>
          <p:cNvSpPr/>
          <p:nvPr/>
        </p:nvSpPr>
        <p:spPr>
          <a:xfrm>
            <a:off x="0" y="9784080"/>
            <a:ext cx="18288000" cy="502920"/>
          </a:xfrm>
          <a:prstGeom prst="rect">
            <a:avLst/>
          </a:prstGeom>
          <a:solidFill>
            <a:srgbClr val="06402B"/>
          </a:solidFill>
          <a:ln>
            <a:noFill/>
          </a:ln>
        </p:spPr>
        <p:txBody>
          <a:bodyPr/>
          <a:lstStyle/>
          <a:p/>
        </p:txBody>
      </p:sp>
      <p:sp>
        <p:nvSpPr>
          <p:cNvPr id="143" name="TextBox 143"/>
          <p:cNvSpPr txBox="1"/>
          <p:nvPr/>
        </p:nvSpPr>
        <p:spPr>
          <a:xfrm>
            <a:off x="640080" y="9875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ko-KR" sz="1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Project P.A.  |  졸업작품 개발현황</a:t>
            </a:r>
            <a:endParaRPr lang="ko-KR" sz="1000"/>
          </a:p>
        </p:txBody>
      </p:sp>
      <p:sp>
        <p:nvSpPr>
          <p:cNvPr id="144" name="TextBox 144"/>
          <p:cNvSpPr txBox="1"/>
          <p:nvPr/>
        </p:nvSpPr>
        <p:spPr>
          <a:xfrm>
            <a:off x="17190720" y="9875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r"/>
            <a:r>
              <a:rPr lang="ko-KR" sz="1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  <a:endParaRPr lang="ko-KR" sz="1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TextBox 145"/>
          <p:cNvSpPr txBox="1"/>
          <p:nvPr/>
        </p:nvSpPr>
        <p:spPr>
          <a:xfrm>
            <a:off x="594360" y="411480"/>
            <a:ext cx="11704320" cy="65836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ko-KR" sz="4200" b="1">
                <a:solidFill>
                  <a:srgbClr val="15704D"/>
                </a:solidFill>
                <a:latin typeface="Malgun Gothic"/>
                <a:ea typeface="Malgun Gothic"/>
                <a:cs typeface="Malgun Gothic"/>
              </a:rPr>
              <a:t>기술 설계 포인트</a:t>
            </a:r>
            <a:endParaRPr lang="ko-KR" sz="4200"/>
          </a:p>
        </p:txBody>
      </p:sp>
      <p:sp>
        <p:nvSpPr>
          <p:cNvPr id="146" name="TextBox 146"/>
          <p:cNvSpPr txBox="1"/>
          <p:nvPr/>
        </p:nvSpPr>
        <p:spPr>
          <a:xfrm>
            <a:off x="658368" y="1143000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ko-KR" sz="1500" b="0">
                <a:solidFill>
                  <a:srgbClr val="4D4D4D"/>
                </a:solidFill>
                <a:latin typeface="Malgun Gothic"/>
                <a:ea typeface="Malgun Gothic"/>
                <a:cs typeface="Malgun Gothic"/>
              </a:rPr>
              <a:t>임시 구현도 나중에 실제 게임으로 확장 가능하도록 분리</a:t>
            </a:r>
            <a:endParaRPr lang="ko-KR" sz="1500"/>
          </a:p>
        </p:txBody>
      </p:sp>
      <p:sp>
        <p:nvSpPr>
          <p:cNvPr id="147" name="Shape 147"/>
          <p:cNvSpPr/>
          <p:nvPr/>
        </p:nvSpPr>
        <p:spPr>
          <a:xfrm>
            <a:off x="822960" y="1783080"/>
            <a:ext cx="5212080" cy="5120640"/>
          </a:xfrm>
          <a:prstGeom prst="rect">
            <a:avLst/>
          </a:prstGeom>
          <a:solidFill>
            <a:srgbClr val="FDFDFB"/>
          </a:solidFill>
          <a:ln w="12700">
            <a:solidFill>
              <a:srgbClr val="C8C8C6"/>
            </a:solidFill>
          </a:ln>
        </p:spPr>
        <p:txBody>
          <a:bodyPr/>
          <a:lstStyle/>
          <a:p/>
        </p:txBody>
      </p:sp>
      <p:sp>
        <p:nvSpPr>
          <p:cNvPr id="148" name="Shape 148"/>
          <p:cNvSpPr/>
          <p:nvPr/>
        </p:nvSpPr>
        <p:spPr>
          <a:xfrm>
            <a:off x="822960" y="1783080"/>
            <a:ext cx="5212080" cy="109728"/>
          </a:xfrm>
          <a:prstGeom prst="rect">
            <a:avLst/>
          </a:prstGeom>
          <a:solidFill>
            <a:srgbClr val="15704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9" name="TextBox 149"/>
          <p:cNvSpPr txBox="1"/>
          <p:nvPr/>
        </p:nvSpPr>
        <p:spPr>
          <a:xfrm>
            <a:off x="987552" y="1965960"/>
            <a:ext cx="4882896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ko-KR" sz="1700" b="1">
                <a:solidFill>
                  <a:srgbClr val="15704D"/>
                </a:solidFill>
                <a:latin typeface="Malgun Gothic"/>
                <a:ea typeface="Malgun Gothic"/>
                <a:cs typeface="Malgun Gothic"/>
              </a:rPr>
              <a:t>아이템 데이터</a:t>
            </a:r>
            <a:endParaRPr lang="ko-KR" sz="1700"/>
          </a:p>
        </p:txBody>
      </p:sp>
      <p:sp>
        <p:nvSpPr>
          <p:cNvPr id="150" name="TextBox 150"/>
          <p:cNvSpPr txBox="1"/>
          <p:nvPr/>
        </p:nvSpPr>
        <p:spPr>
          <a:xfrm>
            <a:off x="987552" y="2423160"/>
            <a:ext cx="4882896" cy="429768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ko-KR" sz="1400" b="0">
                <a:solidFill>
                  <a:srgbClr val="1F1F1F"/>
                </a:solidFill>
                <a:latin typeface="Malgun Gothic"/>
                <a:ea typeface="Malgun Gothic"/>
                <a:cs typeface="Malgun Gothic"/>
              </a:rPr>
              <a:t>Item ScriptableObject는 정적 원형</a:t>
            </a:r>
            <a:endParaRPr lang="ko-KR" sz="1400"/>
          </a:p>
          <a:p>
            <a:pPr/>
            <a:r>
              <a:rPr lang="ko-KR" sz="1400" b="0">
                <a:solidFill>
                  <a:srgbClr val="1F1F1F"/>
                </a:solidFill>
                <a:latin typeface="Malgun Gothic"/>
                <a:ea typeface="Malgun Gothic"/>
                <a:cs typeface="Malgun Gothic"/>
              </a:rPr>
              <a:t>ItemInstance는 품질/가격 등 런타임 상태</a:t>
            </a:r>
            <a:endParaRPr lang="ko-KR" sz="1400"/>
          </a:p>
          <a:p>
            <a:pPr/>
            <a:r>
              <a:rPr lang="ko-KR" sz="1400" b="0">
                <a:solidFill>
                  <a:srgbClr val="1F1F1F"/>
                </a:solidFill>
                <a:latin typeface="Malgun Gothic"/>
                <a:ea typeface="Malgun Gothic"/>
                <a:cs typeface="Malgun Gothic"/>
              </a:rPr>
              <a:t>InventorySlot이 인스턴스를 감싸 저장/이동</a:t>
            </a:r>
            <a:endParaRPr lang="ko-KR" sz="1400"/>
          </a:p>
          <a:p>
            <a:pPr/>
            <a:r>
              <a:rPr lang="ko-KR" sz="1400" b="0">
                <a:solidFill>
                  <a:srgbClr val="1F1F1F"/>
                </a:solidFill>
                <a:latin typeface="Malgun Gothic"/>
                <a:ea typeface="Malgun Gothic"/>
                <a:cs typeface="Malgun Gothic"/>
              </a:rPr>
              <a:t>→ 아이콘 교체와 밸런싱이 쉬움</a:t>
            </a:r>
            <a:endParaRPr lang="ko-KR" sz="1400"/>
          </a:p>
        </p:txBody>
      </p:sp>
      <p:sp>
        <p:nvSpPr>
          <p:cNvPr id="151" name="Shape 151"/>
          <p:cNvSpPr/>
          <p:nvPr/>
        </p:nvSpPr>
        <p:spPr>
          <a:xfrm>
            <a:off x="6537960" y="1783080"/>
            <a:ext cx="5212080" cy="5120640"/>
          </a:xfrm>
          <a:prstGeom prst="rect">
            <a:avLst/>
          </a:prstGeom>
          <a:solidFill>
            <a:srgbClr val="FDFDFB"/>
          </a:solidFill>
          <a:ln w="12700">
            <a:solidFill>
              <a:srgbClr val="C8C8C6"/>
            </a:solidFill>
          </a:ln>
        </p:spPr>
        <p:txBody>
          <a:bodyPr/>
          <a:lstStyle/>
          <a:p/>
        </p:txBody>
      </p:sp>
      <p:sp>
        <p:nvSpPr>
          <p:cNvPr id="152" name="Shape 152"/>
          <p:cNvSpPr/>
          <p:nvPr/>
        </p:nvSpPr>
        <p:spPr>
          <a:xfrm>
            <a:off x="6537960" y="1783080"/>
            <a:ext cx="5212080" cy="109728"/>
          </a:xfrm>
          <a:prstGeom prst="rect">
            <a:avLst/>
          </a:prstGeom>
          <a:solidFill>
            <a:srgbClr val="4E7C7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3" name="TextBox 153"/>
          <p:cNvSpPr txBox="1"/>
          <p:nvPr/>
        </p:nvSpPr>
        <p:spPr>
          <a:xfrm>
            <a:off x="6702552" y="1965960"/>
            <a:ext cx="4882896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ko-KR" sz="1700" b="1">
                <a:solidFill>
                  <a:srgbClr val="4E7C7D"/>
                </a:solidFill>
                <a:latin typeface="Malgun Gothic"/>
                <a:ea typeface="Malgun Gothic"/>
                <a:cs typeface="Malgun Gothic"/>
              </a:rPr>
              <a:t>경제 판단</a:t>
            </a:r>
            <a:endParaRPr lang="ko-KR" sz="1700"/>
          </a:p>
        </p:txBody>
      </p:sp>
      <p:sp>
        <p:nvSpPr>
          <p:cNvPr id="154" name="TextBox 154"/>
          <p:cNvSpPr txBox="1"/>
          <p:nvPr/>
        </p:nvSpPr>
        <p:spPr>
          <a:xfrm>
            <a:off x="6702552" y="2423160"/>
            <a:ext cx="4882896" cy="429768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ko-KR" sz="1400" b="0">
                <a:solidFill>
                  <a:srgbClr val="1F1F1F"/>
                </a:solidFill>
                <a:latin typeface="Malgun Gothic"/>
                <a:ea typeface="Malgun Gothic"/>
                <a:cs typeface="Malgun Gothic"/>
              </a:rPr>
              <a:t>NPC 구매 결정은 PurchaseEvaluator 순수 함수 경유</a:t>
            </a:r>
            <a:endParaRPr lang="ko-KR" sz="1400"/>
          </a:p>
          <a:p>
            <a:pPr/>
            <a:r>
              <a:rPr lang="ko-KR" sz="1400" b="0">
                <a:solidFill>
                  <a:srgbClr val="1F1F1F"/>
                </a:solidFill>
                <a:latin typeface="Malgun Gothic"/>
                <a:ea typeface="Malgun Gothic"/>
                <a:cs typeface="Malgun Gothic"/>
              </a:rPr>
              <a:t>MBTI 4축 기반 결정론적 RNG</a:t>
            </a:r>
            <a:endParaRPr lang="ko-KR" sz="1400"/>
          </a:p>
          <a:p>
            <a:pPr/>
            <a:r>
              <a:rPr lang="ko-KR" sz="1400" b="0">
                <a:solidFill>
                  <a:srgbClr val="1F1F1F"/>
                </a:solidFill>
                <a:latin typeface="Malgun Gothic"/>
                <a:ea typeface="Malgun Gothic"/>
                <a:cs typeface="Malgun Gothic"/>
              </a:rPr>
              <a:t>→ 테스트와 밸런싱이 가능함</a:t>
            </a:r>
            <a:endParaRPr lang="ko-KR" sz="1400"/>
          </a:p>
        </p:txBody>
      </p:sp>
      <p:sp>
        <p:nvSpPr>
          <p:cNvPr id="155" name="Shape 155"/>
          <p:cNvSpPr/>
          <p:nvPr/>
        </p:nvSpPr>
        <p:spPr>
          <a:xfrm>
            <a:off x="12252960" y="1783080"/>
            <a:ext cx="5212080" cy="5120640"/>
          </a:xfrm>
          <a:prstGeom prst="rect">
            <a:avLst/>
          </a:prstGeom>
          <a:solidFill>
            <a:srgbClr val="FDFDFB"/>
          </a:solidFill>
          <a:ln w="12700">
            <a:solidFill>
              <a:srgbClr val="C8C8C6"/>
            </a:solidFill>
          </a:ln>
        </p:spPr>
        <p:txBody>
          <a:bodyPr/>
          <a:lstStyle/>
          <a:p/>
        </p:txBody>
      </p:sp>
      <p:sp>
        <p:nvSpPr>
          <p:cNvPr id="156" name="Shape 156"/>
          <p:cNvSpPr/>
          <p:nvPr/>
        </p:nvSpPr>
        <p:spPr>
          <a:xfrm>
            <a:off x="12252960" y="1783080"/>
            <a:ext cx="5212080" cy="109728"/>
          </a:xfrm>
          <a:prstGeom prst="rect">
            <a:avLst/>
          </a:prstGeom>
          <a:solidFill>
            <a:srgbClr val="1F2D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57" name="TextBox 157"/>
          <p:cNvSpPr txBox="1"/>
          <p:nvPr/>
        </p:nvSpPr>
        <p:spPr>
          <a:xfrm>
            <a:off x="12417552" y="1965960"/>
            <a:ext cx="4882896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ko-KR" sz="1700" b="1">
                <a:solidFill>
                  <a:srgbClr val="1F2D37"/>
                </a:solidFill>
                <a:latin typeface="Malgun Gothic"/>
                <a:ea typeface="Malgun Gothic"/>
                <a:cs typeface="Malgun Gothic"/>
              </a:rPr>
              <a:t>저장/자동화</a:t>
            </a:r>
            <a:endParaRPr lang="ko-KR" sz="1700"/>
          </a:p>
        </p:txBody>
      </p:sp>
      <p:sp>
        <p:nvSpPr>
          <p:cNvPr id="158" name="TextBox 158"/>
          <p:cNvSpPr txBox="1"/>
          <p:nvPr/>
        </p:nvSpPr>
        <p:spPr>
          <a:xfrm>
            <a:off x="12417552" y="2423160"/>
            <a:ext cx="4882896" cy="429768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ko-KR" sz="1400" b="0">
                <a:solidFill>
                  <a:srgbClr val="1F1F1F"/>
                </a:solidFill>
                <a:latin typeface="Malgun Gothic"/>
                <a:ea typeface="Malgun Gothic"/>
                <a:cs typeface="Malgun Gothic"/>
              </a:rPr>
              <a:t>ISaveRepository 구조 유지</a:t>
            </a:r>
            <a:endParaRPr lang="ko-KR" sz="1400"/>
          </a:p>
          <a:p>
            <a:pPr/>
            <a:r>
              <a:rPr lang="ko-KR" sz="1400" b="0">
                <a:solidFill>
                  <a:srgbClr val="1F1F1F"/>
                </a:solidFill>
                <a:latin typeface="Malgun Gothic"/>
                <a:ea typeface="Malgun Gothic"/>
                <a:cs typeface="Malgun Gothic"/>
              </a:rPr>
              <a:t>SaveData v4 마이그레이션으로 친밀도/고용/FSM 복구</a:t>
            </a:r>
            <a:endParaRPr lang="ko-KR" sz="1400"/>
          </a:p>
          <a:p>
            <a:pPr/>
            <a:r>
              <a:rPr lang="ko-KR" sz="1400" b="0">
                <a:solidFill>
                  <a:srgbClr val="1F1F1F"/>
                </a:solidFill>
                <a:latin typeface="Malgun Gothic"/>
                <a:ea typeface="Malgun Gothic"/>
                <a:cs typeface="Malgun Gothic"/>
              </a:rPr>
              <a:t>Dev Console 버튼으로 생성/검증/수리 자동화</a:t>
            </a:r>
            <a:endParaRPr lang="ko-KR" sz="1400"/>
          </a:p>
        </p:txBody>
      </p:sp>
      <p:sp>
        <p:nvSpPr>
          <p:cNvPr id="159" name="Shape 159"/>
          <p:cNvSpPr/>
          <p:nvPr/>
        </p:nvSpPr>
        <p:spPr>
          <a:xfrm>
            <a:off x="0" y="9784080"/>
            <a:ext cx="18288000" cy="502920"/>
          </a:xfrm>
          <a:prstGeom prst="rect">
            <a:avLst/>
          </a:prstGeom>
          <a:solidFill>
            <a:srgbClr val="06402B"/>
          </a:solidFill>
          <a:ln>
            <a:noFill/>
          </a:ln>
        </p:spPr>
        <p:txBody>
          <a:bodyPr/>
          <a:lstStyle/>
          <a:p/>
        </p:txBody>
      </p:sp>
      <p:sp>
        <p:nvSpPr>
          <p:cNvPr id="160" name="TextBox 160"/>
          <p:cNvSpPr txBox="1"/>
          <p:nvPr/>
        </p:nvSpPr>
        <p:spPr>
          <a:xfrm>
            <a:off x="640080" y="9875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ko-KR" sz="1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Project P.A.  |  졸업작품 개발현황</a:t>
            </a:r>
            <a:endParaRPr lang="ko-KR" sz="1000"/>
          </a:p>
        </p:txBody>
      </p:sp>
      <p:sp>
        <p:nvSpPr>
          <p:cNvPr id="161" name="TextBox 161"/>
          <p:cNvSpPr txBox="1"/>
          <p:nvPr/>
        </p:nvSpPr>
        <p:spPr>
          <a:xfrm>
            <a:off x="17190720" y="9875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r"/>
            <a:r>
              <a:rPr lang="ko-KR" sz="1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7</a:t>
            </a:r>
            <a:endParaRPr lang="ko-KR" sz="1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TextBox 162"/>
          <p:cNvSpPr txBox="1"/>
          <p:nvPr/>
        </p:nvSpPr>
        <p:spPr>
          <a:xfrm>
            <a:off x="594360" y="411480"/>
            <a:ext cx="11704320" cy="65836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ko-KR" sz="4200" b="1">
                <a:solidFill>
                  <a:srgbClr val="15704D"/>
                </a:solidFill>
                <a:latin typeface="Malgun Gothic"/>
                <a:ea typeface="Malgun Gothic"/>
                <a:cs typeface="Malgun Gothic"/>
              </a:rPr>
              <a:t>아트 및 씬 구성 현황</a:t>
            </a:r>
            <a:endParaRPr lang="ko-KR" sz="4200"/>
          </a:p>
        </p:txBody>
      </p:sp>
      <p:sp>
        <p:nvSpPr>
          <p:cNvPr id="163" name="TextBox 163"/>
          <p:cNvSpPr txBox="1"/>
          <p:nvPr/>
        </p:nvSpPr>
        <p:spPr>
          <a:xfrm>
            <a:off x="658368" y="1143000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ko-KR" sz="1500" b="0">
                <a:solidFill>
                  <a:srgbClr val="4D4D4D"/>
                </a:solidFill>
                <a:latin typeface="Malgun Gothic"/>
                <a:ea typeface="Malgun Gothic"/>
                <a:cs typeface="Malgun Gothic"/>
              </a:rPr>
              <a:t>아트 완성보다 플레이 가능한 구조를 먼저 세우는 단계</a:t>
            </a:r>
            <a:endParaRPr lang="ko-KR" sz="1500"/>
          </a:p>
        </p:txBody>
      </p:sp>
      <p:sp>
        <p:nvSpPr>
          <p:cNvPr id="164" name="Shape 164"/>
          <p:cNvSpPr/>
          <p:nvPr/>
        </p:nvSpPr>
        <p:spPr>
          <a:xfrm>
            <a:off x="822960" y="1691640"/>
            <a:ext cx="7863840" cy="5166360"/>
          </a:xfrm>
          <a:prstGeom prst="rect">
            <a:avLst/>
          </a:prstGeom>
          <a:solidFill>
            <a:srgbClr val="EFE7DA"/>
          </a:solidFill>
          <a:ln w="12700">
            <a:solidFill>
              <a:srgbClr val="C8C8C6"/>
            </a:solidFill>
          </a:ln>
        </p:spPr>
        <p:txBody>
          <a:bodyPr/>
          <a:lstStyle/>
          <a:p/>
        </p:txBody>
      </p:sp>
      <p:sp>
        <p:nvSpPr>
          <p:cNvPr id="165" name="TextBox 165"/>
          <p:cNvSpPr txBox="1"/>
          <p:nvPr/>
        </p:nvSpPr>
        <p:spPr>
          <a:xfrm>
            <a:off x="1097280" y="1920240"/>
            <a:ext cx="73152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tr"/>
            <a:r>
              <a:rPr lang="ko-KR" sz="1900" b="1">
                <a:solidFill>
                  <a:srgbClr val="15704D"/>
                </a:solidFill>
                <a:latin typeface="Malgun Gothic"/>
                <a:ea typeface="Malgun Gothic"/>
                <a:cs typeface="Malgun Gothic"/>
              </a:rPr>
              <a:t>현재 씬 화면 캡처 영역</a:t>
            </a:r>
            <a:endParaRPr lang="ko-KR" sz="1900"/>
          </a:p>
        </p:txBody>
      </p:sp>
      <p:sp>
        <p:nvSpPr>
          <p:cNvPr id="166" name="TextBox 166"/>
          <p:cNvSpPr txBox="1"/>
          <p:nvPr/>
        </p:nvSpPr>
        <p:spPr>
          <a:xfrm>
            <a:off x="1188720" y="3886200"/>
            <a:ext cx="713232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tr"/>
            <a:r>
              <a:rPr lang="ko-KR" sz="1800" b="1">
                <a:solidFill>
                  <a:srgbClr val="4D4D4D"/>
                </a:solidFill>
                <a:latin typeface="Malgun Gothic"/>
                <a:ea typeface="Malgun Gothic"/>
                <a:cs typeface="Malgun Gothic"/>
              </a:rPr>
              <a:t>Unity 화면 캡처를 여기에 교체하면 발표 완성도가 올라갑니다.</a:t>
            </a:r>
            <a:endParaRPr lang="ko-KR" sz="1800"/>
          </a:p>
        </p:txBody>
      </p:sp>
      <p:sp>
        <p:nvSpPr>
          <p:cNvPr id="167" name="Shape 167"/>
          <p:cNvSpPr/>
          <p:nvPr/>
        </p:nvSpPr>
        <p:spPr>
          <a:xfrm>
            <a:off x="9326880" y="1691640"/>
            <a:ext cx="7863840" cy="5166360"/>
          </a:xfrm>
          <a:prstGeom prst="rect">
            <a:avLst/>
          </a:prstGeom>
          <a:solidFill>
            <a:srgbClr val="F7F8F5"/>
          </a:solidFill>
          <a:ln w="12700">
            <a:solidFill>
              <a:srgbClr val="C8C8C6"/>
            </a:solidFill>
          </a:ln>
        </p:spPr>
        <p:txBody>
          <a:bodyPr/>
          <a:lstStyle/>
          <a:p/>
        </p:txBody>
      </p:sp>
      <p:sp>
        <p:nvSpPr>
          <p:cNvPr id="168" name="TextBox 168"/>
          <p:cNvSpPr txBox="1"/>
          <p:nvPr/>
        </p:nvSpPr>
        <p:spPr>
          <a:xfrm>
            <a:off x="9601200" y="1920240"/>
            <a:ext cx="73152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tr"/>
            <a:r>
              <a:rPr lang="ko-KR" sz="1900" b="1">
                <a:solidFill>
                  <a:srgbClr val="15704D"/>
                </a:solidFill>
                <a:latin typeface="Malgun Gothic"/>
                <a:ea typeface="Malgun Gothic"/>
                <a:cs typeface="Malgun Gothic"/>
              </a:rPr>
              <a:t>B-01~B-12 건물 에셋 준비</a:t>
            </a:r>
            <a:endParaRPr lang="ko-KR" sz="1900"/>
          </a:p>
        </p:txBody>
      </p:sp>
      <p:sp>
        <p:nvSpPr>
          <p:cNvPr id="169" name="TextBox 169"/>
          <p:cNvSpPr txBox="1"/>
          <p:nvPr/>
        </p:nvSpPr>
        <p:spPr>
          <a:xfrm>
            <a:off x="9784080" y="2743200"/>
            <a:ext cx="6949440" cy="30175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marL="342900" indent="-171450">
              <a:buChar char="•"/>
            </a:pPr>
            <a:r>
              <a:rPr lang="ko-KR" sz="1800" b="0">
                <a:solidFill>
                  <a:srgbClr val="1F1F1F"/>
                </a:solidFill>
                <a:latin typeface="Malgun Gothic"/>
                <a:ea typeface="Malgun Gothic"/>
                <a:cs typeface="Malgun Gothic"/>
              </a:rPr>
              <a:t>건물 모델은 배치 가능 상태</a:t>
            </a:r>
            <a:endParaRPr lang="ko-KR" sz="1800"/>
          </a:p>
          <a:p>
            <a:pPr marL="342900" indent="-171450">
              <a:buChar char="•"/>
            </a:pPr>
            <a:r>
              <a:rPr lang="ko-KR" sz="1800" b="0">
                <a:solidFill>
                  <a:srgbClr val="1F1F1F"/>
                </a:solidFill>
                <a:latin typeface="Malgun Gothic"/>
                <a:ea typeface="Malgun Gothic"/>
                <a:cs typeface="Malgun Gothic"/>
              </a:rPr>
              <a:t>크기/방향/텍스처 연결 검증 필요</a:t>
            </a:r>
            <a:endParaRPr lang="ko-KR" sz="1800"/>
          </a:p>
          <a:p>
            <a:pPr marL="342900" indent="-171450">
              <a:buChar char="•"/>
            </a:pPr>
            <a:r>
              <a:rPr lang="ko-KR" sz="1800" b="0">
                <a:solidFill>
                  <a:srgbClr val="1F1F1F"/>
                </a:solidFill>
                <a:latin typeface="Malgun Gothic"/>
                <a:ea typeface="Malgun Gothic"/>
                <a:cs typeface="Malgun Gothic"/>
              </a:rPr>
              <a:t>플레이 루프 완성 후 최종 에셋 교체</a:t>
            </a:r>
            <a:endParaRPr lang="ko-KR" sz="1800"/>
          </a:p>
          <a:p>
            <a:pPr marL="342900" indent="-171450">
              <a:buChar char="•"/>
            </a:pPr>
            <a:r>
              <a:rPr lang="ko-KR" sz="1800" b="0">
                <a:solidFill>
                  <a:srgbClr val="1F1F1F"/>
                </a:solidFill>
                <a:latin typeface="Malgun Gothic"/>
                <a:ea typeface="Malgun Gothic"/>
                <a:cs typeface="Malgun Gothic"/>
              </a:rPr>
              <a:t>NavMesh Bake와 중복 생성 검증 자동화</a:t>
            </a:r>
            <a:endParaRPr lang="ko-KR" sz="1800"/>
          </a:p>
        </p:txBody>
      </p:sp>
      <p:sp>
        <p:nvSpPr>
          <p:cNvPr id="170" name="Shape 170"/>
          <p:cNvSpPr/>
          <p:nvPr/>
        </p:nvSpPr>
        <p:spPr>
          <a:xfrm>
            <a:off x="914400" y="7315200"/>
            <a:ext cx="16276320" cy="594360"/>
          </a:xfrm>
          <a:prstGeom prst="rect">
            <a:avLst/>
          </a:prstGeom>
          <a:solidFill>
            <a:srgbClr val="06402B"/>
          </a:solidFill>
          <a:ln>
            <a:noFill/>
          </a:ln>
        </p:spPr>
        <p:txBody>
          <a:bodyPr/>
          <a:lstStyle/>
          <a:p/>
        </p:txBody>
      </p:sp>
      <p:sp>
        <p:nvSpPr>
          <p:cNvPr id="171" name="TextBox 171"/>
          <p:cNvSpPr txBox="1"/>
          <p:nvPr/>
        </p:nvSpPr>
        <p:spPr>
          <a:xfrm>
            <a:off x="1188720" y="7406640"/>
            <a:ext cx="156362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tr"/>
            <a:r>
              <a:rPr lang="ko-KR"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발표 메시지: “지금은 예쁜 장면보다 게임의 기능적 뼈대를 먼저 완성하고 있습니다.”</a:t>
            </a:r>
            <a:endParaRPr lang="ko-KR" sz="1800"/>
          </a:p>
        </p:txBody>
      </p:sp>
      <p:sp>
        <p:nvSpPr>
          <p:cNvPr id="172" name="Shape 172"/>
          <p:cNvSpPr/>
          <p:nvPr/>
        </p:nvSpPr>
        <p:spPr>
          <a:xfrm>
            <a:off x="0" y="9784080"/>
            <a:ext cx="18288000" cy="502920"/>
          </a:xfrm>
          <a:prstGeom prst="rect">
            <a:avLst/>
          </a:prstGeom>
          <a:solidFill>
            <a:srgbClr val="06402B"/>
          </a:solidFill>
          <a:ln>
            <a:noFill/>
          </a:ln>
        </p:spPr>
        <p:txBody>
          <a:bodyPr/>
          <a:lstStyle/>
          <a:p/>
        </p:txBody>
      </p:sp>
      <p:sp>
        <p:nvSpPr>
          <p:cNvPr id="173" name="TextBox 173"/>
          <p:cNvSpPr txBox="1"/>
          <p:nvPr/>
        </p:nvSpPr>
        <p:spPr>
          <a:xfrm>
            <a:off x="640080" y="9875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ko-KR" sz="1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Project P.A.  |  졸업작품 개발현황</a:t>
            </a:r>
            <a:endParaRPr lang="ko-KR" sz="1000"/>
          </a:p>
        </p:txBody>
      </p:sp>
      <p:sp>
        <p:nvSpPr>
          <p:cNvPr id="174" name="TextBox 174"/>
          <p:cNvSpPr txBox="1"/>
          <p:nvPr/>
        </p:nvSpPr>
        <p:spPr>
          <a:xfrm>
            <a:off x="17190720" y="9875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r"/>
            <a:r>
              <a:rPr lang="ko-KR" sz="1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8</a:t>
            </a:r>
            <a:endParaRPr lang="ko-KR" sz="1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TextBox 175"/>
          <p:cNvSpPr txBox="1"/>
          <p:nvPr/>
        </p:nvSpPr>
        <p:spPr>
          <a:xfrm>
            <a:off x="594360" y="411480"/>
            <a:ext cx="11704320" cy="65836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ko-KR" sz="4200" b="1">
                <a:solidFill>
                  <a:srgbClr val="15704D"/>
                </a:solidFill>
                <a:latin typeface="Malgun Gothic"/>
                <a:ea typeface="Malgun Gothic"/>
                <a:cs typeface="Malgun Gothic"/>
              </a:rPr>
              <a:t>남은 문제와 대응 방향</a:t>
            </a:r>
            <a:endParaRPr lang="ko-KR" sz="4200"/>
          </a:p>
        </p:txBody>
      </p:sp>
      <p:sp>
        <p:nvSpPr>
          <p:cNvPr id="176" name="TextBox 176"/>
          <p:cNvSpPr txBox="1"/>
          <p:nvPr/>
        </p:nvSpPr>
        <p:spPr>
          <a:xfrm>
            <a:off x="658368" y="1143000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ko-KR" sz="1500" b="0">
                <a:solidFill>
                  <a:srgbClr val="4D4D4D"/>
                </a:solidFill>
                <a:latin typeface="Malgun Gothic"/>
                <a:ea typeface="Malgun Gothic"/>
                <a:cs typeface="Malgun Gothic"/>
              </a:rPr>
              <a:t>약점도 숨기지 말고 개발 계획으로 연결</a:t>
            </a:r>
            <a:endParaRPr lang="ko-KR" sz="1500"/>
          </a:p>
        </p:txBody>
      </p:sp>
      <p:sp>
        <p:nvSpPr>
          <p:cNvPr id="177" name="Shape 177"/>
          <p:cNvSpPr/>
          <p:nvPr/>
        </p:nvSpPr>
        <p:spPr>
          <a:xfrm>
            <a:off x="777240" y="1737360"/>
            <a:ext cx="16733520" cy="5440680"/>
          </a:xfrm>
          <a:prstGeom prst="rect">
            <a:avLst/>
          </a:prstGeom>
          <a:solidFill>
            <a:srgbClr val="FDFDFB"/>
          </a:solidFill>
          <a:ln w="12700">
            <a:solidFill>
              <a:srgbClr val="C8C8C6"/>
            </a:solidFill>
          </a:ln>
        </p:spPr>
        <p:txBody>
          <a:bodyPr/>
          <a:lstStyle/>
          <a:p/>
        </p:txBody>
      </p:sp>
      <p:sp>
        <p:nvSpPr>
          <p:cNvPr id="178" name="Shape 178"/>
          <p:cNvSpPr/>
          <p:nvPr/>
        </p:nvSpPr>
        <p:spPr>
          <a:xfrm>
            <a:off x="777240" y="1737360"/>
            <a:ext cx="16733520" cy="502920"/>
          </a:xfrm>
          <a:prstGeom prst="rect">
            <a:avLst/>
          </a:prstGeom>
          <a:solidFill>
            <a:srgbClr val="15704D"/>
          </a:solidFill>
          <a:ln>
            <a:noFill/>
          </a:ln>
        </p:spPr>
        <p:txBody>
          <a:bodyPr/>
          <a:lstStyle/>
          <a:p/>
        </p:txBody>
      </p:sp>
      <p:sp>
        <p:nvSpPr>
          <p:cNvPr id="179" name="TextBox 179"/>
          <p:cNvSpPr txBox="1"/>
          <p:nvPr/>
        </p:nvSpPr>
        <p:spPr>
          <a:xfrm>
            <a:off x="960120" y="182880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ko-KR"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이슈</a:t>
            </a:r>
            <a:endParaRPr lang="ko-KR" sz="1400"/>
          </a:p>
        </p:txBody>
      </p:sp>
      <p:sp>
        <p:nvSpPr>
          <p:cNvPr id="180" name="TextBox 180"/>
          <p:cNvSpPr txBox="1"/>
          <p:nvPr/>
        </p:nvSpPr>
        <p:spPr>
          <a:xfrm>
            <a:off x="4754880" y="182880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ko-KR"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원인/위험</a:t>
            </a:r>
            <a:endParaRPr lang="ko-KR" sz="1400"/>
          </a:p>
        </p:txBody>
      </p:sp>
      <p:sp>
        <p:nvSpPr>
          <p:cNvPr id="181" name="TextBox 181"/>
          <p:cNvSpPr txBox="1"/>
          <p:nvPr/>
        </p:nvSpPr>
        <p:spPr>
          <a:xfrm>
            <a:off x="11978640" y="1828800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ko-KR"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대응</a:t>
            </a:r>
            <a:endParaRPr lang="ko-KR" sz="1400"/>
          </a:p>
        </p:txBody>
      </p:sp>
      <p:sp>
        <p:nvSpPr>
          <p:cNvPr id="182" name="TextBox 182"/>
          <p:cNvSpPr txBox="1"/>
          <p:nvPr/>
        </p:nvSpPr>
        <p:spPr>
          <a:xfrm>
            <a:off x="960120" y="251460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ko-KR" sz="1500" b="1">
                <a:solidFill>
                  <a:srgbClr val="1F1F1F"/>
                </a:solidFill>
                <a:latin typeface="Malgun Gothic"/>
                <a:ea typeface="Malgun Gothic"/>
                <a:cs typeface="Malgun Gothic"/>
              </a:rPr>
              <a:t>건물 방향/스케일</a:t>
            </a:r>
            <a:endParaRPr lang="ko-KR" sz="1500"/>
          </a:p>
        </p:txBody>
      </p:sp>
      <p:sp>
        <p:nvSpPr>
          <p:cNvPr id="183" name="TextBox 183"/>
          <p:cNvSpPr txBox="1"/>
          <p:nvPr/>
        </p:nvSpPr>
        <p:spPr>
          <a:xfrm>
            <a:off x="4754880" y="2514600"/>
            <a:ext cx="704088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ko-KR" sz="1500" b="0">
                <a:solidFill>
                  <a:srgbClr val="1F1F1F"/>
                </a:solidFill>
                <a:latin typeface="Malgun Gothic"/>
                <a:ea typeface="Malgun Gothic"/>
                <a:cs typeface="Malgun Gothic"/>
              </a:rPr>
              <a:t>에셋마다 기준 축과 크기가 다름</a:t>
            </a:r>
            <a:endParaRPr lang="ko-KR" sz="1500"/>
          </a:p>
        </p:txBody>
      </p:sp>
      <p:sp>
        <p:nvSpPr>
          <p:cNvPr id="184" name="TextBox 184"/>
          <p:cNvSpPr txBox="1"/>
          <p:nvPr/>
        </p:nvSpPr>
        <p:spPr>
          <a:xfrm>
            <a:off x="11978640" y="2514600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ko-KR" sz="1500" b="0">
                <a:solidFill>
                  <a:srgbClr val="1F1F1F"/>
                </a:solidFill>
                <a:latin typeface="Malgun Gothic"/>
                <a:ea typeface="Malgun Gothic"/>
                <a:cs typeface="Malgun Gothic"/>
              </a:rPr>
              <a:t>프리팹 Import Preset 통합</a:t>
            </a:r>
            <a:endParaRPr lang="ko-KR" sz="1500"/>
          </a:p>
        </p:txBody>
      </p:sp>
      <p:sp>
        <p:nvSpPr>
          <p:cNvPr id="185" name="TextBox 185"/>
          <p:cNvSpPr txBox="1"/>
          <p:nvPr/>
        </p:nvSpPr>
        <p:spPr>
          <a:xfrm>
            <a:off x="960120" y="333756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ko-KR" sz="1500" b="1">
                <a:solidFill>
                  <a:srgbClr val="1F1F1F"/>
                </a:solidFill>
                <a:latin typeface="Malgun Gothic"/>
                <a:ea typeface="Malgun Gothic"/>
                <a:cs typeface="Malgun Gothic"/>
              </a:rPr>
              <a:t>NPC 중복 생성</a:t>
            </a:r>
            <a:endParaRPr lang="ko-KR" sz="1500"/>
          </a:p>
        </p:txBody>
      </p:sp>
      <p:sp>
        <p:nvSpPr>
          <p:cNvPr id="186" name="TextBox 186"/>
          <p:cNvSpPr txBox="1"/>
          <p:nvPr/>
        </p:nvSpPr>
        <p:spPr>
          <a:xfrm>
            <a:off x="4754880" y="3337560"/>
            <a:ext cx="704088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ko-KR" sz="1500" b="0">
                <a:solidFill>
                  <a:srgbClr val="1F1F1F"/>
                </a:solidFill>
                <a:latin typeface="Malgun Gothic"/>
                <a:ea typeface="Malgun Gothic"/>
                <a:cs typeface="Malgun Gothic"/>
              </a:rPr>
              <a:t>자동 생성 도구 반복 실행 시 누적 위험</a:t>
            </a:r>
            <a:endParaRPr lang="ko-KR" sz="1500"/>
          </a:p>
        </p:txBody>
      </p:sp>
      <p:sp>
        <p:nvSpPr>
          <p:cNvPr id="187" name="TextBox 187"/>
          <p:cNvSpPr txBox="1"/>
          <p:nvPr/>
        </p:nvSpPr>
        <p:spPr>
          <a:xfrm>
            <a:off x="11978640" y="3337560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ko-KR" sz="1500" b="0">
                <a:solidFill>
                  <a:srgbClr val="1F1F1F"/>
                </a:solidFill>
                <a:latin typeface="Malgun Gothic"/>
                <a:ea typeface="Malgun Gothic"/>
                <a:cs typeface="Malgun Gothic"/>
              </a:rPr>
              <a:t>Duplicate Guard 검증/수리</a:t>
            </a:r>
            <a:endParaRPr lang="ko-KR" sz="1500"/>
          </a:p>
        </p:txBody>
      </p:sp>
      <p:sp>
        <p:nvSpPr>
          <p:cNvPr id="188" name="TextBox 188"/>
          <p:cNvSpPr txBox="1"/>
          <p:nvPr/>
        </p:nvSpPr>
        <p:spPr>
          <a:xfrm>
            <a:off x="960120" y="416052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ko-KR" sz="1500" b="1">
                <a:solidFill>
                  <a:srgbClr val="1F1F1F"/>
                </a:solidFill>
                <a:latin typeface="Malgun Gothic"/>
                <a:ea typeface="Malgun Gothic"/>
                <a:cs typeface="Malgun Gothic"/>
              </a:rPr>
              <a:t>저장/로드 안정성</a:t>
            </a:r>
            <a:endParaRPr lang="ko-KR" sz="1500"/>
          </a:p>
        </p:txBody>
      </p:sp>
      <p:sp>
        <p:nvSpPr>
          <p:cNvPr id="189" name="TextBox 189"/>
          <p:cNvSpPr txBox="1"/>
          <p:nvPr/>
        </p:nvSpPr>
        <p:spPr>
          <a:xfrm>
            <a:off x="4754880" y="4160520"/>
            <a:ext cx="704088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ko-KR" sz="1500" b="0">
                <a:solidFill>
                  <a:srgbClr val="1F1F1F"/>
                </a:solidFill>
                <a:latin typeface="Malgun Gothic"/>
                <a:ea typeface="Malgun Gothic"/>
                <a:cs typeface="Malgun Gothic"/>
              </a:rPr>
              <a:t>고용 NPC FSM 상태까지 복구 필요</a:t>
            </a:r>
            <a:endParaRPr lang="ko-KR" sz="1500"/>
          </a:p>
        </p:txBody>
      </p:sp>
      <p:sp>
        <p:nvSpPr>
          <p:cNvPr id="190" name="TextBox 190"/>
          <p:cNvSpPr txBox="1"/>
          <p:nvPr/>
        </p:nvSpPr>
        <p:spPr>
          <a:xfrm>
            <a:off x="11978640" y="4160520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ko-KR" sz="1500" b="0">
                <a:solidFill>
                  <a:srgbClr val="1F1F1F"/>
                </a:solidFill>
                <a:latin typeface="Malgun Gothic"/>
                <a:ea typeface="Malgun Gothic"/>
                <a:cs typeface="Malgun Gothic"/>
              </a:rPr>
              <a:t>SaveData v4 마이그레이션</a:t>
            </a:r>
            <a:endParaRPr lang="ko-KR" sz="1500"/>
          </a:p>
        </p:txBody>
      </p:sp>
      <p:sp>
        <p:nvSpPr>
          <p:cNvPr id="191" name="TextBox 191"/>
          <p:cNvSpPr txBox="1"/>
          <p:nvPr/>
        </p:nvSpPr>
        <p:spPr>
          <a:xfrm>
            <a:off x="960120" y="498348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ko-KR" sz="1500" b="1">
                <a:solidFill>
                  <a:srgbClr val="1F1F1F"/>
                </a:solidFill>
                <a:latin typeface="Malgun Gothic"/>
                <a:ea typeface="Malgun Gothic"/>
                <a:cs typeface="Malgun Gothic"/>
              </a:rPr>
              <a:t>애니메이션</a:t>
            </a:r>
            <a:endParaRPr lang="ko-KR" sz="1500"/>
          </a:p>
        </p:txBody>
      </p:sp>
      <p:sp>
        <p:nvSpPr>
          <p:cNvPr id="192" name="TextBox 192"/>
          <p:cNvSpPr txBox="1"/>
          <p:nvPr/>
        </p:nvSpPr>
        <p:spPr>
          <a:xfrm>
            <a:off x="4754880" y="4983480"/>
            <a:ext cx="704088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ko-KR" sz="1500" b="0">
                <a:solidFill>
                  <a:srgbClr val="1F1F1F"/>
                </a:solidFill>
                <a:latin typeface="Malgun Gothic"/>
                <a:ea typeface="Malgun Gothic"/>
                <a:cs typeface="Malgun Gothic"/>
              </a:rPr>
              <a:t>모델별 리깅/루트모션 차이</a:t>
            </a:r>
            <a:endParaRPr lang="ko-KR" sz="1500"/>
          </a:p>
        </p:txBody>
      </p:sp>
      <p:sp>
        <p:nvSpPr>
          <p:cNvPr id="193" name="TextBox 193"/>
          <p:cNvSpPr txBox="1"/>
          <p:nvPr/>
        </p:nvSpPr>
        <p:spPr>
          <a:xfrm>
            <a:off x="11978640" y="4983480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ko-KR" sz="1500" b="0">
                <a:solidFill>
                  <a:srgbClr val="1F1F1F"/>
                </a:solidFill>
                <a:latin typeface="Malgun Gothic"/>
                <a:ea typeface="Malgun Gothic"/>
                <a:cs typeface="Malgun Gothic"/>
              </a:rPr>
              <a:t>공통 컨트롤러와 IK 정리</a:t>
            </a:r>
            <a:endParaRPr lang="ko-KR" sz="1500"/>
          </a:p>
        </p:txBody>
      </p:sp>
      <p:sp>
        <p:nvSpPr>
          <p:cNvPr id="194" name="TextBox 194"/>
          <p:cNvSpPr txBox="1"/>
          <p:nvPr/>
        </p:nvSpPr>
        <p:spPr>
          <a:xfrm>
            <a:off x="960120" y="58064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ko-KR" sz="1500" b="1">
                <a:solidFill>
                  <a:srgbClr val="1F1F1F"/>
                </a:solidFill>
                <a:latin typeface="Malgun Gothic"/>
                <a:ea typeface="Malgun Gothic"/>
                <a:cs typeface="Malgun Gothic"/>
              </a:rPr>
              <a:t>UI 완성도</a:t>
            </a:r>
            <a:endParaRPr lang="ko-KR" sz="1500"/>
          </a:p>
        </p:txBody>
      </p:sp>
      <p:sp>
        <p:nvSpPr>
          <p:cNvPr id="195" name="TextBox 195"/>
          <p:cNvSpPr txBox="1"/>
          <p:nvPr/>
        </p:nvSpPr>
        <p:spPr>
          <a:xfrm>
            <a:off x="4754880" y="5806440"/>
            <a:ext cx="704088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ko-KR" sz="1500" b="0">
                <a:solidFill>
                  <a:srgbClr val="1F1F1F"/>
                </a:solidFill>
                <a:latin typeface="Malgun Gothic"/>
                <a:ea typeface="Malgun Gothic"/>
                <a:cs typeface="Malgun Gothic"/>
              </a:rPr>
              <a:t>인벤토리/스마트폰 시각 품질 개선 필요</a:t>
            </a:r>
            <a:endParaRPr lang="ko-KR" sz="1500"/>
          </a:p>
        </p:txBody>
      </p:sp>
      <p:sp>
        <p:nvSpPr>
          <p:cNvPr id="196" name="TextBox 196"/>
          <p:cNvSpPr txBox="1"/>
          <p:nvPr/>
        </p:nvSpPr>
        <p:spPr>
          <a:xfrm>
            <a:off x="11978640" y="5806440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ko-KR" sz="1500" b="0">
                <a:solidFill>
                  <a:srgbClr val="1F1F1F"/>
                </a:solidFill>
                <a:latin typeface="Malgun Gothic"/>
                <a:ea typeface="Malgun Gothic"/>
                <a:cs typeface="Malgun Gothic"/>
              </a:rPr>
              <a:t>기능 우선 후 아트 교체</a:t>
            </a:r>
            <a:endParaRPr lang="ko-KR" sz="1500"/>
          </a:p>
        </p:txBody>
      </p:sp>
      <p:sp>
        <p:nvSpPr>
          <p:cNvPr id="197" name="Shape 197"/>
          <p:cNvSpPr/>
          <p:nvPr/>
        </p:nvSpPr>
        <p:spPr>
          <a:xfrm>
            <a:off x="0" y="9784080"/>
            <a:ext cx="18288000" cy="502920"/>
          </a:xfrm>
          <a:prstGeom prst="rect">
            <a:avLst/>
          </a:prstGeom>
          <a:solidFill>
            <a:srgbClr val="06402B"/>
          </a:solidFill>
          <a:ln>
            <a:noFill/>
          </a:ln>
        </p:spPr>
        <p:txBody>
          <a:bodyPr/>
          <a:lstStyle/>
          <a:p/>
        </p:txBody>
      </p:sp>
      <p:sp>
        <p:nvSpPr>
          <p:cNvPr id="198" name="TextBox 198"/>
          <p:cNvSpPr txBox="1"/>
          <p:nvPr/>
        </p:nvSpPr>
        <p:spPr>
          <a:xfrm>
            <a:off x="640080" y="9875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ko-KR" sz="1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Project P.A.  |  졸업작품 개발현황</a:t>
            </a:r>
            <a:endParaRPr lang="ko-KR" sz="1000"/>
          </a:p>
        </p:txBody>
      </p:sp>
      <p:sp>
        <p:nvSpPr>
          <p:cNvPr id="199" name="TextBox 199"/>
          <p:cNvSpPr txBox="1"/>
          <p:nvPr/>
        </p:nvSpPr>
        <p:spPr>
          <a:xfrm>
            <a:off x="17190720" y="9875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r"/>
            <a:r>
              <a:rPr lang="ko-KR" sz="1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9</a:t>
            </a:r>
            <a:endParaRPr lang="ko-KR" sz="1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TextBox 200"/>
          <p:cNvSpPr txBox="1"/>
          <p:nvPr/>
        </p:nvSpPr>
        <p:spPr>
          <a:xfrm>
            <a:off x="594360" y="411480"/>
            <a:ext cx="11704320" cy="65836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ko-KR" sz="4200" b="1">
                <a:solidFill>
                  <a:srgbClr val="15704D"/>
                </a:solidFill>
                <a:latin typeface="Malgun Gothic"/>
                <a:ea typeface="Malgun Gothic"/>
                <a:cs typeface="Malgun Gothic"/>
              </a:rPr>
              <a:t>다음 작업 계획</a:t>
            </a:r>
            <a:endParaRPr lang="ko-KR" sz="4200"/>
          </a:p>
        </p:txBody>
      </p:sp>
      <p:sp>
        <p:nvSpPr>
          <p:cNvPr id="201" name="TextBox 201"/>
          <p:cNvSpPr txBox="1"/>
          <p:nvPr/>
        </p:nvSpPr>
        <p:spPr>
          <a:xfrm>
            <a:off x="658368" y="1143000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ko-KR" sz="1500" b="0">
                <a:solidFill>
                  <a:srgbClr val="4D4D4D"/>
                </a:solidFill>
                <a:latin typeface="Malgun Gothic"/>
                <a:ea typeface="Malgun Gothic"/>
                <a:cs typeface="Malgun Gothic"/>
              </a:rPr>
              <a:t>발표 이후 바로 이어갈 개발 순서</a:t>
            </a:r>
            <a:endParaRPr lang="ko-KR" sz="1500"/>
          </a:p>
        </p:txBody>
      </p:sp>
      <p:sp>
        <p:nvSpPr>
          <p:cNvPr id="202" name="Shape 202"/>
          <p:cNvSpPr/>
          <p:nvPr/>
        </p:nvSpPr>
        <p:spPr>
          <a:xfrm>
            <a:off x="822960" y="1828800"/>
            <a:ext cx="5212080" cy="4480560"/>
          </a:xfrm>
          <a:prstGeom prst="rect">
            <a:avLst/>
          </a:prstGeom>
          <a:solidFill>
            <a:srgbClr val="FDFDFB"/>
          </a:solidFill>
          <a:ln w="12700">
            <a:solidFill>
              <a:srgbClr val="C8C8C6"/>
            </a:solidFill>
          </a:ln>
        </p:spPr>
        <p:txBody>
          <a:bodyPr/>
          <a:lstStyle/>
          <a:p/>
        </p:txBody>
      </p:sp>
      <p:sp>
        <p:nvSpPr>
          <p:cNvPr id="203" name="Shape 203"/>
          <p:cNvSpPr/>
          <p:nvPr/>
        </p:nvSpPr>
        <p:spPr>
          <a:xfrm>
            <a:off x="822960" y="1828800"/>
            <a:ext cx="5212080" cy="109728"/>
          </a:xfrm>
          <a:prstGeom prst="rect">
            <a:avLst/>
          </a:prstGeom>
          <a:solidFill>
            <a:srgbClr val="15704D"/>
          </a:solidFill>
          <a:ln>
            <a:noFill/>
          </a:ln>
        </p:spPr>
        <p:txBody>
          <a:bodyPr/>
          <a:lstStyle/>
          <a:p/>
        </p:txBody>
      </p:sp>
      <p:sp>
        <p:nvSpPr>
          <p:cNvPr id="204" name="TextBox 204"/>
          <p:cNvSpPr txBox="1"/>
          <p:nvPr/>
        </p:nvSpPr>
        <p:spPr>
          <a:xfrm>
            <a:off x="987552" y="2011680"/>
            <a:ext cx="4882896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ko-KR" sz="1700" b="1">
                <a:solidFill>
                  <a:srgbClr val="15704D"/>
                </a:solidFill>
                <a:latin typeface="Malgun Gothic"/>
                <a:ea typeface="Malgun Gothic"/>
                <a:cs typeface="Malgun Gothic"/>
              </a:rPr>
              <a:t>13주차</a:t>
            </a:r>
            <a:endParaRPr lang="ko-KR" sz="1700"/>
          </a:p>
        </p:txBody>
      </p:sp>
      <p:sp>
        <p:nvSpPr>
          <p:cNvPr id="205" name="TextBox 205"/>
          <p:cNvSpPr txBox="1"/>
          <p:nvPr/>
        </p:nvSpPr>
        <p:spPr>
          <a:xfrm>
            <a:off x="987552" y="2468880"/>
            <a:ext cx="4882896" cy="36576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ko-KR" sz="1400" b="0">
                <a:solidFill>
                  <a:srgbClr val="1F1F1F"/>
                </a:solidFill>
                <a:latin typeface="Malgun Gothic"/>
                <a:ea typeface="Malgun Gothic"/>
                <a:cs typeface="Malgun Gothic"/>
              </a:rPr>
              <a:t>저장 → 종료 → 재실행 → 복원 플로우 1회 통과</a:t>
            </a:r>
            <a:endParaRPr lang="ko-KR" sz="1400"/>
          </a:p>
          <a:p>
            <a:pPr/>
            <a:r>
              <a:rPr lang="ko-KR" sz="1400" b="0">
                <a:solidFill>
                  <a:srgbClr val="1F1F1F"/>
                </a:solidFill>
                <a:latin typeface="Malgun Gothic"/>
                <a:ea typeface="Malgun Gothic"/>
                <a:cs typeface="Malgun Gothic"/>
              </a:rPr>
              <a:t>Friendship/Hiring/FSM 저장 복구</a:t>
            </a:r>
            <a:endParaRPr lang="ko-KR" sz="1400"/>
          </a:p>
          <a:p>
            <a:pPr/>
            <a:r>
              <a:rPr lang="ko-KR" sz="1400" b="0">
                <a:solidFill>
                  <a:srgbClr val="1F1F1F"/>
                </a:solidFill>
                <a:latin typeface="Malgun Gothic"/>
                <a:ea typeface="Malgun Gothic"/>
                <a:cs typeface="Malgun Gothic"/>
              </a:rPr>
              <a:t>NavMesh Bake 최종 검증</a:t>
            </a:r>
            <a:endParaRPr lang="ko-KR" sz="1400"/>
          </a:p>
        </p:txBody>
      </p:sp>
      <p:sp>
        <p:nvSpPr>
          <p:cNvPr id="206" name="Shape 206"/>
          <p:cNvSpPr/>
          <p:nvPr/>
        </p:nvSpPr>
        <p:spPr>
          <a:xfrm>
            <a:off x="6537960" y="1828800"/>
            <a:ext cx="5212080" cy="4480560"/>
          </a:xfrm>
          <a:prstGeom prst="rect">
            <a:avLst/>
          </a:prstGeom>
          <a:solidFill>
            <a:srgbClr val="FDFDFB"/>
          </a:solidFill>
          <a:ln w="12700">
            <a:solidFill>
              <a:srgbClr val="C8C8C6"/>
            </a:solidFill>
          </a:ln>
        </p:spPr>
        <p:txBody>
          <a:bodyPr/>
          <a:lstStyle/>
          <a:p/>
        </p:txBody>
      </p:sp>
      <p:sp>
        <p:nvSpPr>
          <p:cNvPr id="207" name="Shape 207"/>
          <p:cNvSpPr/>
          <p:nvPr/>
        </p:nvSpPr>
        <p:spPr>
          <a:xfrm>
            <a:off x="6537960" y="1828800"/>
            <a:ext cx="5212080" cy="109728"/>
          </a:xfrm>
          <a:prstGeom prst="rect">
            <a:avLst/>
          </a:prstGeom>
          <a:solidFill>
            <a:srgbClr val="4E7C7D"/>
          </a:solidFill>
          <a:ln>
            <a:noFill/>
          </a:ln>
        </p:spPr>
        <p:txBody>
          <a:bodyPr/>
          <a:lstStyle/>
          <a:p/>
        </p:txBody>
      </p:sp>
      <p:sp>
        <p:nvSpPr>
          <p:cNvPr id="208" name="TextBox 208"/>
          <p:cNvSpPr txBox="1"/>
          <p:nvPr/>
        </p:nvSpPr>
        <p:spPr>
          <a:xfrm>
            <a:off x="6702552" y="2011680"/>
            <a:ext cx="4882896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ko-KR" sz="1700" b="1">
                <a:solidFill>
                  <a:srgbClr val="4E7C7D"/>
                </a:solidFill>
                <a:latin typeface="Malgun Gothic"/>
                <a:ea typeface="Malgun Gothic"/>
                <a:cs typeface="Malgun Gothic"/>
              </a:rPr>
              <a:t>14~15주차</a:t>
            </a:r>
            <a:endParaRPr lang="ko-KR" sz="1700"/>
          </a:p>
        </p:txBody>
      </p:sp>
      <p:sp>
        <p:nvSpPr>
          <p:cNvPr id="209" name="TextBox 209"/>
          <p:cNvSpPr txBox="1"/>
          <p:nvPr/>
        </p:nvSpPr>
        <p:spPr>
          <a:xfrm>
            <a:off x="6702552" y="2468880"/>
            <a:ext cx="4882896" cy="36576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ko-KR" sz="1400" b="0">
                <a:solidFill>
                  <a:srgbClr val="1F1F1F"/>
                </a:solidFill>
                <a:latin typeface="Malgun Gothic"/>
                <a:ea typeface="Malgun Gothic"/>
                <a:cs typeface="Malgun Gothic"/>
              </a:rPr>
              <a:t>가공 시스템 시작</a:t>
            </a:r>
            <a:endParaRPr lang="ko-KR" sz="1400"/>
          </a:p>
          <a:p>
            <a:pPr/>
            <a:r>
              <a:rPr lang="ko-KR" sz="1400" b="0">
                <a:solidFill>
                  <a:srgbClr val="1F1F1F"/>
                </a:solidFill>
                <a:latin typeface="Malgun Gothic"/>
                <a:ea typeface="Malgun Gothic"/>
                <a:cs typeface="Malgun Gothic"/>
              </a:rPr>
              <a:t>Workbench 씬 배치</a:t>
            </a:r>
            <a:endParaRPr lang="ko-KR" sz="1400"/>
          </a:p>
          <a:p>
            <a:pPr/>
            <a:r>
              <a:rPr lang="ko-KR" sz="1400" b="0">
                <a:solidFill>
                  <a:srgbClr val="1F1F1F"/>
                </a:solidFill>
                <a:latin typeface="Malgun Gothic"/>
                <a:ea typeface="Malgun Gothic"/>
                <a:cs typeface="Malgun Gothic"/>
              </a:rPr>
              <a:t>RecipeData 8종 연결</a:t>
            </a:r>
            <a:endParaRPr lang="ko-KR" sz="1400"/>
          </a:p>
          <a:p>
            <a:pPr/>
            <a:r>
              <a:rPr lang="ko-KR" sz="1400" b="0">
                <a:solidFill>
                  <a:srgbClr val="1F1F1F"/>
                </a:solidFill>
                <a:latin typeface="Malgun Gothic"/>
                <a:ea typeface="Malgun Gothic"/>
                <a:cs typeface="Malgun Gothic"/>
              </a:rPr>
              <a:t>상점 루프와 제작 루프 통합</a:t>
            </a:r>
            <a:endParaRPr lang="ko-KR" sz="1400"/>
          </a:p>
        </p:txBody>
      </p:sp>
      <p:sp>
        <p:nvSpPr>
          <p:cNvPr id="210" name="Shape 210"/>
          <p:cNvSpPr/>
          <p:nvPr/>
        </p:nvSpPr>
        <p:spPr>
          <a:xfrm>
            <a:off x="12252960" y="1828800"/>
            <a:ext cx="5212080" cy="4480560"/>
          </a:xfrm>
          <a:prstGeom prst="rect">
            <a:avLst/>
          </a:prstGeom>
          <a:solidFill>
            <a:srgbClr val="FDFDFB"/>
          </a:solidFill>
          <a:ln w="12700">
            <a:solidFill>
              <a:srgbClr val="C8C8C6"/>
            </a:solidFill>
          </a:ln>
        </p:spPr>
        <p:txBody>
          <a:bodyPr/>
          <a:lstStyle/>
          <a:p/>
        </p:txBody>
      </p:sp>
      <p:sp>
        <p:nvSpPr>
          <p:cNvPr id="211" name="Shape 211"/>
          <p:cNvSpPr/>
          <p:nvPr/>
        </p:nvSpPr>
        <p:spPr>
          <a:xfrm>
            <a:off x="12252960" y="1828800"/>
            <a:ext cx="5212080" cy="109728"/>
          </a:xfrm>
          <a:prstGeom prst="rect">
            <a:avLst/>
          </a:prstGeom>
          <a:solidFill>
            <a:srgbClr val="1F2D3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2" name="TextBox 212"/>
          <p:cNvSpPr txBox="1"/>
          <p:nvPr/>
        </p:nvSpPr>
        <p:spPr>
          <a:xfrm>
            <a:off x="12417552" y="2011680"/>
            <a:ext cx="4882896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ko-KR" sz="1700" b="1">
                <a:solidFill>
                  <a:srgbClr val="1F2D37"/>
                </a:solidFill>
                <a:latin typeface="Malgun Gothic"/>
                <a:ea typeface="Malgun Gothic"/>
                <a:cs typeface="Malgun Gothic"/>
              </a:rPr>
              <a:t>16주차</a:t>
            </a:r>
            <a:endParaRPr lang="ko-KR" sz="1700"/>
          </a:p>
        </p:txBody>
      </p:sp>
      <p:sp>
        <p:nvSpPr>
          <p:cNvPr id="213" name="TextBox 213"/>
          <p:cNvSpPr txBox="1"/>
          <p:nvPr/>
        </p:nvSpPr>
        <p:spPr>
          <a:xfrm>
            <a:off x="12417552" y="2468880"/>
            <a:ext cx="4882896" cy="36576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ko-KR" sz="1400" b="0">
                <a:solidFill>
                  <a:srgbClr val="1F1F1F"/>
                </a:solidFill>
                <a:latin typeface="Malgun Gothic"/>
                <a:ea typeface="Malgun Gothic"/>
                <a:cs typeface="Malgun Gothic"/>
              </a:rPr>
              <a:t>조명/오디오/건물 모델 정리</a:t>
            </a:r>
            <a:endParaRPr lang="ko-KR" sz="1400"/>
          </a:p>
          <a:p>
            <a:pPr/>
            <a:r>
              <a:rPr lang="ko-KR" sz="1400" b="0">
                <a:solidFill>
                  <a:srgbClr val="1F1F1F"/>
                </a:solidFill>
                <a:latin typeface="Malgun Gothic"/>
                <a:ea typeface="Malgun Gothic"/>
                <a:cs typeface="Malgun Gothic"/>
              </a:rPr>
              <a:t>5분 연속 플레이 데모</a:t>
            </a:r>
            <a:endParaRPr lang="ko-KR" sz="1400"/>
          </a:p>
          <a:p>
            <a:pPr/>
            <a:r>
              <a:rPr lang="ko-KR" sz="1400" b="0">
                <a:solidFill>
                  <a:srgbClr val="1F1F1F"/>
                </a:solidFill>
                <a:latin typeface="Malgun Gothic"/>
                <a:ea typeface="Malgun Gothic"/>
                <a:cs typeface="Malgun Gothic"/>
              </a:rPr>
              <a:t>발표용 버그 0개 목표</a:t>
            </a:r>
            <a:endParaRPr lang="ko-KR" sz="1400"/>
          </a:p>
        </p:txBody>
      </p:sp>
      <p:sp>
        <p:nvSpPr>
          <p:cNvPr id="214" name="Shape 214"/>
          <p:cNvSpPr/>
          <p:nvPr/>
        </p:nvSpPr>
        <p:spPr>
          <a:xfrm>
            <a:off x="914400" y="6903720"/>
            <a:ext cx="16367759" cy="822960"/>
          </a:xfrm>
          <a:prstGeom prst="rect">
            <a:avLst/>
          </a:prstGeom>
          <a:solidFill>
            <a:srgbClr val="06402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5" name="TextBox 215"/>
          <p:cNvSpPr txBox="1"/>
          <p:nvPr/>
        </p:nvSpPr>
        <p:spPr>
          <a:xfrm>
            <a:off x="1188720" y="7086600"/>
            <a:ext cx="1572768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tr"/>
            <a:r>
              <a:rPr lang="ko-KR" sz="2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최종 목표: 상점 운영의 재미가 실제 플레이로 전달되는 졸업작품 데모</a:t>
            </a:r>
            <a:endParaRPr lang="ko-KR" sz="2200"/>
          </a:p>
        </p:txBody>
      </p:sp>
      <p:sp>
        <p:nvSpPr>
          <p:cNvPr id="216" name="Shape 216"/>
          <p:cNvSpPr/>
          <p:nvPr/>
        </p:nvSpPr>
        <p:spPr>
          <a:xfrm>
            <a:off x="0" y="9784080"/>
            <a:ext cx="18288000" cy="502920"/>
          </a:xfrm>
          <a:prstGeom prst="rect">
            <a:avLst/>
          </a:prstGeom>
          <a:solidFill>
            <a:srgbClr val="06402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7" name="TextBox 217"/>
          <p:cNvSpPr txBox="1"/>
          <p:nvPr/>
        </p:nvSpPr>
        <p:spPr>
          <a:xfrm>
            <a:off x="640080" y="9875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ko-KR" sz="1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Project P.A.  |  졸업작품 개발현황</a:t>
            </a:r>
            <a:endParaRPr lang="ko-KR" sz="1000"/>
          </a:p>
        </p:txBody>
      </p:sp>
      <p:sp>
        <p:nvSpPr>
          <p:cNvPr id="218" name="TextBox 218"/>
          <p:cNvSpPr txBox="1"/>
          <p:nvPr/>
        </p:nvSpPr>
        <p:spPr>
          <a:xfrm>
            <a:off x="17190720" y="9875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r"/>
            <a:r>
              <a:rPr lang="ko-KR" sz="1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10</a:t>
            </a:r>
            <a:endParaRPr lang="ko-KR"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ject PA">
  <a:themeElements>
    <a:clrScheme name="ProjectPA">
      <a:dk1>
        <a:srgbClr val="1F1F1F"/>
      </a:dk1>
      <a:lt1>
        <a:srgbClr val="FFFFFF"/>
      </a:lt1>
      <a:dk2>
        <a:srgbClr val="1F2D37"/>
      </a:dk2>
      <a:lt2>
        <a:srgbClr val="FDFDFB"/>
      </a:lt2>
      <a:accent1>
        <a:srgbClr val="15704D"/>
      </a:accent1>
      <a:accent2>
        <a:srgbClr val="4E7C7D"/>
      </a:accent2>
      <a:accent3>
        <a:srgbClr val="9AC4AB"/>
      </a:accent3>
      <a:accent4>
        <a:srgbClr val="5F8883"/>
      </a:accent4>
      <a:accent5>
        <a:srgbClr val="06402B"/>
      </a:accent5>
      <a:accent6>
        <a:srgbClr val="F3C94C"/>
      </a:accent6>
      <a:hlink>
        <a:srgbClr val="0563C1"/>
      </a:hlink>
      <a:folHlink>
        <a:srgbClr val="954F72"/>
      </a:folHlink>
    </a:clrScheme>
    <a:fontScheme name="ProjectPA">
      <a:majorFont>
        <a:latin typeface="Malgun Gothic"/>
        <a:ea typeface="Malgun Gothic"/>
        <a:cs typeface="Malgun Gothic"/>
      </a:majorFont>
      <a:minorFont>
        <a:latin typeface="Malgun Gothic"/>
        <a:ea typeface="Malgun Gothic"/>
        <a:cs typeface="Malgun Gothic"/>
      </a:minorFont>
    </a:fontScheme>
    <a:fmtScheme name="ProjectPA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WideScreen</PresentationFormat>
  <Slides>10</Slides>
  <Company>Project P.A.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P.A. 11주차 구현 현황 발표</dc:title>
  <dc:creator>Codex</dc:creator>
  <cp:lastModifiedBy>Codex</cp:lastModifiedBy>
  <dcterms:created xsi:type="dcterms:W3CDTF">2026-05-12T01:44:17Z</dcterms:created>
  <dcterms:modified xsi:type="dcterms:W3CDTF">2026-05-12T01:44:17Z</dcterms:modified>
</cp:coreProperties>
</file>