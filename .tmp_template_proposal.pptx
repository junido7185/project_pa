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99" r:id="rId3"/>
    <p:sldId id="301" r:id="rId4"/>
    <p:sldId id="302" r:id="rId5"/>
    <p:sldId id="303" r:id="rId6"/>
    <p:sldId id="285" r:id="rId7"/>
    <p:sldId id="286" r:id="rId8"/>
    <p:sldId id="304" r:id="rId9"/>
    <p:sldId id="305" r:id="rId10"/>
    <p:sldId id="306" r:id="rId11"/>
  </p:sldIdLst>
  <p:sldSz cx="18288000" cy="10287000"/>
  <p:notesSz cx="6858000" cy="9144000"/>
  <p:embeddedFontLst>
    <p:embeddedFont>
      <p:font typeface="GangwonEduPower" panose="020B0600000101010101" charset="-127"/>
      <p:regular r:id="rId13"/>
    </p:embeddedFont>
    <p:embeddedFont>
      <p:font typeface="Pretendard" panose="02000503000000020004" pitchFamily="50" charset="-127"/>
      <p:regular r:id="rId14"/>
    </p:embeddedFon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402B"/>
    <a:srgbClr val="15704D"/>
    <a:srgbClr val="C0504D"/>
    <a:srgbClr val="9BB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22" autoAdjust="0"/>
    <p:restoredTop sz="94622" autoAdjust="0"/>
  </p:normalViewPr>
  <p:slideViewPr>
    <p:cSldViewPr>
      <p:cViewPr varScale="1">
        <p:scale>
          <a:sx n="68" d="100"/>
          <a:sy n="68" d="100"/>
        </p:scale>
        <p:origin x="92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632F63-008C-4802-B16B-9D9E9920C3C6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3458F5-4817-4E5C-B875-B338C13263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6298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74E4D732-2A94-0E1A-0182-1E9C8F857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>
            <a:extLst>
              <a:ext uri="{FF2B5EF4-FFF2-40B4-BE49-F238E27FC236}">
                <a16:creationId xmlns:a16="http://schemas.microsoft.com/office/drawing/2014/main" id="{41090890-A54F-07C6-EF16-55AB3AADB6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:notes">
            <a:extLst>
              <a:ext uri="{FF2B5EF4-FFF2-40B4-BE49-F238E27FC236}">
                <a16:creationId xmlns:a16="http://schemas.microsoft.com/office/drawing/2014/main" id="{84FBC427-4056-C992-21A7-2F442DC36E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6351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024FBC4A-8780-5993-4BC8-6B3F9C298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>
            <a:extLst>
              <a:ext uri="{FF2B5EF4-FFF2-40B4-BE49-F238E27FC236}">
                <a16:creationId xmlns:a16="http://schemas.microsoft.com/office/drawing/2014/main" id="{8410CD81-D5D1-080B-AA01-4EB35BD4FF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:notes">
            <a:extLst>
              <a:ext uri="{FF2B5EF4-FFF2-40B4-BE49-F238E27FC236}">
                <a16:creationId xmlns:a16="http://schemas.microsoft.com/office/drawing/2014/main" id="{2430AF9A-1BFE-DC30-62DE-A0ABAB8A67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3568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4E571A6A-6F44-A5CF-5459-3DBE50A7C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EB7F72B1-81B5-8C8E-175D-B30BAF96C4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9EE08699-FD91-879A-A743-BD0320A023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9162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81642108-2256-8D14-538D-74CA2FC4A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0DDC1E16-B0F4-B358-AD65-7AE1299AB1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11391F6F-C110-A353-7A5D-C598D7B246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6454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3250" y="3800348"/>
            <a:ext cx="2603500" cy="260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3657600" y="4203700"/>
            <a:ext cx="10972800" cy="2044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9000" b="0" i="0" u="none" strike="noStrike" dirty="0">
                <a:solidFill>
                  <a:srgbClr val="15704D"/>
                </a:solidFill>
                <a:latin typeface="GangwonEduPower"/>
              </a:rPr>
              <a:t>Project P.A</a:t>
            </a:r>
          </a:p>
          <a:p>
            <a:pPr lvl="0" algn="ctr">
              <a:lnSpc>
                <a:spcPct val="99600"/>
              </a:lnSpc>
            </a:pPr>
            <a:r>
              <a:rPr lang="ko-KR" altLang="en-US" sz="4000" b="0" i="0" u="none" strike="noStrike" dirty="0">
                <a:solidFill>
                  <a:srgbClr val="15704D"/>
                </a:solidFill>
                <a:latin typeface="GangwonEduPower" panose="020B0600000101010101" charset="-127"/>
                <a:ea typeface="GangwonEduPower" panose="020B0600000101010101" charset="-127"/>
              </a:rPr>
              <a:t>역</a:t>
            </a:r>
            <a:r>
              <a:rPr lang="en-US" altLang="ko-KR" sz="4000" b="0" i="0" u="none" strike="noStrike" dirty="0">
                <a:solidFill>
                  <a:srgbClr val="15704D"/>
                </a:solidFill>
                <a:latin typeface="GangwonEduPower" panose="020B0600000101010101" charset="-127"/>
                <a:ea typeface="GangwonEduPower" panose="020B0600000101010101" charset="-127"/>
              </a:rPr>
              <a:t>-</a:t>
            </a:r>
            <a:r>
              <a:rPr lang="ko-KR" altLang="en-US" sz="4000" b="0" i="0" u="none" strike="noStrike" dirty="0">
                <a:solidFill>
                  <a:srgbClr val="15704D"/>
                </a:solidFill>
                <a:latin typeface="GangwonEduPower" panose="020B0600000101010101" charset="-127"/>
                <a:ea typeface="GangwonEduPower" panose="020B0600000101010101" charset="-127"/>
              </a:rPr>
              <a:t>공급망 경영 시뮬레이션 게임</a:t>
            </a:r>
            <a:endParaRPr lang="en-US" sz="4000" b="0" i="0" u="none" strike="noStrike" dirty="0">
              <a:solidFill>
                <a:srgbClr val="15704D"/>
              </a:solidFill>
              <a:latin typeface="GangwonEduPower" panose="020B0600000101010101" charset="-127"/>
              <a:ea typeface="GangwonEduPower" panose="020B0600000101010101" charset="-127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670300" y="3187700"/>
            <a:ext cx="10934700" cy="177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10000" b="0" i="0" u="none" strike="noStrike" dirty="0">
                <a:solidFill>
                  <a:srgbClr val="06402B"/>
                </a:solidFill>
                <a:ea typeface="GangwonEduPower"/>
              </a:rPr>
              <a:t>졸업작품</a:t>
            </a:r>
            <a:r>
              <a:rPr lang="en-US" sz="10000" b="0" i="0" u="none" strike="noStrike" dirty="0">
                <a:solidFill>
                  <a:srgbClr val="06402B"/>
                </a:solidFill>
                <a:latin typeface="GangwonEduPower"/>
              </a:rPr>
              <a:t> </a:t>
            </a:r>
            <a:r>
              <a:rPr lang="ko-KR" altLang="en-US" sz="10000" dirty="0">
                <a:solidFill>
                  <a:srgbClr val="06402B"/>
                </a:solidFill>
                <a:latin typeface="GangwonEduPower"/>
                <a:ea typeface="GangwonEduPower"/>
              </a:rPr>
              <a:t>개발현황</a:t>
            </a:r>
            <a:endParaRPr lang="ko-KR" sz="10000" b="0" i="0" u="none" strike="noStrike" dirty="0">
              <a:solidFill>
                <a:srgbClr val="06402B"/>
              </a:solidFill>
              <a:ea typeface="GangwonEduPowe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670300" y="6320166"/>
            <a:ext cx="10972800" cy="85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6000" b="0" i="0" u="none" strike="noStrike" dirty="0">
                <a:solidFill>
                  <a:srgbClr val="5B7763"/>
                </a:solidFill>
                <a:latin typeface="GangwonEduPower"/>
              </a:rPr>
              <a:t>202121026 </a:t>
            </a:r>
            <a:r>
              <a:rPr lang="ko-KR" sz="6000" b="0" i="0" u="none" strike="noStrike" dirty="0">
                <a:solidFill>
                  <a:srgbClr val="5B7763"/>
                </a:solidFill>
                <a:ea typeface="GangwonEduPower"/>
              </a:rPr>
              <a:t>컴퓨터공학과</a:t>
            </a:r>
            <a:r>
              <a:rPr lang="en-US" sz="6000" b="0" i="0" u="none" strike="noStrike" dirty="0">
                <a:solidFill>
                  <a:srgbClr val="5B7763"/>
                </a:solidFill>
                <a:latin typeface="GangwonEduPower"/>
              </a:rPr>
              <a:t> </a:t>
            </a:r>
            <a:r>
              <a:rPr lang="ko-KR" sz="6000" b="0" i="0" u="none" strike="noStrike" dirty="0">
                <a:solidFill>
                  <a:srgbClr val="5B7763"/>
                </a:solidFill>
                <a:ea typeface="GangwonEduPower"/>
              </a:rPr>
              <a:t>신동준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236A1F84-C9DC-9329-415A-FDE3917EE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>
            <a:extLst>
              <a:ext uri="{FF2B5EF4-FFF2-40B4-BE49-F238E27FC236}">
                <a16:creationId xmlns:a16="http://schemas.microsoft.com/office/drawing/2014/main" id="{851E82D7-525D-9152-698A-81601152FDF8}"/>
              </a:ext>
            </a:extLst>
          </p:cNvPr>
          <p:cNvSpPr txBox="1"/>
          <p:nvPr/>
        </p:nvSpPr>
        <p:spPr>
          <a:xfrm>
            <a:off x="1275874" y="941983"/>
            <a:ext cx="17012126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기능 요구사항 </a:t>
            </a:r>
            <a:r>
              <a:rPr lang="en-US" altLang="ko-KR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(FR)</a:t>
            </a:r>
            <a:endParaRPr sz="2700" dirty="0">
              <a:solidFill>
                <a:srgbClr val="15704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4" name="Google Shape;124;p16">
            <a:extLst>
              <a:ext uri="{FF2B5EF4-FFF2-40B4-BE49-F238E27FC236}">
                <a16:creationId xmlns:a16="http://schemas.microsoft.com/office/drawing/2014/main" id="{F3888310-9566-F993-1CDD-91C834F0893E}"/>
              </a:ext>
            </a:extLst>
          </p:cNvPr>
          <p:cNvSpPr/>
          <p:nvPr/>
        </p:nvSpPr>
        <p:spPr>
          <a:xfrm>
            <a:off x="907397" y="991284"/>
            <a:ext cx="114300" cy="822870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94B8C9C-0E54-8091-C71D-93FFEDC68E6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sp>
        <p:nvSpPr>
          <p:cNvPr id="15" name="Rectangle 4">
            <a:extLst>
              <a:ext uri="{FF2B5EF4-FFF2-40B4-BE49-F238E27FC236}">
                <a16:creationId xmlns:a16="http://schemas.microsoft.com/office/drawing/2014/main" id="{E2C260AE-DCD3-1046-24B1-7D2AB1721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487" y="3559937"/>
            <a:ext cx="3601597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5BA0AA-C896-FA6C-4764-C28C6696E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46CD4FA-6CB7-9B01-8F0E-892787126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149415"/>
              </p:ext>
            </p:extLst>
          </p:nvPr>
        </p:nvGraphicFramePr>
        <p:xfrm>
          <a:off x="2784147" y="2290522"/>
          <a:ext cx="12732405" cy="66340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4603">
                  <a:extLst>
                    <a:ext uri="{9D8B030D-6E8A-4147-A177-3AD203B41FA5}">
                      <a16:colId xmlns:a16="http://schemas.microsoft.com/office/drawing/2014/main" val="1401825628"/>
                    </a:ext>
                  </a:extLst>
                </a:gridCol>
                <a:gridCol w="1634665">
                  <a:extLst>
                    <a:ext uri="{9D8B030D-6E8A-4147-A177-3AD203B41FA5}">
                      <a16:colId xmlns:a16="http://schemas.microsoft.com/office/drawing/2014/main" val="3257389455"/>
                    </a:ext>
                  </a:extLst>
                </a:gridCol>
                <a:gridCol w="8106385">
                  <a:extLst>
                    <a:ext uri="{9D8B030D-6E8A-4147-A177-3AD203B41FA5}">
                      <a16:colId xmlns:a16="http://schemas.microsoft.com/office/drawing/2014/main" val="338092402"/>
                    </a:ext>
                  </a:extLst>
                </a:gridCol>
                <a:gridCol w="1876752">
                  <a:extLst>
                    <a:ext uri="{9D8B030D-6E8A-4147-A177-3AD203B41FA5}">
                      <a16:colId xmlns:a16="http://schemas.microsoft.com/office/drawing/2014/main" val="2608578356"/>
                    </a:ext>
                  </a:extLst>
                </a:gridCol>
              </a:tblGrid>
              <a:tr h="24036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ID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기능명</a:t>
                      </a:r>
                      <a:endParaRPr lang="ko-KR" altLang="en-US" sz="16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상세 설명</a:t>
                      </a:r>
                      <a:endParaRPr lang="ko-KR" altLang="en-US" sz="16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우선순위</a:t>
                      </a:r>
                      <a:endParaRPr lang="ko-KR" altLang="en-US" sz="16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9889" marR="19889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3701503"/>
                  </a:ext>
                </a:extLst>
              </a:tr>
              <a:tr h="4438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FR-P-01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플레이어 이동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WASD +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카메라 기준 방향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가속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(18)/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감속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(22 m/s²),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중력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앉기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일어나기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 ★★★</a:t>
                      </a:r>
                    </a:p>
                  </a:txBody>
                  <a:tcPr marL="19889" marR="19889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867739"/>
                  </a:ext>
                </a:extLst>
              </a:tr>
              <a:tr h="4438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FR-P-02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상호작용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[Space]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전방 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 SphereCast → IInteractable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실행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프롬프트 표시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 ★★★</a:t>
                      </a:r>
                    </a:p>
                  </a:txBody>
                  <a:tcPr marL="19889" marR="19889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748915"/>
                  </a:ext>
                </a:extLst>
              </a:tr>
              <a:tr h="4438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FR-I-01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인벤토리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[I]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토글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20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슬롯 스택 관리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드래그 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&amp;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드롭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선택 아이템 강조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 ★★★</a:t>
                      </a:r>
                    </a:p>
                  </a:txBody>
                  <a:tcPr marL="19889" marR="19889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3756207"/>
                  </a:ext>
                </a:extLst>
              </a:tr>
              <a:tr h="27142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FR-I-02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핫바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9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슬롯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숫자키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마우스 휠 선택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도구 즉시 전환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 ★★★</a:t>
                      </a:r>
                    </a:p>
                  </a:txBody>
                  <a:tcPr marL="19889" marR="19889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3238040"/>
                  </a:ext>
                </a:extLst>
              </a:tr>
              <a:tr h="4438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FR-S-01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상품 진열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인벤토리 아이템 → 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ShopSlot 1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 단위 진열 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회수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도구 차단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 ★★★</a:t>
                      </a:r>
                    </a:p>
                  </a:txBody>
                  <a:tcPr marL="19889" marR="19889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9705098"/>
                  </a:ext>
                </a:extLst>
              </a:tr>
              <a:tr h="4438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FR-S-02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가격 책정 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UI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ShopPriceUI: ±10/±100/±1000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조정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NPC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반응 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7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단계 미리보기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 ★★★</a:t>
                      </a:r>
                    </a:p>
                  </a:txBody>
                  <a:tcPr marL="19889" marR="19889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3037078"/>
                  </a:ext>
                </a:extLst>
              </a:tr>
              <a:tr h="4438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FR-S-03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NPC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구매 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MBTI 4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축 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×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가격비율 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×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품질 → 구매 확률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결정론적 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RNG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 ★★★</a:t>
                      </a:r>
                    </a:p>
                  </a:txBody>
                  <a:tcPr marL="19889" marR="19889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6938930"/>
                  </a:ext>
                </a:extLst>
              </a:tr>
              <a:tr h="4438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FR-C-01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아이템 가공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Workbench [C] →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레시피 목록 → 재료 소모 → 품질 가중평균 결과물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 ★★★</a:t>
                      </a:r>
                    </a:p>
                  </a:txBody>
                  <a:tcPr marL="19889" marR="19889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309276"/>
                  </a:ext>
                </a:extLst>
              </a:tr>
              <a:tr h="4438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FR-T-01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티어 진화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누적 매출 기준 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단계 자동 승급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슬롯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건물 권한 확장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 ★★★</a:t>
                      </a:r>
                    </a:p>
                  </a:txBody>
                  <a:tcPr marL="19889" marR="19889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5324364"/>
                  </a:ext>
                </a:extLst>
              </a:tr>
              <a:tr h="27142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FR-T-02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경제 시스템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단일 재화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(G)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수입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지출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MoneyHUD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실시간 표시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 ★★★</a:t>
                      </a:r>
                    </a:p>
                  </a:txBody>
                  <a:tcPr marL="19889" marR="19889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650036"/>
                  </a:ext>
                </a:extLst>
              </a:tr>
              <a:tr h="4438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FR-N-01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NPC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대화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[Space] NPC →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대화창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MBTI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기반 대사 톤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(T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형 효율 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 F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형 감성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분기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중요 ★★★</a:t>
                      </a:r>
                    </a:p>
                  </a:txBody>
                  <a:tcPr marL="19889" marR="19889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6291440"/>
                  </a:ext>
                </a:extLst>
              </a:tr>
              <a:tr h="4438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FR-N-02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NPC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채용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스마트폰 채용 탭 → 후보 카드 → 비용 지불 → 씬 인스턴스화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중요 ★★★</a:t>
                      </a:r>
                    </a:p>
                  </a:txBody>
                  <a:tcPr marL="19889" marR="19889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0089607"/>
                  </a:ext>
                </a:extLst>
              </a:tr>
              <a:tr h="4438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FR-B-01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건물 진입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문 상호작용 → 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ScreenFader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페이드 → 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CharacterController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워프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중요 ★★★</a:t>
                      </a:r>
                    </a:p>
                  </a:txBody>
                  <a:tcPr marL="19889" marR="19889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6305023"/>
                  </a:ext>
                </a:extLst>
              </a:tr>
              <a:tr h="4438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FR-U-01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스마트폰 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UI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[P] 4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탭 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감사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채용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피드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설정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),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인벤토리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대화 상호 배타 닫기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중요 ★★★</a:t>
                      </a:r>
                    </a:p>
                  </a:txBody>
                  <a:tcPr marL="19889" marR="19889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6541871"/>
                  </a:ext>
                </a:extLst>
              </a:tr>
              <a:tr h="4438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FR-K-01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저장 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로드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[F5] JSON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즉시 저장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[F9]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불러오기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en-US" altLang="ko-KR" sz="1600" dirty="0" err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ISaveRepository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인터페이스</a:t>
                      </a:r>
                    </a:p>
                  </a:txBody>
                  <a:tcPr marL="19889" marR="16575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 ★★★</a:t>
                      </a:r>
                    </a:p>
                  </a:txBody>
                  <a:tcPr marL="19889" marR="19889" marT="22099" marB="22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38705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5360651-72DD-8832-598F-97460ED5086B}"/>
              </a:ext>
            </a:extLst>
          </p:cNvPr>
          <p:cNvSpPr txBox="1"/>
          <p:nvPr/>
        </p:nvSpPr>
        <p:spPr>
          <a:xfrm>
            <a:off x="2784147" y="9015968"/>
            <a:ext cx="6997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플레이어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상점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·NPC·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경제  시스템이 반드시 제공해야 하는 동작을 명세합니다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6750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52B643D3-E998-E8E5-6DBE-84EF2FB4A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>
            <a:extLst>
              <a:ext uri="{FF2B5EF4-FFF2-40B4-BE49-F238E27FC236}">
                <a16:creationId xmlns:a16="http://schemas.microsoft.com/office/drawing/2014/main" id="{F394F702-EF81-6614-AAB2-A52C660831A0}"/>
              </a:ext>
            </a:extLst>
          </p:cNvPr>
          <p:cNvSpPr txBox="1"/>
          <p:nvPr/>
        </p:nvSpPr>
        <p:spPr>
          <a:xfrm>
            <a:off x="1275874" y="941983"/>
            <a:ext cx="17012126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5400" b="1" dirty="0" err="1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비기능</a:t>
            </a:r>
            <a:r>
              <a:rPr lang="ko-KR" alt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요구사항 </a:t>
            </a:r>
            <a:r>
              <a:rPr lang="en-US" altLang="ko-KR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(NFR)</a:t>
            </a:r>
            <a:endParaRPr sz="2700" dirty="0">
              <a:solidFill>
                <a:srgbClr val="15704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4" name="Google Shape;124;p16">
            <a:extLst>
              <a:ext uri="{FF2B5EF4-FFF2-40B4-BE49-F238E27FC236}">
                <a16:creationId xmlns:a16="http://schemas.microsoft.com/office/drawing/2014/main" id="{122CF6CB-AF11-B199-34D9-AE10E017DA02}"/>
              </a:ext>
            </a:extLst>
          </p:cNvPr>
          <p:cNvSpPr/>
          <p:nvPr/>
        </p:nvSpPr>
        <p:spPr>
          <a:xfrm>
            <a:off x="907397" y="991284"/>
            <a:ext cx="114300" cy="822870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ED4ED1C-AF73-CCC9-48FA-C1B1F663BBC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sp>
        <p:nvSpPr>
          <p:cNvPr id="15" name="Rectangle 4">
            <a:extLst>
              <a:ext uri="{FF2B5EF4-FFF2-40B4-BE49-F238E27FC236}">
                <a16:creationId xmlns:a16="http://schemas.microsoft.com/office/drawing/2014/main" id="{A7FEF9CF-58E7-5DE6-ACF7-DD6BC5885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487" y="3559937"/>
            <a:ext cx="3601597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A26BBB-B72A-7A39-3A2C-732F3E6D5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E97A33C-2ED6-914F-2764-D7D431E3C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812601"/>
              </p:ext>
            </p:extLst>
          </p:nvPr>
        </p:nvGraphicFramePr>
        <p:xfrm>
          <a:off x="2844000" y="2223897"/>
          <a:ext cx="12600000" cy="6120003"/>
        </p:xfrm>
        <a:graphic>
          <a:graphicData uri="http://schemas.openxmlformats.org/drawingml/2006/table">
            <a:tbl>
              <a:tblPr/>
              <a:tblGrid>
                <a:gridCol w="1881819">
                  <a:extLst>
                    <a:ext uri="{9D8B030D-6E8A-4147-A177-3AD203B41FA5}">
                      <a16:colId xmlns:a16="http://schemas.microsoft.com/office/drawing/2014/main" val="4204232466"/>
                    </a:ext>
                  </a:extLst>
                </a:gridCol>
                <a:gridCol w="2045454">
                  <a:extLst>
                    <a:ext uri="{9D8B030D-6E8A-4147-A177-3AD203B41FA5}">
                      <a16:colId xmlns:a16="http://schemas.microsoft.com/office/drawing/2014/main" val="1401668322"/>
                    </a:ext>
                  </a:extLst>
                </a:gridCol>
                <a:gridCol w="4909091">
                  <a:extLst>
                    <a:ext uri="{9D8B030D-6E8A-4147-A177-3AD203B41FA5}">
                      <a16:colId xmlns:a16="http://schemas.microsoft.com/office/drawing/2014/main" val="1147325718"/>
                    </a:ext>
                  </a:extLst>
                </a:gridCol>
                <a:gridCol w="3763636">
                  <a:extLst>
                    <a:ext uri="{9D8B030D-6E8A-4147-A177-3AD203B41FA5}">
                      <a16:colId xmlns:a16="http://schemas.microsoft.com/office/drawing/2014/main" val="1437775820"/>
                    </a:ext>
                  </a:extLst>
                </a:gridCol>
              </a:tblGrid>
              <a:tr h="38229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ID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7642" marR="39701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8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분류</a:t>
                      </a:r>
                      <a:endParaRPr lang="ko-KR" altLang="en-US" sz="18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7642" marR="39701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8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요구사항</a:t>
                      </a:r>
                      <a:endParaRPr lang="ko-KR" altLang="en-US" sz="18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7642" marR="39701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8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측정 기준</a:t>
                      </a:r>
                      <a:endParaRPr lang="ko-KR" altLang="en-US" sz="18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7642" marR="47642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928522"/>
                  </a:ext>
                </a:extLst>
              </a:tr>
              <a:tr h="71721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NFR-01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7642" marR="39701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성능</a:t>
                      </a:r>
                    </a:p>
                  </a:txBody>
                  <a:tcPr marL="47642" marR="39701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PC </a:t>
                      </a: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빌드 </a:t>
                      </a:r>
                      <a:r>
                        <a:rPr lang="en-US" altLang="ko-KR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60 fps </a:t>
                      </a: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유지 </a:t>
                      </a:r>
                      <a:r>
                        <a:rPr lang="en-US" altLang="ko-KR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(NPC 8</a:t>
                      </a: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 동시 씬 기준</a:t>
                      </a:r>
                      <a:r>
                        <a:rPr lang="en-US" altLang="ko-KR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L="47642" marR="39701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Unity Profiler CPU/GPU </a:t>
                      </a: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탭</a:t>
                      </a:r>
                    </a:p>
                  </a:txBody>
                  <a:tcPr marL="47642" marR="47642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779823"/>
                  </a:ext>
                </a:extLst>
              </a:tr>
              <a:tr h="71721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NFR-02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7642" marR="39701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성능</a:t>
                      </a:r>
                    </a:p>
                  </a:txBody>
                  <a:tcPr marL="47642" marR="39701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씬 전환</a:t>
                      </a:r>
                      <a:r>
                        <a:rPr lang="en-US" altLang="ko-KR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건물 진입</a:t>
                      </a:r>
                      <a:r>
                        <a:rPr lang="en-US" altLang="ko-KR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3</a:t>
                      </a: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초 이내 완료</a:t>
                      </a:r>
                    </a:p>
                  </a:txBody>
                  <a:tcPr marL="47642" marR="39701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ScreenFader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onMidpoint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180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 측정</a:t>
                      </a:r>
                    </a:p>
                  </a:txBody>
                  <a:tcPr marL="47642" marR="47642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6727557"/>
                  </a:ext>
                </a:extLst>
              </a:tr>
              <a:tr h="71721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NFR-03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7642" marR="39701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성능</a:t>
                      </a:r>
                    </a:p>
                  </a:txBody>
                  <a:tcPr marL="47642" marR="39701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F5 </a:t>
                      </a: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저장 완료 </a:t>
                      </a:r>
                      <a:r>
                        <a:rPr lang="en-US" altLang="ko-KR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초 이내</a:t>
                      </a:r>
                    </a:p>
                  </a:txBody>
                  <a:tcPr marL="47642" marR="39701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스톱워치 </a:t>
                      </a:r>
                      <a:r>
                        <a:rPr lang="en-US" altLang="ko-KR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</a:t>
                      </a: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회 평균</a:t>
                      </a:r>
                    </a:p>
                  </a:txBody>
                  <a:tcPr marL="47642" marR="47642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978217"/>
                  </a:ext>
                </a:extLst>
              </a:tr>
              <a:tr h="71721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NFR-04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7642" marR="39701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플랫폼</a:t>
                      </a:r>
                    </a:p>
                  </a:txBody>
                  <a:tcPr marL="47642" marR="39701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Windows 10 / 11 64-bit </a:t>
                      </a: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단독 빌드 정상 실행</a:t>
                      </a:r>
                    </a:p>
                  </a:txBody>
                  <a:tcPr marL="47642" marR="39701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Build Settings → Standalone</a:t>
                      </a:r>
                    </a:p>
                  </a:txBody>
                  <a:tcPr marL="47642" marR="47642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539673"/>
                  </a:ext>
                </a:extLst>
              </a:tr>
              <a:tr h="71721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NFR-05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7642" marR="39701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해상도</a:t>
                      </a:r>
                    </a:p>
                  </a:txBody>
                  <a:tcPr marL="47642" marR="39701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1920 × 1080 </a:t>
                      </a: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기준 </a:t>
                      </a:r>
                      <a:r>
                        <a:rPr lang="en-US" altLang="ko-KR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UI </a:t>
                      </a: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레이아웃 정상 표시</a:t>
                      </a:r>
                    </a:p>
                  </a:txBody>
                  <a:tcPr marL="47642" marR="39701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CanvasScaler ScaleWithScreen </a:t>
                      </a: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테스트</a:t>
                      </a:r>
                    </a:p>
                  </a:txBody>
                  <a:tcPr marL="47642" marR="47642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142613"/>
                  </a:ext>
                </a:extLst>
              </a:tr>
              <a:tr h="71721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NFR-06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7642" marR="39701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메모리</a:t>
                      </a:r>
                    </a:p>
                  </a:txBody>
                  <a:tcPr marL="47642" marR="39701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최대 </a:t>
                      </a:r>
                      <a:r>
                        <a:rPr lang="en-US" altLang="ko-KR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RAM </a:t>
                      </a: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사용량 </a:t>
                      </a:r>
                      <a:r>
                        <a:rPr lang="en-US" altLang="ko-KR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 GB </a:t>
                      </a: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이하</a:t>
                      </a:r>
                    </a:p>
                  </a:txBody>
                  <a:tcPr marL="47642" marR="39701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Profiler Memory </a:t>
                      </a: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탭</a:t>
                      </a:r>
                    </a:p>
                  </a:txBody>
                  <a:tcPr marL="47642" marR="47642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813623"/>
                  </a:ext>
                </a:extLst>
              </a:tr>
              <a:tr h="71721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NFR-07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7642" marR="39701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코드 품질</a:t>
                      </a:r>
                    </a:p>
                  </a:txBody>
                  <a:tcPr marL="47642" marR="39701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Unity 6 LTS, C# </a:t>
                      </a: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단일 책임 원칙</a:t>
                      </a:r>
                      <a:r>
                        <a:rPr lang="en-US" altLang="ko-KR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서비스 레이어 분리</a:t>
                      </a:r>
                    </a:p>
                  </a:txBody>
                  <a:tcPr marL="47642" marR="39701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코드 리뷰 </a:t>
                      </a:r>
                      <a:r>
                        <a:rPr lang="en-US" altLang="ko-KR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이벤트</a:t>
                      </a:r>
                      <a:r>
                        <a:rPr lang="en-US" altLang="ko-KR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인터페이스 사용 확인</a:t>
                      </a:r>
                      <a:r>
                        <a:rPr lang="en-US" altLang="ko-KR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L="47642" marR="47642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8266969"/>
                  </a:ext>
                </a:extLst>
              </a:tr>
              <a:tr h="71721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NFR-08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7642" marR="39701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유지보수</a:t>
                      </a:r>
                    </a:p>
                  </a:txBody>
                  <a:tcPr marL="47642" marR="39701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핵심 파라미터 </a:t>
                      </a:r>
                      <a:r>
                        <a:rPr lang="en-US" altLang="ko-KR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Inspector </a:t>
                      </a: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노출</a:t>
                      </a:r>
                      <a:r>
                        <a:rPr lang="en-US" altLang="ko-KR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8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런타임 수치 조정 가능</a:t>
                      </a:r>
                    </a:p>
                  </a:txBody>
                  <a:tcPr marL="47642" marR="39701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80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시연</a:t>
                      </a:r>
                      <a:r>
                        <a:rPr lang="en-US" altLang="ko-KR" sz="180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180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속도</a:t>
                      </a:r>
                      <a:r>
                        <a:rPr lang="en-US" altLang="ko-KR" sz="180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80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가격</a:t>
                      </a:r>
                      <a:r>
                        <a:rPr lang="en-US" altLang="ko-KR" sz="180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80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확률 실시간 조정 확인</a:t>
                      </a:r>
                    </a:p>
                  </a:txBody>
                  <a:tcPr marL="47642" marR="47642" marT="52935" marB="52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89878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6660A5B-81FF-8D04-F807-E9EAB5E157CA}"/>
              </a:ext>
            </a:extLst>
          </p:cNvPr>
          <p:cNvSpPr txBox="1"/>
          <p:nvPr/>
        </p:nvSpPr>
        <p:spPr>
          <a:xfrm>
            <a:off x="2784509" y="8583116"/>
            <a:ext cx="94949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성능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플랫폼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코드 품질 기준을 정의하여 심사 검증 기준으로 활용합니다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비고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멀티플레이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(NGO) </a:t>
            </a:r>
            <a:r>
              <a:rPr lang="ko-KR" altLang="en-US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비기능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요구사항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—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응답지연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&lt; 200ms,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동시접속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명은 최후 확장 범위로 분류</a:t>
            </a:r>
          </a:p>
        </p:txBody>
      </p:sp>
    </p:spTree>
    <p:extLst>
      <p:ext uri="{BB962C8B-B14F-4D97-AF65-F5344CB8AC3E}">
        <p14:creationId xmlns:p14="http://schemas.microsoft.com/office/powerpoint/2010/main" val="1746810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AA0974BA-D315-BC02-6993-9A0F8C90C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DDDE723-8080-F8B4-2511-9062B9F64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889" y="1085604"/>
            <a:ext cx="11002911" cy="8030696"/>
          </a:xfrm>
          <a:prstGeom prst="rect">
            <a:avLst/>
          </a:prstGeom>
        </p:spPr>
      </p:pic>
      <p:sp>
        <p:nvSpPr>
          <p:cNvPr id="190" name="Google Shape;190;p19">
            <a:extLst>
              <a:ext uri="{FF2B5EF4-FFF2-40B4-BE49-F238E27FC236}">
                <a16:creationId xmlns:a16="http://schemas.microsoft.com/office/drawing/2014/main" id="{85F44FE9-BDCA-C668-E83A-527DEC9843E3}"/>
              </a:ext>
            </a:extLst>
          </p:cNvPr>
          <p:cNvSpPr txBox="1"/>
          <p:nvPr/>
        </p:nvSpPr>
        <p:spPr>
          <a:xfrm>
            <a:off x="800100" y="1098304"/>
            <a:ext cx="17012126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데이터 흐름도 </a:t>
            </a:r>
            <a:r>
              <a:rPr lang="en-US" altLang="ko-KR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DFD – Level 1</a:t>
            </a:r>
            <a:endParaRPr sz="2700" dirty="0">
              <a:solidFill>
                <a:srgbClr val="15704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1" name="Google Shape;191;p19">
            <a:extLst>
              <a:ext uri="{FF2B5EF4-FFF2-40B4-BE49-F238E27FC236}">
                <a16:creationId xmlns:a16="http://schemas.microsoft.com/office/drawing/2014/main" id="{84BC8762-CC0A-20EA-667B-4C776A4CFE9C}"/>
              </a:ext>
            </a:extLst>
          </p:cNvPr>
          <p:cNvSpPr/>
          <p:nvPr/>
        </p:nvSpPr>
        <p:spPr>
          <a:xfrm>
            <a:off x="457200" y="1098304"/>
            <a:ext cx="114300" cy="822870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1FB1D0A-E786-E411-32AB-B66637F5D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8F89C6F-1504-F75D-1D9D-CEAE9A774F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3C11AA7-12ED-51CF-2999-919E95387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625" y="141605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E128079-51EA-B202-716E-5AA42B3CBC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241492"/>
              </p:ext>
            </p:extLst>
          </p:nvPr>
        </p:nvGraphicFramePr>
        <p:xfrm>
          <a:off x="339340" y="4590337"/>
          <a:ext cx="6488549" cy="4525963"/>
        </p:xfrm>
        <a:graphic>
          <a:graphicData uri="http://schemas.openxmlformats.org/drawingml/2006/table">
            <a:tbl>
              <a:tblPr/>
              <a:tblGrid>
                <a:gridCol w="1590741">
                  <a:extLst>
                    <a:ext uri="{9D8B030D-6E8A-4147-A177-3AD203B41FA5}">
                      <a16:colId xmlns:a16="http://schemas.microsoft.com/office/drawing/2014/main" val="3753428714"/>
                    </a:ext>
                  </a:extLst>
                </a:gridCol>
                <a:gridCol w="1590741">
                  <a:extLst>
                    <a:ext uri="{9D8B030D-6E8A-4147-A177-3AD203B41FA5}">
                      <a16:colId xmlns:a16="http://schemas.microsoft.com/office/drawing/2014/main" val="1232069155"/>
                    </a:ext>
                  </a:extLst>
                </a:gridCol>
                <a:gridCol w="1590741">
                  <a:extLst>
                    <a:ext uri="{9D8B030D-6E8A-4147-A177-3AD203B41FA5}">
                      <a16:colId xmlns:a16="http://schemas.microsoft.com/office/drawing/2014/main" val="4170344029"/>
                    </a:ext>
                  </a:extLst>
                </a:gridCol>
                <a:gridCol w="1716326">
                  <a:extLst>
                    <a:ext uri="{9D8B030D-6E8A-4147-A177-3AD203B41FA5}">
                      <a16:colId xmlns:a16="http://schemas.microsoft.com/office/drawing/2014/main" val="1652303590"/>
                    </a:ext>
                  </a:extLst>
                </a:gridCol>
              </a:tblGrid>
              <a:tr h="37649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프로세스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95" marR="60079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입력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95" marR="60079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출력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95" marR="60079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담당 스크립트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95" marR="72095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922430"/>
                  </a:ext>
                </a:extLst>
              </a:tr>
              <a:tr h="5927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P1. </a:t>
                      </a: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입력 처리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95" marR="60079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WASD, Space, I, P, F5, F9</a:t>
                      </a:r>
                    </a:p>
                  </a:txBody>
                  <a:tcPr marL="72095" marR="60079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이동벡터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액션 이벤트</a:t>
                      </a:r>
                    </a:p>
                  </a:txBody>
                  <a:tcPr marL="72095" marR="60079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PlayerInputHandler</a:t>
                      </a:r>
                    </a:p>
                  </a:txBody>
                  <a:tcPr marL="72095" marR="72095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078835"/>
                  </a:ext>
                </a:extLst>
              </a:tr>
              <a:tr h="5927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4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P2. </a:t>
                      </a: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플레이어 제어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95" marR="60079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이동벡터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카메라 방향</a:t>
                      </a:r>
                    </a:p>
                  </a:txBody>
                  <a:tcPr marL="72095" marR="60079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위치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회전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애니메이션</a:t>
                      </a:r>
                    </a:p>
                  </a:txBody>
                  <a:tcPr marL="72095" marR="60079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PlayerController</a:t>
                      </a:r>
                    </a:p>
                  </a:txBody>
                  <a:tcPr marL="72095" marR="72095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450308"/>
                  </a:ext>
                </a:extLst>
              </a:tr>
              <a:tr h="5927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4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P3. </a:t>
                      </a: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상호작용 처리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95" marR="60079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Space 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키</a:t>
                      </a:r>
                    </a:p>
                  </a:txBody>
                  <a:tcPr marL="72095" marR="60079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진열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회수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가격조정 명령</a:t>
                      </a:r>
                    </a:p>
                  </a:txBody>
                  <a:tcPr marL="72095" marR="60079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PlayerInteraction, ShopSlot</a:t>
                      </a:r>
                    </a:p>
                  </a:txBody>
                  <a:tcPr marL="72095" marR="72095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467822"/>
                  </a:ext>
                </a:extLst>
              </a:tr>
              <a:tr h="5927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P4. NPC AI </a:t>
                      </a: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처리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95" marR="60079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MBTI 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프로필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진열 가격</a:t>
                      </a:r>
                    </a:p>
                  </a:txBody>
                  <a:tcPr marL="72095" marR="60079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구매 결정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(bool), 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지불 금액</a:t>
                      </a:r>
                    </a:p>
                  </a:txBody>
                  <a:tcPr marL="72095" marR="60079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NpcController, PurchaseEvaluator</a:t>
                      </a:r>
                    </a:p>
                  </a:txBody>
                  <a:tcPr marL="72095" marR="72095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613147"/>
                  </a:ext>
                </a:extLst>
              </a:tr>
              <a:tr h="5927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P5. </a:t>
                      </a: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경제 처리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95" marR="60079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판매 금액</a:t>
                      </a:r>
                    </a:p>
                  </a:txBody>
                  <a:tcPr marL="72095" marR="60079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재화 잔액 갱신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HUD 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갱신</a:t>
                      </a:r>
                    </a:p>
                  </a:txBody>
                  <a:tcPr marL="72095" marR="60079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EconomyService, MoneyHUD</a:t>
                      </a:r>
                    </a:p>
                  </a:txBody>
                  <a:tcPr marL="72095" marR="72095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711633"/>
                  </a:ext>
                </a:extLst>
              </a:tr>
              <a:tr h="5927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P6. </a:t>
                      </a: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티어 진화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95" marR="60079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누적 매출</a:t>
                      </a:r>
                    </a:p>
                  </a:txBody>
                  <a:tcPr marL="72095" marR="60079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슬롯 수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권한 확장 이벤트</a:t>
                      </a:r>
                    </a:p>
                  </a:txBody>
                  <a:tcPr marL="72095" marR="60079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TierService, AuditService</a:t>
                      </a:r>
                    </a:p>
                  </a:txBody>
                  <a:tcPr marL="72095" marR="72095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224867"/>
                  </a:ext>
                </a:extLst>
              </a:tr>
              <a:tr h="5927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P7. </a:t>
                      </a: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저장</a:t>
                      </a:r>
                      <a:r>
                        <a:rPr lang="en-US" altLang="ko-KR" sz="14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로드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95" marR="60079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F5/F9 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키</a:t>
                      </a:r>
                    </a:p>
                  </a:txBody>
                  <a:tcPr marL="72095" marR="60079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SaveData.json 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읽기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쓰기</a:t>
                      </a:r>
                    </a:p>
                  </a:txBody>
                  <a:tcPr marL="72095" marR="60079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 err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SaveManager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en-US" sz="1400" dirty="0" err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LocalJsonRepo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95" marR="72095" marT="80106" marB="80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596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9318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042814F7-2534-35EE-729F-7D7F721E3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787ACA04-4BCF-1076-BFAC-28DBF7B575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900" y="2012372"/>
            <a:ext cx="14820900" cy="8084128"/>
          </a:xfrm>
          <a:prstGeom prst="rect">
            <a:avLst/>
          </a:prstGeom>
        </p:spPr>
      </p:pic>
      <p:sp>
        <p:nvSpPr>
          <p:cNvPr id="190" name="Google Shape;190;p19">
            <a:extLst>
              <a:ext uri="{FF2B5EF4-FFF2-40B4-BE49-F238E27FC236}">
                <a16:creationId xmlns:a16="http://schemas.microsoft.com/office/drawing/2014/main" id="{5A5E18A5-6C69-8055-0507-8D1B4ECC1CB5}"/>
              </a:ext>
            </a:extLst>
          </p:cNvPr>
          <p:cNvSpPr txBox="1"/>
          <p:nvPr/>
        </p:nvSpPr>
        <p:spPr>
          <a:xfrm>
            <a:off x="800100" y="1098304"/>
            <a:ext cx="17012126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데이터 흐름도 </a:t>
            </a:r>
            <a:r>
              <a:rPr lang="en-US" altLang="ko-KR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DFD – Level 1</a:t>
            </a:r>
            <a:endParaRPr sz="2700" dirty="0">
              <a:solidFill>
                <a:srgbClr val="15704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1" name="Google Shape;191;p19">
            <a:extLst>
              <a:ext uri="{FF2B5EF4-FFF2-40B4-BE49-F238E27FC236}">
                <a16:creationId xmlns:a16="http://schemas.microsoft.com/office/drawing/2014/main" id="{E21884AB-2DF1-2662-786A-3E15F1738716}"/>
              </a:ext>
            </a:extLst>
          </p:cNvPr>
          <p:cNvSpPr/>
          <p:nvPr/>
        </p:nvSpPr>
        <p:spPr>
          <a:xfrm>
            <a:off x="457200" y="1098304"/>
            <a:ext cx="114300" cy="822870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5506F62-C0FC-F181-B226-D320DCCD8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3D38D29C-B2EA-AB6E-C3A0-FA6D349BA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625" y="141605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961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B664C-C72D-74AC-7B5F-4321514C1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6592DBC-9539-7E5E-B16F-ADD2AE932828}"/>
              </a:ext>
            </a:extLst>
          </p:cNvPr>
          <p:cNvSpPr txBox="1"/>
          <p:nvPr/>
        </p:nvSpPr>
        <p:spPr>
          <a:xfrm>
            <a:off x="1385888" y="1257300"/>
            <a:ext cx="14077950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8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00624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프리텐다드 Medium"/>
              </a:rPr>
              <a:t>아이템 엔티티 설계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006241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프리텐다드 Medium"/>
            </a:endParaRP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F5D5EC95-5C70-5F2B-4CA2-A201B876D84A}"/>
              </a:ext>
            </a:extLst>
          </p:cNvPr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2FB510D-F7E0-E57B-7BDF-E120A396A92E}"/>
                </a:ext>
              </a:extLst>
            </p:cNvPr>
            <p:cNvSpPr/>
            <p:nvPr/>
          </p:nvSpPr>
          <p:spPr>
            <a:xfrm>
              <a:off x="0" y="0"/>
              <a:ext cx="49982" cy="4826627"/>
            </a:xfrm>
            <a:custGeom>
              <a:avLst/>
              <a:gdLst/>
              <a:ahLst/>
              <a:cxnLst/>
              <a:rect l="l" t="t" r="r" b="b"/>
              <a:pathLst>
                <a:path w="49982" h="4826627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006241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C211B57E-04CF-CB0A-E982-A5D7DE3582CF}"/>
                </a:ext>
              </a:extLst>
            </p:cNvPr>
            <p:cNvSpPr txBox="1"/>
            <p:nvPr/>
          </p:nvSpPr>
          <p:spPr>
            <a:xfrm>
              <a:off x="0" y="-57150"/>
              <a:ext cx="49982" cy="48837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3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pic>
        <p:nvPicPr>
          <p:cNvPr id="15" name="Picture 2">
            <a:extLst>
              <a:ext uri="{FF2B5EF4-FFF2-40B4-BE49-F238E27FC236}">
                <a16:creationId xmlns:a16="http://schemas.microsoft.com/office/drawing/2014/main" id="{FEB09C39-BE32-4188-86A9-B47115CE9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sp>
        <p:nvSpPr>
          <p:cNvPr id="16" name="Google Shape;124;p16">
            <a:extLst>
              <a:ext uri="{FF2B5EF4-FFF2-40B4-BE49-F238E27FC236}">
                <a16:creationId xmlns:a16="http://schemas.microsoft.com/office/drawing/2014/main" id="{EDD5F89A-315B-C4F7-07BB-88602BA171DF}"/>
              </a:ext>
            </a:extLst>
          </p:cNvPr>
          <p:cNvSpPr/>
          <p:nvPr/>
        </p:nvSpPr>
        <p:spPr>
          <a:xfrm>
            <a:off x="871538" y="1333500"/>
            <a:ext cx="114300" cy="822870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pic>
        <p:nvPicPr>
          <p:cNvPr id="17" name="Picture 3">
            <a:extLst>
              <a:ext uri="{FF2B5EF4-FFF2-40B4-BE49-F238E27FC236}">
                <a16:creationId xmlns:a16="http://schemas.microsoft.com/office/drawing/2014/main" id="{3AA1E589-59FC-A431-12D4-45BC6C882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  <p:grpSp>
        <p:nvGrpSpPr>
          <p:cNvPr id="42" name="Group 10">
            <a:extLst>
              <a:ext uri="{FF2B5EF4-FFF2-40B4-BE49-F238E27FC236}">
                <a16:creationId xmlns:a16="http://schemas.microsoft.com/office/drawing/2014/main" id="{9AE81254-3802-8275-E774-D386283CBF73}"/>
              </a:ext>
            </a:extLst>
          </p:cNvPr>
          <p:cNvGrpSpPr/>
          <p:nvPr/>
        </p:nvGrpSpPr>
        <p:grpSpPr>
          <a:xfrm>
            <a:off x="839495" y="3060101"/>
            <a:ext cx="6475704" cy="5786318"/>
            <a:chOff x="0" y="0"/>
            <a:chExt cx="1284057" cy="791866"/>
          </a:xfrm>
        </p:grpSpPr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8F2E29F6-FFB7-CE2F-4543-72A4C6FFD10B}"/>
                </a:ext>
              </a:extLst>
            </p:cNvPr>
            <p:cNvSpPr/>
            <p:nvPr/>
          </p:nvSpPr>
          <p:spPr>
            <a:xfrm>
              <a:off x="0" y="0"/>
              <a:ext cx="1284057" cy="791866"/>
            </a:xfrm>
            <a:custGeom>
              <a:avLst/>
              <a:gdLst/>
              <a:ahLst/>
              <a:cxnLst/>
              <a:rect l="l" t="t" r="r" b="b"/>
              <a:pathLst>
                <a:path w="1284057" h="791866">
                  <a:moveTo>
                    <a:pt x="0" y="0"/>
                  </a:moveTo>
                  <a:lnTo>
                    <a:pt x="1284057" y="0"/>
                  </a:lnTo>
                  <a:lnTo>
                    <a:pt x="1284057" y="791866"/>
                  </a:lnTo>
                  <a:lnTo>
                    <a:pt x="0" y="791866"/>
                  </a:lnTo>
                  <a:close/>
                </a:path>
              </a:pathLst>
            </a:custGeom>
            <a:solidFill>
              <a:srgbClr val="FDFDFB"/>
            </a:solidFill>
            <a:ln w="19050" cap="sq">
              <a:solidFill>
                <a:srgbClr val="C8C8C6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4" name="TextBox 12">
              <a:extLst>
                <a:ext uri="{FF2B5EF4-FFF2-40B4-BE49-F238E27FC236}">
                  <a16:creationId xmlns:a16="http://schemas.microsoft.com/office/drawing/2014/main" id="{2F522648-7BB4-E51E-5C18-B894F7CC6429}"/>
                </a:ext>
              </a:extLst>
            </p:cNvPr>
            <p:cNvSpPr txBox="1"/>
            <p:nvPr/>
          </p:nvSpPr>
          <p:spPr>
            <a:xfrm>
              <a:off x="0" y="-28575"/>
              <a:ext cx="1284057" cy="8204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33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45" name="Group 13">
            <a:extLst>
              <a:ext uri="{FF2B5EF4-FFF2-40B4-BE49-F238E27FC236}">
                <a16:creationId xmlns:a16="http://schemas.microsoft.com/office/drawing/2014/main" id="{86A8CA7C-FCF9-9810-F4DB-BD5221CD0523}"/>
              </a:ext>
            </a:extLst>
          </p:cNvPr>
          <p:cNvGrpSpPr/>
          <p:nvPr/>
        </p:nvGrpSpPr>
        <p:grpSpPr>
          <a:xfrm>
            <a:off x="835679" y="2842113"/>
            <a:ext cx="6475705" cy="892334"/>
            <a:chOff x="0" y="0"/>
            <a:chExt cx="1284057" cy="235018"/>
          </a:xfrm>
        </p:grpSpPr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9D4789BF-0DD2-C1C8-A904-ECC5CE12C81C}"/>
                </a:ext>
              </a:extLst>
            </p:cNvPr>
            <p:cNvSpPr/>
            <p:nvPr/>
          </p:nvSpPr>
          <p:spPr>
            <a:xfrm>
              <a:off x="0" y="0"/>
              <a:ext cx="1284057" cy="235018"/>
            </a:xfrm>
            <a:custGeom>
              <a:avLst/>
              <a:gdLst/>
              <a:ahLst/>
              <a:cxnLst/>
              <a:rect l="l" t="t" r="r" b="b"/>
              <a:pathLst>
                <a:path w="1284057" h="235018">
                  <a:moveTo>
                    <a:pt x="0" y="0"/>
                  </a:moveTo>
                  <a:lnTo>
                    <a:pt x="1284057" y="0"/>
                  </a:lnTo>
                  <a:lnTo>
                    <a:pt x="1284057" y="235018"/>
                  </a:lnTo>
                  <a:lnTo>
                    <a:pt x="0" y="235018"/>
                  </a:lnTo>
                  <a:close/>
                </a:path>
              </a:pathLst>
            </a:custGeom>
            <a:solidFill>
              <a:srgbClr val="F1F1F1"/>
            </a:solidFill>
            <a:ln w="19050" cap="sq">
              <a:solidFill>
                <a:srgbClr val="C8C8C6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7" name="TextBox 15">
              <a:extLst>
                <a:ext uri="{FF2B5EF4-FFF2-40B4-BE49-F238E27FC236}">
                  <a16:creationId xmlns:a16="http://schemas.microsoft.com/office/drawing/2014/main" id="{C4FD2415-5B96-249D-AC9E-DCFBA41FB6C4}"/>
                </a:ext>
              </a:extLst>
            </p:cNvPr>
            <p:cNvSpPr txBox="1"/>
            <p:nvPr/>
          </p:nvSpPr>
          <p:spPr>
            <a:xfrm>
              <a:off x="0" y="-28575"/>
              <a:ext cx="1284057" cy="263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33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48" name="TextBox 16">
            <a:extLst>
              <a:ext uri="{FF2B5EF4-FFF2-40B4-BE49-F238E27FC236}">
                <a16:creationId xmlns:a16="http://schemas.microsoft.com/office/drawing/2014/main" id="{65C76D03-A5CD-09C7-2413-F03B9B1CF97F}"/>
              </a:ext>
            </a:extLst>
          </p:cNvPr>
          <p:cNvSpPr txBox="1"/>
          <p:nvPr/>
        </p:nvSpPr>
        <p:spPr>
          <a:xfrm>
            <a:off x="2029756" y="2998973"/>
            <a:ext cx="4087549" cy="529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59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6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ItemData</a:t>
            </a:r>
            <a:r>
              <a:rPr kumimoji="0" lang="en-US" sz="2800" b="1" i="0" u="none" strike="noStrike" kern="1200" cap="none" spc="-16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(</a:t>
            </a:r>
            <a:r>
              <a:rPr kumimoji="0" lang="en-US" sz="2800" b="1" i="0" u="none" strike="noStrike" kern="1200" cap="none" spc="-16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ScriptableObject</a:t>
            </a:r>
            <a:r>
              <a:rPr kumimoji="0" lang="en-US" sz="2800" b="1" i="0" u="none" strike="noStrike" kern="1200" cap="none" spc="-16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)</a:t>
            </a:r>
          </a:p>
        </p:txBody>
      </p:sp>
      <p:sp>
        <p:nvSpPr>
          <p:cNvPr id="49" name="TextBox 17">
            <a:extLst>
              <a:ext uri="{FF2B5EF4-FFF2-40B4-BE49-F238E27FC236}">
                <a16:creationId xmlns:a16="http://schemas.microsoft.com/office/drawing/2014/main" id="{4445BB3B-3E48-8ABA-0CBF-0D2EF12E18CB}"/>
              </a:ext>
            </a:extLst>
          </p:cNvPr>
          <p:cNvSpPr txBox="1"/>
          <p:nvPr/>
        </p:nvSpPr>
        <p:spPr>
          <a:xfrm>
            <a:off x="1752600" y="3852128"/>
            <a:ext cx="5029200" cy="4922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400" b="1" i="0" u="none" strike="noStrike" kern="1200" cap="none" spc="-73" normalizeH="0" baseline="0" noProof="0" dirty="0" err="1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ItemID</a:t>
            </a:r>
            <a:r>
              <a:rPr kumimoji="0" lang="en-US" altLang="ko-KR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(int): </a:t>
            </a:r>
            <a:r>
              <a:rPr kumimoji="0" lang="ko-KR" alt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고유 식별 번호 </a:t>
            </a:r>
            <a:r>
              <a:rPr kumimoji="0" lang="en-US" altLang="ko-KR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(PK)</a:t>
            </a:r>
          </a:p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ItemType (Enum): Raw(</a:t>
            </a:r>
            <a:r>
              <a:rPr kumimoji="0" lang="ko-KR" alt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원목</a:t>
            </a:r>
            <a:r>
              <a:rPr kumimoji="0" lang="en-US" altLang="ko-KR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), </a:t>
            </a:r>
            <a:r>
              <a:rPr kumimoji="0" 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Processed(</a:t>
            </a:r>
            <a:r>
              <a:rPr kumimoji="0" lang="ko-KR" alt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판재</a:t>
            </a:r>
            <a:r>
              <a:rPr kumimoji="0" lang="en-US" altLang="ko-KR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), </a:t>
            </a:r>
            <a:r>
              <a:rPr kumimoji="0" 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Furniture(</a:t>
            </a:r>
            <a:r>
              <a:rPr kumimoji="0" lang="ko-KR" alt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의자</a:t>
            </a:r>
            <a:r>
              <a:rPr kumimoji="0" lang="en-US" altLang="ko-KR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)</a:t>
            </a:r>
          </a:p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400" b="1" i="0" u="none" strike="noStrike" kern="1200" cap="none" spc="-73" normalizeH="0" baseline="0" noProof="0" dirty="0" err="1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BaseBuyPrice</a:t>
            </a:r>
            <a:r>
              <a:rPr kumimoji="0" lang="en-US" altLang="ko-KR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(int): NPC</a:t>
            </a:r>
            <a:r>
              <a:rPr kumimoji="0" lang="ko-KR" alt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로부터 매입할 때의 기준가</a:t>
            </a:r>
            <a:endParaRPr kumimoji="0" lang="en-US" altLang="ko-KR" sz="2400" b="1" i="0" u="none" strike="noStrike" kern="1200" cap="none" spc="-73" normalizeH="0" baseline="0" noProof="0" dirty="0">
              <a:ln>
                <a:noFill/>
              </a:ln>
              <a:solidFill>
                <a:srgbClr val="4D4D4D">
                  <a:alpha val="61961"/>
                </a:srgb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Medium"/>
            </a:endParaRPr>
          </a:p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-73" normalizeH="0" baseline="0" noProof="0" dirty="0" err="1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IdealSellPrice</a:t>
            </a:r>
            <a:r>
              <a:rPr kumimoji="0" 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(int): </a:t>
            </a:r>
            <a:r>
              <a:rPr kumimoji="0" lang="ko-KR" alt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시스템 권장 판매가</a:t>
            </a:r>
            <a:endParaRPr kumimoji="0" lang="en-US" altLang="ko-KR" sz="2400" b="1" i="0" u="none" strike="noStrike" kern="1200" cap="none" spc="-73" normalizeH="0" baseline="0" noProof="0" dirty="0">
              <a:ln>
                <a:noFill/>
              </a:ln>
              <a:solidFill>
                <a:srgbClr val="4D4D4D">
                  <a:alpha val="61961"/>
                </a:srgb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Medium"/>
            </a:endParaRPr>
          </a:p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400" b="1" i="0" u="none" strike="noStrike" kern="1200" cap="none" spc="-73" normalizeH="0" baseline="0" noProof="0" dirty="0" err="1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MBTISensitivity</a:t>
            </a:r>
            <a:r>
              <a:rPr kumimoji="0" lang="en-US" altLang="ko-KR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(float[]): [S, N, P, J] </a:t>
            </a:r>
            <a:r>
              <a:rPr kumimoji="0" lang="ko-KR" alt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각 성향에 대한 가격 저항선 가중치</a:t>
            </a:r>
            <a:endParaRPr kumimoji="0" lang="en-US" sz="2400" b="1" i="0" u="none" strike="noStrike" kern="1200" cap="none" spc="-73" normalizeH="0" baseline="0" noProof="0" dirty="0">
              <a:ln>
                <a:noFill/>
              </a:ln>
              <a:solidFill>
                <a:srgbClr val="4D4D4D">
                  <a:alpha val="61961"/>
                </a:srgb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Medium"/>
            </a:endParaRPr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45295158-4DD0-C5E3-20E6-77D4F9BC6F68}"/>
              </a:ext>
            </a:extLst>
          </p:cNvPr>
          <p:cNvGrpSpPr/>
          <p:nvPr/>
        </p:nvGrpSpPr>
        <p:grpSpPr>
          <a:xfrm>
            <a:off x="10972801" y="2084888"/>
            <a:ext cx="6475704" cy="4561173"/>
            <a:chOff x="0" y="0"/>
            <a:chExt cx="1284057" cy="791866"/>
          </a:xfrm>
        </p:grpSpPr>
        <p:sp>
          <p:nvSpPr>
            <p:cNvPr id="4" name="Freeform 11">
              <a:extLst>
                <a:ext uri="{FF2B5EF4-FFF2-40B4-BE49-F238E27FC236}">
                  <a16:creationId xmlns:a16="http://schemas.microsoft.com/office/drawing/2014/main" id="{10C3F640-8EF1-82BA-A3FC-0450268E7D89}"/>
                </a:ext>
              </a:extLst>
            </p:cNvPr>
            <p:cNvSpPr/>
            <p:nvPr/>
          </p:nvSpPr>
          <p:spPr>
            <a:xfrm>
              <a:off x="0" y="0"/>
              <a:ext cx="1284057" cy="791866"/>
            </a:xfrm>
            <a:custGeom>
              <a:avLst/>
              <a:gdLst/>
              <a:ahLst/>
              <a:cxnLst/>
              <a:rect l="l" t="t" r="r" b="b"/>
              <a:pathLst>
                <a:path w="1284057" h="791866">
                  <a:moveTo>
                    <a:pt x="0" y="0"/>
                  </a:moveTo>
                  <a:lnTo>
                    <a:pt x="1284057" y="0"/>
                  </a:lnTo>
                  <a:lnTo>
                    <a:pt x="1284057" y="791866"/>
                  </a:lnTo>
                  <a:lnTo>
                    <a:pt x="0" y="791866"/>
                  </a:lnTo>
                  <a:close/>
                </a:path>
              </a:pathLst>
            </a:custGeom>
            <a:solidFill>
              <a:srgbClr val="FDFDFB"/>
            </a:solidFill>
            <a:ln w="19050" cap="sq">
              <a:solidFill>
                <a:srgbClr val="C8C8C6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" name="TextBox 12">
              <a:extLst>
                <a:ext uri="{FF2B5EF4-FFF2-40B4-BE49-F238E27FC236}">
                  <a16:creationId xmlns:a16="http://schemas.microsoft.com/office/drawing/2014/main" id="{7876B9C8-323F-DDC1-B29C-8046B0F33DC4}"/>
                </a:ext>
              </a:extLst>
            </p:cNvPr>
            <p:cNvSpPr txBox="1"/>
            <p:nvPr/>
          </p:nvSpPr>
          <p:spPr>
            <a:xfrm>
              <a:off x="0" y="-28575"/>
              <a:ext cx="1284057" cy="8204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33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6" name="Group 13">
            <a:extLst>
              <a:ext uri="{FF2B5EF4-FFF2-40B4-BE49-F238E27FC236}">
                <a16:creationId xmlns:a16="http://schemas.microsoft.com/office/drawing/2014/main" id="{C64F005E-0320-FCAF-9A5E-8365A6DFB159}"/>
              </a:ext>
            </a:extLst>
          </p:cNvPr>
          <p:cNvGrpSpPr/>
          <p:nvPr/>
        </p:nvGrpSpPr>
        <p:grpSpPr>
          <a:xfrm>
            <a:off x="10968985" y="1866900"/>
            <a:ext cx="6475705" cy="892334"/>
            <a:chOff x="0" y="0"/>
            <a:chExt cx="1284057" cy="235018"/>
          </a:xfrm>
        </p:grpSpPr>
        <p:sp>
          <p:nvSpPr>
            <p:cNvPr id="7" name="Freeform 14">
              <a:extLst>
                <a:ext uri="{FF2B5EF4-FFF2-40B4-BE49-F238E27FC236}">
                  <a16:creationId xmlns:a16="http://schemas.microsoft.com/office/drawing/2014/main" id="{92D019AF-6407-960F-8D75-1CF0A196FA02}"/>
                </a:ext>
              </a:extLst>
            </p:cNvPr>
            <p:cNvSpPr/>
            <p:nvPr/>
          </p:nvSpPr>
          <p:spPr>
            <a:xfrm>
              <a:off x="0" y="0"/>
              <a:ext cx="1284057" cy="235018"/>
            </a:xfrm>
            <a:custGeom>
              <a:avLst/>
              <a:gdLst/>
              <a:ahLst/>
              <a:cxnLst/>
              <a:rect l="l" t="t" r="r" b="b"/>
              <a:pathLst>
                <a:path w="1284057" h="235018">
                  <a:moveTo>
                    <a:pt x="0" y="0"/>
                  </a:moveTo>
                  <a:lnTo>
                    <a:pt x="1284057" y="0"/>
                  </a:lnTo>
                  <a:lnTo>
                    <a:pt x="1284057" y="235018"/>
                  </a:lnTo>
                  <a:lnTo>
                    <a:pt x="0" y="235018"/>
                  </a:lnTo>
                  <a:close/>
                </a:path>
              </a:pathLst>
            </a:custGeom>
            <a:solidFill>
              <a:srgbClr val="F1F1F1"/>
            </a:solidFill>
            <a:ln w="19050" cap="sq">
              <a:solidFill>
                <a:srgbClr val="C8C8C6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" name="TextBox 15">
              <a:extLst>
                <a:ext uri="{FF2B5EF4-FFF2-40B4-BE49-F238E27FC236}">
                  <a16:creationId xmlns:a16="http://schemas.microsoft.com/office/drawing/2014/main" id="{777AA202-39DB-6EF6-0100-D1F85831B779}"/>
                </a:ext>
              </a:extLst>
            </p:cNvPr>
            <p:cNvSpPr txBox="1"/>
            <p:nvPr/>
          </p:nvSpPr>
          <p:spPr>
            <a:xfrm>
              <a:off x="0" y="-28575"/>
              <a:ext cx="1284057" cy="263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33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9" name="TextBox 16">
            <a:extLst>
              <a:ext uri="{FF2B5EF4-FFF2-40B4-BE49-F238E27FC236}">
                <a16:creationId xmlns:a16="http://schemas.microsoft.com/office/drawing/2014/main" id="{3AE07B00-C6F1-427C-CDD8-25D6BFEF7A50}"/>
              </a:ext>
            </a:extLst>
          </p:cNvPr>
          <p:cNvSpPr txBox="1"/>
          <p:nvPr/>
        </p:nvSpPr>
        <p:spPr>
          <a:xfrm>
            <a:off x="12163062" y="2023760"/>
            <a:ext cx="4087549" cy="529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59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6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ItemInstance</a:t>
            </a:r>
            <a:r>
              <a:rPr kumimoji="0" lang="en-US" sz="2800" b="1" i="0" u="none" strike="noStrike" kern="1200" cap="none" spc="-16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(Class))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22898537-4CFD-FBE7-34BB-DB5056579434}"/>
              </a:ext>
            </a:extLst>
          </p:cNvPr>
          <p:cNvSpPr txBox="1"/>
          <p:nvPr/>
        </p:nvSpPr>
        <p:spPr>
          <a:xfrm>
            <a:off x="11731710" y="3107206"/>
            <a:ext cx="5029200" cy="3260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400" b="1" i="0" u="none" strike="noStrike" kern="1200" cap="none" spc="-73" normalizeH="0" baseline="0" noProof="0" dirty="0" err="1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InstanceID</a:t>
            </a:r>
            <a:r>
              <a:rPr kumimoji="0" lang="en-US" altLang="ko-KR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(</a:t>
            </a:r>
            <a:r>
              <a:rPr kumimoji="0" lang="en-US" altLang="ko-KR" sz="2400" b="1" i="0" u="none" strike="noStrike" kern="1200" cap="none" spc="-73" normalizeH="0" baseline="0" noProof="0" dirty="0" err="1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Guid</a:t>
            </a:r>
            <a:r>
              <a:rPr kumimoji="0" lang="en-US" altLang="ko-KR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): </a:t>
            </a:r>
            <a:r>
              <a:rPr kumimoji="0" lang="ko-KR" alt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개별 아이템의 고유 식별자</a:t>
            </a:r>
            <a:endParaRPr kumimoji="0" lang="en-US" altLang="ko-KR" sz="2400" b="1" i="0" u="none" strike="noStrike" kern="1200" cap="none" spc="-73" normalizeH="0" baseline="0" noProof="0" dirty="0">
              <a:ln>
                <a:noFill/>
              </a:ln>
              <a:solidFill>
                <a:srgbClr val="4D4D4D">
                  <a:alpha val="61961"/>
                </a:srgb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Medium"/>
            </a:endParaRPr>
          </a:p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CurrentPrice (int): </a:t>
            </a:r>
            <a:r>
              <a:rPr kumimoji="0" lang="ko-KR" alt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유저가 직접 책정한 현재 가격</a:t>
            </a:r>
            <a:endParaRPr kumimoji="0" lang="en-US" altLang="ko-KR" sz="2400" b="1" i="0" u="none" strike="noStrike" kern="1200" cap="none" spc="-73" normalizeH="0" baseline="0" noProof="0" dirty="0">
              <a:ln>
                <a:noFill/>
              </a:ln>
              <a:solidFill>
                <a:srgbClr val="4D4D4D">
                  <a:alpha val="61961"/>
                </a:srgb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Medium"/>
            </a:endParaRPr>
          </a:p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Quality (float): </a:t>
            </a:r>
            <a:r>
              <a:rPr kumimoji="0" lang="ko-KR" alt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가공 품질 </a:t>
            </a:r>
            <a:r>
              <a:rPr kumimoji="0" lang="en-US" altLang="ko-KR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(</a:t>
            </a:r>
            <a:r>
              <a:rPr kumimoji="0" lang="ko-KR" alt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가치 상승 계수</a:t>
            </a:r>
            <a:r>
              <a:rPr kumimoji="0" lang="en-US" altLang="ko-KR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)</a:t>
            </a:r>
            <a:endParaRPr kumimoji="0" lang="en-US" sz="2400" b="1" i="0" u="none" strike="noStrike" kern="1200" cap="none" spc="-73" normalizeH="0" baseline="0" noProof="0" dirty="0">
              <a:ln>
                <a:noFill/>
              </a:ln>
              <a:solidFill>
                <a:srgbClr val="4D4D4D">
                  <a:alpha val="61961"/>
                </a:srgb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Medium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D5B04B9-E264-C6F3-65CD-1AC28C8C2FE6}"/>
              </a:ext>
            </a:extLst>
          </p:cNvPr>
          <p:cNvCxnSpPr>
            <a:cxnSpLocks/>
          </p:cNvCxnSpPr>
          <p:nvPr/>
        </p:nvCxnSpPr>
        <p:spPr>
          <a:xfrm>
            <a:off x="7384444" y="4945860"/>
            <a:ext cx="3560120" cy="11425"/>
          </a:xfrm>
          <a:prstGeom prst="straightConnector1">
            <a:avLst/>
          </a:prstGeom>
          <a:ln w="57150">
            <a:solidFill>
              <a:srgbClr val="06402B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16">
            <a:extLst>
              <a:ext uri="{FF2B5EF4-FFF2-40B4-BE49-F238E27FC236}">
                <a16:creationId xmlns:a16="http://schemas.microsoft.com/office/drawing/2014/main" id="{80FADFFF-0E60-86A2-7306-914E82FB00E9}"/>
              </a:ext>
            </a:extLst>
          </p:cNvPr>
          <p:cNvSpPr txBox="1"/>
          <p:nvPr/>
        </p:nvSpPr>
        <p:spPr>
          <a:xfrm>
            <a:off x="7954382" y="4229100"/>
            <a:ext cx="2634326" cy="529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59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spc="-16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원본 데이터 참조</a:t>
            </a:r>
            <a:endParaRPr kumimoji="0" lang="en-US" sz="2800" i="0" u="none" strike="noStrike" kern="1200" cap="none" spc="-16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Medium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3F9B7E26-4F0D-A6CC-9F3E-9FD6375B6B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376886"/>
              </p:ext>
            </p:extLst>
          </p:nvPr>
        </p:nvGraphicFramePr>
        <p:xfrm>
          <a:off x="7720672" y="6896100"/>
          <a:ext cx="9724018" cy="1981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99622">
                  <a:extLst>
                    <a:ext uri="{9D8B030D-6E8A-4147-A177-3AD203B41FA5}">
                      <a16:colId xmlns:a16="http://schemas.microsoft.com/office/drawing/2014/main" val="2119690537"/>
                    </a:ext>
                  </a:extLst>
                </a:gridCol>
                <a:gridCol w="1599622">
                  <a:extLst>
                    <a:ext uri="{9D8B030D-6E8A-4147-A177-3AD203B41FA5}">
                      <a16:colId xmlns:a16="http://schemas.microsoft.com/office/drawing/2014/main" val="1176081757"/>
                    </a:ext>
                  </a:extLst>
                </a:gridCol>
                <a:gridCol w="1599622">
                  <a:extLst>
                    <a:ext uri="{9D8B030D-6E8A-4147-A177-3AD203B41FA5}">
                      <a16:colId xmlns:a16="http://schemas.microsoft.com/office/drawing/2014/main" val="1996324963"/>
                    </a:ext>
                  </a:extLst>
                </a:gridCol>
                <a:gridCol w="1599622">
                  <a:extLst>
                    <a:ext uri="{9D8B030D-6E8A-4147-A177-3AD203B41FA5}">
                      <a16:colId xmlns:a16="http://schemas.microsoft.com/office/drawing/2014/main" val="1642929564"/>
                    </a:ext>
                  </a:extLst>
                </a:gridCol>
                <a:gridCol w="1599622">
                  <a:extLst>
                    <a:ext uri="{9D8B030D-6E8A-4147-A177-3AD203B41FA5}">
                      <a16:colId xmlns:a16="http://schemas.microsoft.com/office/drawing/2014/main" val="1945378918"/>
                    </a:ext>
                  </a:extLst>
                </a:gridCol>
                <a:gridCol w="1725908">
                  <a:extLst>
                    <a:ext uri="{9D8B030D-6E8A-4147-A177-3AD203B41FA5}">
                      <a16:colId xmlns:a16="http://schemas.microsoft.com/office/drawing/2014/main" val="18272939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ID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명칭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R="76200" marT="101600" marB="1016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타입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R="76200" marT="101600" marB="1016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매입가</a:t>
                      </a:r>
                      <a:r>
                        <a:rPr lang="en-US" altLang="ko-KR" sz="1400" b="1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NPC→</a:t>
                      </a:r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유저</a:t>
                      </a:r>
                      <a:r>
                        <a:rPr lang="en-US" altLang="ko-KR" sz="1400" b="1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1400" dirty="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R="76200" marT="101600" marB="1016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200" b="1" dirty="0" err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권장가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유저→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NPC)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R="76200" marT="101600" marB="1016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MBTI </a:t>
                      </a:r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특이점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T="101600" marB="1016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55841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101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거친 원목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Raw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 G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15 G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실용적</a:t>
                      </a: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(S) </a:t>
                      </a:r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성향 선호 </a:t>
                      </a:r>
                    </a:p>
                  </a:txBody>
                  <a:tcPr marT="101600" marB="1016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38594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205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b="1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참나무 의자</a:t>
                      </a:r>
                      <a:endParaRPr lang="ko-KR" altLang="en-US" dirty="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R="76200" marT="101600" marB="1016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Furniture</a:t>
                      </a:r>
                    </a:p>
                  </a:txBody>
                  <a:tcPr marR="76200" marT="101600" marB="1016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</a:t>
                      </a:r>
                    </a:p>
                  </a:txBody>
                  <a:tcPr marR="76200" marT="101600" marB="1016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120 G</a:t>
                      </a:r>
                    </a:p>
                  </a:txBody>
                  <a:tcPr marR="76200" marT="101600" marB="1016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가치 중심</a:t>
                      </a: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(N) </a:t>
                      </a: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성향 선호 </a:t>
                      </a:r>
                    </a:p>
                  </a:txBody>
                  <a:tcPr marT="101600" marB="1016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2689862"/>
                  </a:ext>
                </a:extLst>
              </a:tr>
            </a:tbl>
          </a:graphicData>
        </a:graphic>
      </p:graphicFrame>
      <p:sp>
        <p:nvSpPr>
          <p:cNvPr id="26" name="TextBox 17">
            <a:extLst>
              <a:ext uri="{FF2B5EF4-FFF2-40B4-BE49-F238E27FC236}">
                <a16:creationId xmlns:a16="http://schemas.microsoft.com/office/drawing/2014/main" id="{D06D836B-2DEE-BED0-B45A-BC826BA0173C}"/>
              </a:ext>
            </a:extLst>
          </p:cNvPr>
          <p:cNvSpPr txBox="1"/>
          <p:nvPr/>
        </p:nvSpPr>
        <p:spPr>
          <a:xfrm>
            <a:off x="14401800" y="8920501"/>
            <a:ext cx="3198380" cy="490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실제 아이템 데이터 예시</a:t>
            </a:r>
            <a:endParaRPr kumimoji="0" lang="en-US" sz="2400" b="1" i="0" u="none" strike="noStrike" kern="1200" cap="none" spc="-73" normalizeH="0" baseline="0" noProof="0" dirty="0">
              <a:ln>
                <a:noFill/>
              </a:ln>
              <a:solidFill>
                <a:srgbClr val="4D4D4D">
                  <a:alpha val="61961"/>
                </a:srgb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700582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5F01C-8C23-45AD-866F-048775DC1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3F264E18-607E-283B-7B6E-9B31FA45AFEF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2890341" y="3957313"/>
            <a:ext cx="7503256" cy="1066134"/>
          </a:xfrm>
          <a:prstGeom prst="straightConnector1">
            <a:avLst/>
          </a:prstGeom>
          <a:ln w="28575">
            <a:solidFill>
              <a:srgbClr val="06402B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BA005AE7-D35F-C203-C92E-DBAE00369F27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3035277" y="7019334"/>
            <a:ext cx="2184371" cy="1406504"/>
          </a:xfrm>
          <a:prstGeom prst="line">
            <a:avLst/>
          </a:prstGeom>
          <a:ln w="28575">
            <a:solidFill>
              <a:srgbClr val="0640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083A751A-56FE-739E-1668-8137BFA73EA4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11356222" y="6973564"/>
            <a:ext cx="988128" cy="1421045"/>
          </a:xfrm>
          <a:prstGeom prst="line">
            <a:avLst/>
          </a:prstGeom>
          <a:ln w="28575">
            <a:solidFill>
              <a:srgbClr val="0640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2">
            <a:extLst>
              <a:ext uri="{FF2B5EF4-FFF2-40B4-BE49-F238E27FC236}">
                <a16:creationId xmlns:a16="http://schemas.microsoft.com/office/drawing/2014/main" id="{1BB22C0C-D5F7-AFCB-56AB-6DEBC3B42C92}"/>
              </a:ext>
            </a:extLst>
          </p:cNvPr>
          <p:cNvSpPr txBox="1"/>
          <p:nvPr/>
        </p:nvSpPr>
        <p:spPr>
          <a:xfrm>
            <a:off x="1385888" y="1104900"/>
            <a:ext cx="14077950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ko-KR" altLang="en-US" sz="80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프리텐다드 Medium"/>
              </a:rPr>
              <a:t>시스템 데이터 관계도 </a:t>
            </a:r>
            <a:r>
              <a:rPr lang="en-US" altLang="ko-KR" sz="80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프리텐다드 Medium"/>
              </a:rPr>
              <a:t>(ERD)</a:t>
            </a:r>
            <a:endParaRPr lang="en-US" sz="8000" b="1" dirty="0">
              <a:solidFill>
                <a:srgbClr val="00624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프리텐다드 Medium"/>
            </a:endParaRP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7820A2B-BB2A-95FC-19D3-361158D38F52}"/>
              </a:ext>
            </a:extLst>
          </p:cNvPr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81BF9793-B211-6257-5F15-B50A6E373183}"/>
                </a:ext>
              </a:extLst>
            </p:cNvPr>
            <p:cNvSpPr/>
            <p:nvPr/>
          </p:nvSpPr>
          <p:spPr>
            <a:xfrm>
              <a:off x="0" y="0"/>
              <a:ext cx="49982" cy="4826627"/>
            </a:xfrm>
            <a:custGeom>
              <a:avLst/>
              <a:gdLst/>
              <a:ahLst/>
              <a:cxnLst/>
              <a:rect l="l" t="t" r="r" b="b"/>
              <a:pathLst>
                <a:path w="49982" h="4826627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006241"/>
            </a:solidFill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082C4518-092E-A174-7A0A-61352C7813B7}"/>
                </a:ext>
              </a:extLst>
            </p:cNvPr>
            <p:cNvSpPr txBox="1"/>
            <p:nvPr/>
          </p:nvSpPr>
          <p:spPr>
            <a:xfrm>
              <a:off x="0" y="-57150"/>
              <a:ext cx="49982" cy="48837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pic>
        <p:nvPicPr>
          <p:cNvPr id="15" name="Picture 2">
            <a:extLst>
              <a:ext uri="{FF2B5EF4-FFF2-40B4-BE49-F238E27FC236}">
                <a16:creationId xmlns:a16="http://schemas.microsoft.com/office/drawing/2014/main" id="{BFFDF637-5D16-4D9C-431C-315CAA6DE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sp>
        <p:nvSpPr>
          <p:cNvPr id="16" name="Google Shape;124;p16">
            <a:extLst>
              <a:ext uri="{FF2B5EF4-FFF2-40B4-BE49-F238E27FC236}">
                <a16:creationId xmlns:a16="http://schemas.microsoft.com/office/drawing/2014/main" id="{C74F33CD-619F-983C-F204-650AE16A3E5B}"/>
              </a:ext>
            </a:extLst>
          </p:cNvPr>
          <p:cNvSpPr/>
          <p:nvPr/>
        </p:nvSpPr>
        <p:spPr>
          <a:xfrm>
            <a:off x="871538" y="1181100"/>
            <a:ext cx="114300" cy="822870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pic>
        <p:nvPicPr>
          <p:cNvPr id="17" name="Picture 3">
            <a:extLst>
              <a:ext uri="{FF2B5EF4-FFF2-40B4-BE49-F238E27FC236}">
                <a16:creationId xmlns:a16="http://schemas.microsoft.com/office/drawing/2014/main" id="{8C47A266-B1F0-E837-73A9-7648F4AC6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8619DD9D-0681-C6B6-F84A-CBF7F05C2F77}"/>
              </a:ext>
            </a:extLst>
          </p:cNvPr>
          <p:cNvGrpSpPr/>
          <p:nvPr/>
        </p:nvGrpSpPr>
        <p:grpSpPr>
          <a:xfrm>
            <a:off x="3276600" y="2468690"/>
            <a:ext cx="3886099" cy="3115112"/>
            <a:chOff x="1828799" y="4082072"/>
            <a:chExt cx="3886099" cy="3115112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B59DE132-D64B-9337-FAA9-0B61EC6BF70A}"/>
                </a:ext>
              </a:extLst>
            </p:cNvPr>
            <p:cNvGrpSpPr/>
            <p:nvPr/>
          </p:nvGrpSpPr>
          <p:grpSpPr>
            <a:xfrm>
              <a:off x="1828799" y="4082072"/>
              <a:ext cx="3886099" cy="3115112"/>
              <a:chOff x="839495" y="4082072"/>
              <a:chExt cx="4875404" cy="3115112"/>
            </a:xfrm>
          </p:grpSpPr>
          <p:grpSp>
            <p:nvGrpSpPr>
              <p:cNvPr id="42" name="Group 10">
                <a:extLst>
                  <a:ext uri="{FF2B5EF4-FFF2-40B4-BE49-F238E27FC236}">
                    <a16:creationId xmlns:a16="http://schemas.microsoft.com/office/drawing/2014/main" id="{CA568022-CE44-240A-82F5-93E731E64BEB}"/>
                  </a:ext>
                </a:extLst>
              </p:cNvPr>
              <p:cNvGrpSpPr/>
              <p:nvPr/>
            </p:nvGrpSpPr>
            <p:grpSpPr>
              <a:xfrm>
                <a:off x="839495" y="4082072"/>
                <a:ext cx="4875404" cy="3115112"/>
                <a:chOff x="0" y="-28575"/>
                <a:chExt cx="1284057" cy="820441"/>
              </a:xfrm>
            </p:grpSpPr>
            <p:sp>
              <p:nvSpPr>
                <p:cNvPr id="43" name="Freeform 11">
                  <a:extLst>
                    <a:ext uri="{FF2B5EF4-FFF2-40B4-BE49-F238E27FC236}">
                      <a16:creationId xmlns:a16="http://schemas.microsoft.com/office/drawing/2014/main" id="{34F7326A-B54B-644F-78B1-5E1D953EFB4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84057" cy="773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4057" h="791866">
                      <a:moveTo>
                        <a:pt x="0" y="0"/>
                      </a:moveTo>
                      <a:lnTo>
                        <a:pt x="1284057" y="0"/>
                      </a:lnTo>
                      <a:lnTo>
                        <a:pt x="1284057" y="791866"/>
                      </a:lnTo>
                      <a:lnTo>
                        <a:pt x="0" y="791866"/>
                      </a:lnTo>
                      <a:close/>
                    </a:path>
                  </a:pathLst>
                </a:custGeom>
                <a:solidFill>
                  <a:srgbClr val="FDFDFB"/>
                </a:solidFill>
                <a:ln w="19050" cap="sq">
                  <a:solidFill>
                    <a:srgbClr val="C8C8C6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  <p:sp>
              <p:nvSpPr>
                <p:cNvPr id="44" name="TextBox 12">
                  <a:extLst>
                    <a:ext uri="{FF2B5EF4-FFF2-40B4-BE49-F238E27FC236}">
                      <a16:creationId xmlns:a16="http://schemas.microsoft.com/office/drawing/2014/main" id="{55DE9688-E2F0-A59E-B063-DD0F72A4AAEB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284057" cy="820441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lnSpc>
                      <a:spcPts val="2833"/>
                    </a:lnSpc>
                    <a:spcBef>
                      <a:spcPct val="0"/>
                    </a:spcBef>
                  </a:pPr>
                  <a:endParaRPr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</p:grpSp>
          <p:grpSp>
            <p:nvGrpSpPr>
              <p:cNvPr id="45" name="Group 13">
                <a:extLst>
                  <a:ext uri="{FF2B5EF4-FFF2-40B4-BE49-F238E27FC236}">
                    <a16:creationId xmlns:a16="http://schemas.microsoft.com/office/drawing/2014/main" id="{0BC1DF95-BC1B-3708-A752-1B65EBCEC4CE}"/>
                  </a:ext>
                </a:extLst>
              </p:cNvPr>
              <p:cNvGrpSpPr/>
              <p:nvPr/>
            </p:nvGrpSpPr>
            <p:grpSpPr>
              <a:xfrm>
                <a:off x="839495" y="4190568"/>
                <a:ext cx="4875404" cy="848787"/>
                <a:chOff x="0" y="0"/>
                <a:chExt cx="1284057" cy="235018"/>
              </a:xfrm>
            </p:grpSpPr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8FA8EF91-B6F0-E759-2B7B-21CD35594BB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84057" cy="2350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4057" h="235018">
                      <a:moveTo>
                        <a:pt x="0" y="0"/>
                      </a:moveTo>
                      <a:lnTo>
                        <a:pt x="1284057" y="0"/>
                      </a:lnTo>
                      <a:lnTo>
                        <a:pt x="1284057" y="235018"/>
                      </a:lnTo>
                      <a:lnTo>
                        <a:pt x="0" y="235018"/>
                      </a:lnTo>
                      <a:close/>
                    </a:path>
                  </a:pathLst>
                </a:custGeom>
                <a:solidFill>
                  <a:srgbClr val="F1F1F1"/>
                </a:solidFill>
                <a:ln w="19050" cap="sq">
                  <a:solidFill>
                    <a:srgbClr val="C8C8C6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  <p:sp>
              <p:nvSpPr>
                <p:cNvPr id="47" name="TextBox 15">
                  <a:extLst>
                    <a:ext uri="{FF2B5EF4-FFF2-40B4-BE49-F238E27FC236}">
                      <a16:creationId xmlns:a16="http://schemas.microsoft.com/office/drawing/2014/main" id="{B20231AA-6D65-1500-E477-82B615614491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284057" cy="26359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lnSpc>
                      <a:spcPts val="2833"/>
                    </a:lnSpc>
                    <a:spcBef>
                      <a:spcPct val="0"/>
                    </a:spcBef>
                  </a:pPr>
                  <a:endParaRPr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</p:grpSp>
        </p:grpSp>
        <p:sp>
          <p:nvSpPr>
            <p:cNvPr id="48" name="TextBox 16">
              <a:extLst>
                <a:ext uri="{FF2B5EF4-FFF2-40B4-BE49-F238E27FC236}">
                  <a16:creationId xmlns:a16="http://schemas.microsoft.com/office/drawing/2014/main" id="{E9CDCB8F-2D94-C5A7-5B78-10DB8F49A820}"/>
                </a:ext>
              </a:extLst>
            </p:cNvPr>
            <p:cNvSpPr txBox="1"/>
            <p:nvPr/>
          </p:nvSpPr>
          <p:spPr>
            <a:xfrm>
              <a:off x="2560503" y="4326544"/>
              <a:ext cx="2422689" cy="5404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98"/>
                </a:lnSpc>
              </a:pPr>
              <a:r>
                <a:rPr lang="en-US" sz="3149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Player</a:t>
              </a:r>
            </a:p>
          </p:txBody>
        </p:sp>
        <p:sp>
          <p:nvSpPr>
            <p:cNvPr id="49" name="TextBox 17">
              <a:extLst>
                <a:ext uri="{FF2B5EF4-FFF2-40B4-BE49-F238E27FC236}">
                  <a16:creationId xmlns:a16="http://schemas.microsoft.com/office/drawing/2014/main" id="{13997616-E8EC-E5A4-853E-3645BE443A8C}"/>
                </a:ext>
              </a:extLst>
            </p:cNvPr>
            <p:cNvSpPr txBox="1"/>
            <p:nvPr/>
          </p:nvSpPr>
          <p:spPr>
            <a:xfrm>
              <a:off x="2819400" y="5359949"/>
              <a:ext cx="2443670" cy="145995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lvl="0" indent="-342900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2100" b="1" u="none" strike="noStrike" spc="-73" dirty="0" err="1">
                  <a:solidFill>
                    <a:srgbClr val="4D4D4D">
                      <a:alpha val="61961"/>
                    </a:srgb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PlayerID</a:t>
              </a:r>
              <a:endPara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  <a:p>
              <a:pPr marL="342900" lvl="0" indent="-342900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2100" b="1" u="none" strike="noStrike" spc="-73" dirty="0">
                  <a:solidFill>
                    <a:srgbClr val="4D4D4D">
                      <a:alpha val="61961"/>
                    </a:srgb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Money</a:t>
              </a:r>
            </a:p>
            <a:p>
              <a:pPr marL="342900" lvl="0" indent="-342900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2100" b="1" u="none" strike="noStrike" spc="-73" dirty="0">
                  <a:solidFill>
                    <a:srgbClr val="4D4D4D">
                      <a:alpha val="61961"/>
                    </a:srgb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Tier</a:t>
              </a:r>
            </a:p>
            <a:p>
              <a:pPr marL="342900" lvl="0" indent="-342900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2100" b="1" u="none" strike="noStrike" spc="-73" dirty="0" err="1">
                  <a:solidFill>
                    <a:srgbClr val="4D4D4D">
                      <a:alpha val="61961"/>
                    </a:srgb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LicenseBits</a:t>
              </a:r>
              <a:endPara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02B17BAE-5D2C-18DC-64A2-101052C689B6}"/>
              </a:ext>
            </a:extLst>
          </p:cNvPr>
          <p:cNvGrpSpPr/>
          <p:nvPr/>
        </p:nvGrpSpPr>
        <p:grpSpPr>
          <a:xfrm>
            <a:off x="10393597" y="2508253"/>
            <a:ext cx="3886099" cy="3006616"/>
            <a:chOff x="1828799" y="4190568"/>
            <a:chExt cx="3886099" cy="3006616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DA3C0105-5397-5F04-CEBF-E6C334AD980F}"/>
                </a:ext>
              </a:extLst>
            </p:cNvPr>
            <p:cNvGrpSpPr/>
            <p:nvPr/>
          </p:nvGrpSpPr>
          <p:grpSpPr>
            <a:xfrm>
              <a:off x="1828799" y="4190568"/>
              <a:ext cx="3886099" cy="3006616"/>
              <a:chOff x="839495" y="4190568"/>
              <a:chExt cx="4875404" cy="3006616"/>
            </a:xfrm>
          </p:grpSpPr>
          <p:grpSp>
            <p:nvGrpSpPr>
              <p:cNvPr id="9" name="Group 10">
                <a:extLst>
                  <a:ext uri="{FF2B5EF4-FFF2-40B4-BE49-F238E27FC236}">
                    <a16:creationId xmlns:a16="http://schemas.microsoft.com/office/drawing/2014/main" id="{CEB40070-EE58-8A5D-B293-A58C8C1920C3}"/>
                  </a:ext>
                </a:extLst>
              </p:cNvPr>
              <p:cNvGrpSpPr/>
              <p:nvPr/>
            </p:nvGrpSpPr>
            <p:grpSpPr>
              <a:xfrm>
                <a:off x="839495" y="4190568"/>
                <a:ext cx="4875404" cy="3006616"/>
                <a:chOff x="0" y="0"/>
                <a:chExt cx="1284057" cy="791866"/>
              </a:xfrm>
            </p:grpSpPr>
            <p:sp>
              <p:nvSpPr>
                <p:cNvPr id="19" name="Freeform 11">
                  <a:extLst>
                    <a:ext uri="{FF2B5EF4-FFF2-40B4-BE49-F238E27FC236}">
                      <a16:creationId xmlns:a16="http://schemas.microsoft.com/office/drawing/2014/main" id="{40FA9B92-1F3E-D970-DF5F-E4A7000B44C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84057" cy="791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4057" h="791866">
                      <a:moveTo>
                        <a:pt x="0" y="0"/>
                      </a:moveTo>
                      <a:lnTo>
                        <a:pt x="1284057" y="0"/>
                      </a:lnTo>
                      <a:lnTo>
                        <a:pt x="1284057" y="791866"/>
                      </a:lnTo>
                      <a:lnTo>
                        <a:pt x="0" y="791866"/>
                      </a:lnTo>
                      <a:close/>
                    </a:path>
                  </a:pathLst>
                </a:custGeom>
                <a:solidFill>
                  <a:srgbClr val="FDFDFB"/>
                </a:solidFill>
                <a:ln w="19050" cap="sq">
                  <a:solidFill>
                    <a:srgbClr val="C8C8C6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  <p:sp>
              <p:nvSpPr>
                <p:cNvPr id="20" name="TextBox 12">
                  <a:extLst>
                    <a:ext uri="{FF2B5EF4-FFF2-40B4-BE49-F238E27FC236}">
                      <a16:creationId xmlns:a16="http://schemas.microsoft.com/office/drawing/2014/main" id="{7FFC72B5-F6F1-9AE2-680F-30BB1EE421F1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284057" cy="820441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lnSpc>
                      <a:spcPts val="2833"/>
                    </a:lnSpc>
                    <a:spcBef>
                      <a:spcPct val="0"/>
                    </a:spcBef>
                  </a:pPr>
                  <a:endParaRPr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</p:grpSp>
          <p:grpSp>
            <p:nvGrpSpPr>
              <p:cNvPr id="10" name="Group 13">
                <a:extLst>
                  <a:ext uri="{FF2B5EF4-FFF2-40B4-BE49-F238E27FC236}">
                    <a16:creationId xmlns:a16="http://schemas.microsoft.com/office/drawing/2014/main" id="{08EBA9FA-184D-6522-CA76-BEECB8E6457A}"/>
                  </a:ext>
                </a:extLst>
              </p:cNvPr>
              <p:cNvGrpSpPr/>
              <p:nvPr/>
            </p:nvGrpSpPr>
            <p:grpSpPr>
              <a:xfrm>
                <a:off x="839495" y="4190568"/>
                <a:ext cx="4875404" cy="848787"/>
                <a:chOff x="0" y="0"/>
                <a:chExt cx="1284057" cy="235018"/>
              </a:xfrm>
            </p:grpSpPr>
            <p:sp>
              <p:nvSpPr>
                <p:cNvPr id="11" name="Freeform 14">
                  <a:extLst>
                    <a:ext uri="{FF2B5EF4-FFF2-40B4-BE49-F238E27FC236}">
                      <a16:creationId xmlns:a16="http://schemas.microsoft.com/office/drawing/2014/main" id="{E30745AC-D2D3-A8A9-9685-D67A0A25C95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84057" cy="2350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4057" h="235018">
                      <a:moveTo>
                        <a:pt x="0" y="0"/>
                      </a:moveTo>
                      <a:lnTo>
                        <a:pt x="1284057" y="0"/>
                      </a:lnTo>
                      <a:lnTo>
                        <a:pt x="1284057" y="235018"/>
                      </a:lnTo>
                      <a:lnTo>
                        <a:pt x="0" y="235018"/>
                      </a:lnTo>
                      <a:close/>
                    </a:path>
                  </a:pathLst>
                </a:custGeom>
                <a:solidFill>
                  <a:srgbClr val="F1F1F1"/>
                </a:solidFill>
                <a:ln w="19050" cap="sq">
                  <a:solidFill>
                    <a:srgbClr val="C8C8C6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  <p:sp>
              <p:nvSpPr>
                <p:cNvPr id="18" name="TextBox 15">
                  <a:extLst>
                    <a:ext uri="{FF2B5EF4-FFF2-40B4-BE49-F238E27FC236}">
                      <a16:creationId xmlns:a16="http://schemas.microsoft.com/office/drawing/2014/main" id="{DC92E783-FA37-0319-59BB-DD0A8C51EADB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284057" cy="26359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lnSpc>
                      <a:spcPts val="2833"/>
                    </a:lnSpc>
                    <a:spcBef>
                      <a:spcPct val="0"/>
                    </a:spcBef>
                  </a:pPr>
                  <a:endParaRPr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</p:grpSp>
        </p:grpSp>
        <p:sp>
          <p:nvSpPr>
            <p:cNvPr id="7" name="TextBox 16">
              <a:extLst>
                <a:ext uri="{FF2B5EF4-FFF2-40B4-BE49-F238E27FC236}">
                  <a16:creationId xmlns:a16="http://schemas.microsoft.com/office/drawing/2014/main" id="{11869997-8A76-74AB-C2A0-F4DF75711C52}"/>
                </a:ext>
              </a:extLst>
            </p:cNvPr>
            <p:cNvSpPr txBox="1"/>
            <p:nvPr/>
          </p:nvSpPr>
          <p:spPr>
            <a:xfrm>
              <a:off x="2560503" y="4326544"/>
              <a:ext cx="2422689" cy="5404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98"/>
                </a:lnSpc>
              </a:pPr>
              <a:r>
                <a:rPr lang="en-US" sz="3149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NPC</a:t>
              </a:r>
            </a:p>
          </p:txBody>
        </p:sp>
        <p:sp>
          <p:nvSpPr>
            <p:cNvPr id="8" name="TextBox 17">
              <a:extLst>
                <a:ext uri="{FF2B5EF4-FFF2-40B4-BE49-F238E27FC236}">
                  <a16:creationId xmlns:a16="http://schemas.microsoft.com/office/drawing/2014/main" id="{31C54AC9-8149-DF94-02CC-507FC993ECCC}"/>
                </a:ext>
              </a:extLst>
            </p:cNvPr>
            <p:cNvSpPr txBox="1"/>
            <p:nvPr/>
          </p:nvSpPr>
          <p:spPr>
            <a:xfrm>
              <a:off x="2819400" y="5359949"/>
              <a:ext cx="2443670" cy="145995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lvl="0" indent="-342900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2100" b="1" u="none" strike="noStrike" spc="-73" dirty="0" err="1">
                  <a:solidFill>
                    <a:srgbClr val="4D4D4D">
                      <a:alpha val="61961"/>
                    </a:srgb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NpcID</a:t>
              </a:r>
              <a:endPara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  <a:p>
              <a:pPr marL="342900" lvl="0" indent="-342900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2100" b="1" u="none" strike="noStrike" spc="-73" dirty="0" err="1">
                  <a:solidFill>
                    <a:srgbClr val="4D4D4D">
                      <a:alpha val="61961"/>
                    </a:srgb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MBTI_Type</a:t>
              </a:r>
              <a:endPara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  <a:p>
              <a:pPr marL="342900" lvl="0" indent="-342900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2100" b="1" u="none" strike="noStrike" spc="-73" dirty="0" err="1">
                  <a:solidFill>
                    <a:srgbClr val="4D4D4D">
                      <a:alpha val="61961"/>
                    </a:srgb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JobID</a:t>
              </a:r>
              <a:endPara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  <a:p>
              <a:pPr marL="342900" lvl="0" indent="-342900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2100" b="1" u="none" strike="noStrike" spc="-73" dirty="0">
                  <a:solidFill>
                    <a:srgbClr val="4D4D4D">
                      <a:alpha val="61961"/>
                    </a:srgb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Happiness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B40EC5D-9C0F-BC72-AC1C-34FE0A4C7DFA}"/>
              </a:ext>
            </a:extLst>
          </p:cNvPr>
          <p:cNvGrpSpPr/>
          <p:nvPr/>
        </p:nvGrpSpPr>
        <p:grpSpPr>
          <a:xfrm>
            <a:off x="3543298" y="6195932"/>
            <a:ext cx="3352700" cy="823402"/>
            <a:chOff x="3543298" y="6195932"/>
            <a:chExt cx="3352700" cy="823402"/>
          </a:xfrm>
        </p:grpSpPr>
        <p:grpSp>
          <p:nvGrpSpPr>
            <p:cNvPr id="21" name="Group 13">
              <a:extLst>
                <a:ext uri="{FF2B5EF4-FFF2-40B4-BE49-F238E27FC236}">
                  <a16:creationId xmlns:a16="http://schemas.microsoft.com/office/drawing/2014/main" id="{EE911EF9-F2DC-1B2D-65D9-C7E19FAFAB59}"/>
                </a:ext>
              </a:extLst>
            </p:cNvPr>
            <p:cNvGrpSpPr/>
            <p:nvPr/>
          </p:nvGrpSpPr>
          <p:grpSpPr>
            <a:xfrm>
              <a:off x="3543298" y="6195932"/>
              <a:ext cx="3352699" cy="823402"/>
              <a:chOff x="0" y="0"/>
              <a:chExt cx="1284057" cy="235018"/>
            </a:xfrm>
          </p:grpSpPr>
          <p:sp>
            <p:nvSpPr>
              <p:cNvPr id="22" name="Freeform 14">
                <a:extLst>
                  <a:ext uri="{FF2B5EF4-FFF2-40B4-BE49-F238E27FC236}">
                    <a16:creationId xmlns:a16="http://schemas.microsoft.com/office/drawing/2014/main" id="{8A65EFD0-6F5E-DF31-13D7-6339A69BD188}"/>
                  </a:ext>
                </a:extLst>
              </p:cNvPr>
              <p:cNvSpPr/>
              <p:nvPr/>
            </p:nvSpPr>
            <p:spPr>
              <a:xfrm>
                <a:off x="0" y="0"/>
                <a:ext cx="1284057" cy="235018"/>
              </a:xfrm>
              <a:custGeom>
                <a:avLst/>
                <a:gdLst/>
                <a:ahLst/>
                <a:cxnLst/>
                <a:rect l="l" t="t" r="r" b="b"/>
                <a:pathLst>
                  <a:path w="1284057" h="235018">
                    <a:moveTo>
                      <a:pt x="0" y="0"/>
                    </a:moveTo>
                    <a:lnTo>
                      <a:pt x="1284057" y="0"/>
                    </a:lnTo>
                    <a:lnTo>
                      <a:pt x="1284057" y="235018"/>
                    </a:lnTo>
                    <a:lnTo>
                      <a:pt x="0" y="235018"/>
                    </a:lnTo>
                    <a:close/>
                  </a:path>
                </a:pathLst>
              </a:custGeom>
              <a:solidFill>
                <a:srgbClr val="F1F1F1"/>
              </a:solidFill>
              <a:ln w="19050" cap="sq">
                <a:solidFill>
                  <a:srgbClr val="C8C8C6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23" name="TextBox 15">
                <a:extLst>
                  <a:ext uri="{FF2B5EF4-FFF2-40B4-BE49-F238E27FC236}">
                    <a16:creationId xmlns:a16="http://schemas.microsoft.com/office/drawing/2014/main" id="{8F8581BC-2DED-9547-BC77-477B1A05A753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284057" cy="2635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33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24" name="TextBox 16">
              <a:extLst>
                <a:ext uri="{FF2B5EF4-FFF2-40B4-BE49-F238E27FC236}">
                  <a16:creationId xmlns:a16="http://schemas.microsoft.com/office/drawing/2014/main" id="{26797D90-1174-A2A7-4E46-6DB66EF64328}"/>
                </a:ext>
              </a:extLst>
            </p:cNvPr>
            <p:cNvSpPr txBox="1"/>
            <p:nvPr/>
          </p:nvSpPr>
          <p:spPr>
            <a:xfrm>
              <a:off x="3543298" y="6318758"/>
              <a:ext cx="3352700" cy="5295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459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인벤토리</a:t>
              </a:r>
              <a:endParaRPr kumimoji="0" lang="en-US" sz="2800" b="1" i="0" u="none" strike="noStrike" kern="1200" cap="none" spc="-16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</p:txBody>
        </p:sp>
      </p:grp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24C6D9D-9E4E-B9AD-8FCB-5525C5ED9DDA}"/>
              </a:ext>
            </a:extLst>
          </p:cNvPr>
          <p:cNvCxnSpPr>
            <a:cxnSpLocks/>
            <a:stCxn id="44" idx="2"/>
          </p:cNvCxnSpPr>
          <p:nvPr/>
        </p:nvCxnSpPr>
        <p:spPr>
          <a:xfrm flipH="1">
            <a:off x="5219647" y="5583802"/>
            <a:ext cx="3" cy="673824"/>
          </a:xfrm>
          <a:prstGeom prst="line">
            <a:avLst/>
          </a:prstGeom>
          <a:ln w="38100">
            <a:solidFill>
              <a:srgbClr val="06402B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FD7777DD-FD97-D6D5-2A7F-634A716FBD9E}"/>
              </a:ext>
            </a:extLst>
          </p:cNvPr>
          <p:cNvGrpSpPr/>
          <p:nvPr/>
        </p:nvGrpSpPr>
        <p:grpSpPr>
          <a:xfrm>
            <a:off x="10668000" y="6150162"/>
            <a:ext cx="3352700" cy="823402"/>
            <a:chOff x="3543298" y="6195932"/>
            <a:chExt cx="3352700" cy="823402"/>
          </a:xfrm>
        </p:grpSpPr>
        <p:grpSp>
          <p:nvGrpSpPr>
            <p:cNvPr id="30" name="Group 13">
              <a:extLst>
                <a:ext uri="{FF2B5EF4-FFF2-40B4-BE49-F238E27FC236}">
                  <a16:creationId xmlns:a16="http://schemas.microsoft.com/office/drawing/2014/main" id="{4D94A4A6-0686-33EC-48BE-7229B91C9A9F}"/>
                </a:ext>
              </a:extLst>
            </p:cNvPr>
            <p:cNvGrpSpPr/>
            <p:nvPr/>
          </p:nvGrpSpPr>
          <p:grpSpPr>
            <a:xfrm>
              <a:off x="3543298" y="6195932"/>
              <a:ext cx="3352699" cy="823402"/>
              <a:chOff x="0" y="0"/>
              <a:chExt cx="1284057" cy="235018"/>
            </a:xfrm>
          </p:grpSpPr>
          <p:sp>
            <p:nvSpPr>
              <p:cNvPr id="32" name="Freeform 14">
                <a:extLst>
                  <a:ext uri="{FF2B5EF4-FFF2-40B4-BE49-F238E27FC236}">
                    <a16:creationId xmlns:a16="http://schemas.microsoft.com/office/drawing/2014/main" id="{98A05373-A5D1-2375-F41C-36DCA651DB68}"/>
                  </a:ext>
                </a:extLst>
              </p:cNvPr>
              <p:cNvSpPr/>
              <p:nvPr/>
            </p:nvSpPr>
            <p:spPr>
              <a:xfrm>
                <a:off x="0" y="0"/>
                <a:ext cx="1284057" cy="235018"/>
              </a:xfrm>
              <a:custGeom>
                <a:avLst/>
                <a:gdLst/>
                <a:ahLst/>
                <a:cxnLst/>
                <a:rect l="l" t="t" r="r" b="b"/>
                <a:pathLst>
                  <a:path w="1284057" h="235018">
                    <a:moveTo>
                      <a:pt x="0" y="0"/>
                    </a:moveTo>
                    <a:lnTo>
                      <a:pt x="1284057" y="0"/>
                    </a:lnTo>
                    <a:lnTo>
                      <a:pt x="1284057" y="235018"/>
                    </a:lnTo>
                    <a:lnTo>
                      <a:pt x="0" y="235018"/>
                    </a:lnTo>
                    <a:close/>
                  </a:path>
                </a:pathLst>
              </a:custGeom>
              <a:solidFill>
                <a:srgbClr val="F1F1F1"/>
              </a:solidFill>
              <a:ln w="19050" cap="sq">
                <a:solidFill>
                  <a:srgbClr val="C8C8C6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33" name="TextBox 15">
                <a:extLst>
                  <a:ext uri="{FF2B5EF4-FFF2-40B4-BE49-F238E27FC236}">
                    <a16:creationId xmlns:a16="http://schemas.microsoft.com/office/drawing/2014/main" id="{3BFF0C66-B295-6DB2-596D-99D18CCAF8FF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284057" cy="2635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33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31" name="TextBox 16">
              <a:extLst>
                <a:ext uri="{FF2B5EF4-FFF2-40B4-BE49-F238E27FC236}">
                  <a16:creationId xmlns:a16="http://schemas.microsoft.com/office/drawing/2014/main" id="{B42219BA-2E5A-D492-0807-00B8AE818253}"/>
                </a:ext>
              </a:extLst>
            </p:cNvPr>
            <p:cNvSpPr txBox="1"/>
            <p:nvPr/>
          </p:nvSpPr>
          <p:spPr>
            <a:xfrm>
              <a:off x="3543298" y="6318758"/>
              <a:ext cx="3352700" cy="5295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459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인벤토리</a:t>
              </a:r>
              <a:endParaRPr kumimoji="0" lang="en-US" sz="2800" b="1" i="0" u="none" strike="noStrike" kern="1200" cap="none" spc="-16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</p:txBody>
        </p:sp>
      </p:grp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CF8BCA7-B223-E033-C34E-5CB62D9743A0}"/>
              </a:ext>
            </a:extLst>
          </p:cNvPr>
          <p:cNvCxnSpPr>
            <a:cxnSpLocks/>
          </p:cNvCxnSpPr>
          <p:nvPr/>
        </p:nvCxnSpPr>
        <p:spPr>
          <a:xfrm flipH="1">
            <a:off x="12344349" y="5538032"/>
            <a:ext cx="3" cy="673824"/>
          </a:xfrm>
          <a:prstGeom prst="line">
            <a:avLst/>
          </a:prstGeom>
          <a:ln w="38100">
            <a:solidFill>
              <a:srgbClr val="06402B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17">
            <a:extLst>
              <a:ext uri="{FF2B5EF4-FFF2-40B4-BE49-F238E27FC236}">
                <a16:creationId xmlns:a16="http://schemas.microsoft.com/office/drawing/2014/main" id="{1F7518A0-DCED-EFE4-982A-D072320FAA47}"/>
              </a:ext>
            </a:extLst>
          </p:cNvPr>
          <p:cNvSpPr txBox="1"/>
          <p:nvPr/>
        </p:nvSpPr>
        <p:spPr>
          <a:xfrm>
            <a:off x="5219646" y="5717736"/>
            <a:ext cx="1376864" cy="344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1:1</a:t>
            </a:r>
          </a:p>
        </p:txBody>
      </p:sp>
      <p:sp>
        <p:nvSpPr>
          <p:cNvPr id="37" name="TextBox 17">
            <a:extLst>
              <a:ext uri="{FF2B5EF4-FFF2-40B4-BE49-F238E27FC236}">
                <a16:creationId xmlns:a16="http://schemas.microsoft.com/office/drawing/2014/main" id="{317AA385-AD54-A1B1-1F2A-23DFCEB668A3}"/>
              </a:ext>
            </a:extLst>
          </p:cNvPr>
          <p:cNvSpPr txBox="1"/>
          <p:nvPr/>
        </p:nvSpPr>
        <p:spPr>
          <a:xfrm>
            <a:off x="12290741" y="5675508"/>
            <a:ext cx="1376864" cy="344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1:1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15B9C31-25AF-4CF4-6508-00CADA385037}"/>
              </a:ext>
            </a:extLst>
          </p:cNvPr>
          <p:cNvGrpSpPr/>
          <p:nvPr/>
        </p:nvGrpSpPr>
        <p:grpSpPr>
          <a:xfrm>
            <a:off x="13258800" y="7519273"/>
            <a:ext cx="3352700" cy="823402"/>
            <a:chOff x="3543298" y="6195932"/>
            <a:chExt cx="3352700" cy="823402"/>
          </a:xfrm>
        </p:grpSpPr>
        <p:grpSp>
          <p:nvGrpSpPr>
            <p:cNvPr id="39" name="Group 13">
              <a:extLst>
                <a:ext uri="{FF2B5EF4-FFF2-40B4-BE49-F238E27FC236}">
                  <a16:creationId xmlns:a16="http://schemas.microsoft.com/office/drawing/2014/main" id="{C85EBA7E-2C79-1B24-2C23-F34C412F0F7B}"/>
                </a:ext>
              </a:extLst>
            </p:cNvPr>
            <p:cNvGrpSpPr/>
            <p:nvPr/>
          </p:nvGrpSpPr>
          <p:grpSpPr>
            <a:xfrm>
              <a:off x="3543298" y="6195932"/>
              <a:ext cx="3352699" cy="823402"/>
              <a:chOff x="0" y="0"/>
              <a:chExt cx="1284057" cy="235018"/>
            </a:xfrm>
          </p:grpSpPr>
          <p:sp>
            <p:nvSpPr>
              <p:cNvPr id="41" name="Freeform 14">
                <a:extLst>
                  <a:ext uri="{FF2B5EF4-FFF2-40B4-BE49-F238E27FC236}">
                    <a16:creationId xmlns:a16="http://schemas.microsoft.com/office/drawing/2014/main" id="{FEE2DBC7-2FFB-DC2A-CDB4-CD5C51EE02E9}"/>
                  </a:ext>
                </a:extLst>
              </p:cNvPr>
              <p:cNvSpPr/>
              <p:nvPr/>
            </p:nvSpPr>
            <p:spPr>
              <a:xfrm>
                <a:off x="0" y="0"/>
                <a:ext cx="1284057" cy="235018"/>
              </a:xfrm>
              <a:custGeom>
                <a:avLst/>
                <a:gdLst/>
                <a:ahLst/>
                <a:cxnLst/>
                <a:rect l="l" t="t" r="r" b="b"/>
                <a:pathLst>
                  <a:path w="1284057" h="235018">
                    <a:moveTo>
                      <a:pt x="0" y="0"/>
                    </a:moveTo>
                    <a:lnTo>
                      <a:pt x="1284057" y="0"/>
                    </a:lnTo>
                    <a:lnTo>
                      <a:pt x="1284057" y="235018"/>
                    </a:lnTo>
                    <a:lnTo>
                      <a:pt x="0" y="235018"/>
                    </a:lnTo>
                    <a:close/>
                  </a:path>
                </a:pathLst>
              </a:custGeom>
              <a:solidFill>
                <a:srgbClr val="F1F1F1"/>
              </a:solidFill>
              <a:ln w="19050" cap="sq">
                <a:solidFill>
                  <a:srgbClr val="C8C8C6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66" name="TextBox 15">
                <a:extLst>
                  <a:ext uri="{FF2B5EF4-FFF2-40B4-BE49-F238E27FC236}">
                    <a16:creationId xmlns:a16="http://schemas.microsoft.com/office/drawing/2014/main" id="{E7FE1C39-D7DF-54D8-466A-A45D01C426AC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284057" cy="2635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33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40" name="TextBox 16">
              <a:extLst>
                <a:ext uri="{FF2B5EF4-FFF2-40B4-BE49-F238E27FC236}">
                  <a16:creationId xmlns:a16="http://schemas.microsoft.com/office/drawing/2014/main" id="{9D5EF87A-38A4-E443-B5F9-51B7ECE60501}"/>
                </a:ext>
              </a:extLst>
            </p:cNvPr>
            <p:cNvSpPr txBox="1"/>
            <p:nvPr/>
          </p:nvSpPr>
          <p:spPr>
            <a:xfrm>
              <a:off x="3543298" y="6318758"/>
              <a:ext cx="3352700" cy="5295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459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800" b="1" spc="-160" dirty="0" err="1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ItemInstance</a:t>
              </a:r>
              <a:r>
                <a:rPr lang="en-US" altLang="ko-KR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 ( </a:t>
              </a:r>
              <a:r>
                <a:rPr lang="ko-KR" altLang="en-US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원목 </a:t>
              </a:r>
              <a:r>
                <a:rPr lang="en-US" altLang="ko-KR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)</a:t>
              </a:r>
              <a:endParaRPr kumimoji="0" lang="en-US" sz="2800" b="1" i="0" u="none" strike="noStrike" kern="1200" cap="none" spc="-16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5439F279-07A3-382B-2C07-35104BF97689}"/>
              </a:ext>
            </a:extLst>
          </p:cNvPr>
          <p:cNvGrpSpPr/>
          <p:nvPr/>
        </p:nvGrpSpPr>
        <p:grpSpPr>
          <a:xfrm>
            <a:off x="985838" y="7375637"/>
            <a:ext cx="3352700" cy="823402"/>
            <a:chOff x="3543298" y="6195932"/>
            <a:chExt cx="3352700" cy="823402"/>
          </a:xfrm>
        </p:grpSpPr>
        <p:grpSp>
          <p:nvGrpSpPr>
            <p:cNvPr id="68" name="Group 13">
              <a:extLst>
                <a:ext uri="{FF2B5EF4-FFF2-40B4-BE49-F238E27FC236}">
                  <a16:creationId xmlns:a16="http://schemas.microsoft.com/office/drawing/2014/main" id="{E2C66C69-C161-437F-85E3-28ED70C91BB0}"/>
                </a:ext>
              </a:extLst>
            </p:cNvPr>
            <p:cNvGrpSpPr/>
            <p:nvPr/>
          </p:nvGrpSpPr>
          <p:grpSpPr>
            <a:xfrm>
              <a:off x="3543298" y="6195932"/>
              <a:ext cx="3352699" cy="823402"/>
              <a:chOff x="0" y="0"/>
              <a:chExt cx="1284057" cy="235018"/>
            </a:xfrm>
          </p:grpSpPr>
          <p:sp>
            <p:nvSpPr>
              <p:cNvPr id="70" name="Freeform 14">
                <a:extLst>
                  <a:ext uri="{FF2B5EF4-FFF2-40B4-BE49-F238E27FC236}">
                    <a16:creationId xmlns:a16="http://schemas.microsoft.com/office/drawing/2014/main" id="{4429DFB5-83BC-26BD-912D-D3571D555D21}"/>
                  </a:ext>
                </a:extLst>
              </p:cNvPr>
              <p:cNvSpPr/>
              <p:nvPr/>
            </p:nvSpPr>
            <p:spPr>
              <a:xfrm>
                <a:off x="0" y="0"/>
                <a:ext cx="1284057" cy="235018"/>
              </a:xfrm>
              <a:custGeom>
                <a:avLst/>
                <a:gdLst/>
                <a:ahLst/>
                <a:cxnLst/>
                <a:rect l="l" t="t" r="r" b="b"/>
                <a:pathLst>
                  <a:path w="1284057" h="235018">
                    <a:moveTo>
                      <a:pt x="0" y="0"/>
                    </a:moveTo>
                    <a:lnTo>
                      <a:pt x="1284057" y="0"/>
                    </a:lnTo>
                    <a:lnTo>
                      <a:pt x="1284057" y="235018"/>
                    </a:lnTo>
                    <a:lnTo>
                      <a:pt x="0" y="235018"/>
                    </a:lnTo>
                    <a:close/>
                  </a:path>
                </a:pathLst>
              </a:custGeom>
              <a:solidFill>
                <a:srgbClr val="F1F1F1"/>
              </a:solidFill>
              <a:ln w="19050" cap="sq">
                <a:solidFill>
                  <a:srgbClr val="C8C8C6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71" name="TextBox 15">
                <a:extLst>
                  <a:ext uri="{FF2B5EF4-FFF2-40B4-BE49-F238E27FC236}">
                    <a16:creationId xmlns:a16="http://schemas.microsoft.com/office/drawing/2014/main" id="{AEA67D84-5768-D474-23FD-DB138DD87C9C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284057" cy="2635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33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69" name="TextBox 16">
              <a:extLst>
                <a:ext uri="{FF2B5EF4-FFF2-40B4-BE49-F238E27FC236}">
                  <a16:creationId xmlns:a16="http://schemas.microsoft.com/office/drawing/2014/main" id="{3D17A154-B862-C48F-2973-1096B9F9B62B}"/>
                </a:ext>
              </a:extLst>
            </p:cNvPr>
            <p:cNvSpPr txBox="1"/>
            <p:nvPr/>
          </p:nvSpPr>
          <p:spPr>
            <a:xfrm>
              <a:off x="3543298" y="6318758"/>
              <a:ext cx="3352700" cy="5171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459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400" b="1" spc="-160" dirty="0" err="1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ItemInstance</a:t>
              </a:r>
              <a:r>
                <a:rPr lang="en-US" altLang="ko-KR" sz="24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 ( </a:t>
              </a:r>
              <a:r>
                <a:rPr lang="ko-KR" altLang="en-US" sz="24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악세사리 </a:t>
              </a:r>
              <a:r>
                <a:rPr lang="en-US" altLang="ko-KR" sz="24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)</a:t>
              </a:r>
              <a:endParaRPr kumimoji="0" lang="en-US" sz="2400" b="1" i="0" u="none" strike="noStrike" kern="1200" cap="none" spc="-16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2A45F1A4-3B9A-85B9-151F-A650512B4A94}"/>
              </a:ext>
            </a:extLst>
          </p:cNvPr>
          <p:cNvGrpSpPr/>
          <p:nvPr/>
        </p:nvGrpSpPr>
        <p:grpSpPr>
          <a:xfrm>
            <a:off x="267261" y="3907073"/>
            <a:ext cx="2623080" cy="2204746"/>
            <a:chOff x="1828799" y="4082072"/>
            <a:chExt cx="3886099" cy="3115112"/>
          </a:xfrm>
        </p:grpSpPr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BB4D1626-3EF6-E856-9AB0-4F590C65F707}"/>
                </a:ext>
              </a:extLst>
            </p:cNvPr>
            <p:cNvGrpSpPr/>
            <p:nvPr/>
          </p:nvGrpSpPr>
          <p:grpSpPr>
            <a:xfrm>
              <a:off x="1828799" y="4082072"/>
              <a:ext cx="3886099" cy="3115112"/>
              <a:chOff x="839495" y="4082072"/>
              <a:chExt cx="4875404" cy="3115112"/>
            </a:xfrm>
          </p:grpSpPr>
          <p:grpSp>
            <p:nvGrpSpPr>
              <p:cNvPr id="76" name="Group 10">
                <a:extLst>
                  <a:ext uri="{FF2B5EF4-FFF2-40B4-BE49-F238E27FC236}">
                    <a16:creationId xmlns:a16="http://schemas.microsoft.com/office/drawing/2014/main" id="{F52ABF60-150F-F32C-75DE-84422B91074F}"/>
                  </a:ext>
                </a:extLst>
              </p:cNvPr>
              <p:cNvGrpSpPr/>
              <p:nvPr/>
            </p:nvGrpSpPr>
            <p:grpSpPr>
              <a:xfrm>
                <a:off x="839495" y="4082072"/>
                <a:ext cx="4875404" cy="3115112"/>
                <a:chOff x="0" y="-28575"/>
                <a:chExt cx="1284057" cy="820441"/>
              </a:xfrm>
            </p:grpSpPr>
            <p:sp>
              <p:nvSpPr>
                <p:cNvPr id="80" name="Freeform 11">
                  <a:extLst>
                    <a:ext uri="{FF2B5EF4-FFF2-40B4-BE49-F238E27FC236}">
                      <a16:creationId xmlns:a16="http://schemas.microsoft.com/office/drawing/2014/main" id="{2729D2CD-B60B-04E0-A407-46901A1746D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84057" cy="773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4057" h="791866">
                      <a:moveTo>
                        <a:pt x="0" y="0"/>
                      </a:moveTo>
                      <a:lnTo>
                        <a:pt x="1284057" y="0"/>
                      </a:lnTo>
                      <a:lnTo>
                        <a:pt x="1284057" y="791866"/>
                      </a:lnTo>
                      <a:lnTo>
                        <a:pt x="0" y="791866"/>
                      </a:lnTo>
                      <a:close/>
                    </a:path>
                  </a:pathLst>
                </a:custGeom>
                <a:solidFill>
                  <a:srgbClr val="FDFDFB"/>
                </a:solidFill>
                <a:ln w="19050" cap="sq">
                  <a:solidFill>
                    <a:srgbClr val="C8C8C6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  <p:sp>
              <p:nvSpPr>
                <p:cNvPr id="81" name="TextBox 12">
                  <a:extLst>
                    <a:ext uri="{FF2B5EF4-FFF2-40B4-BE49-F238E27FC236}">
                      <a16:creationId xmlns:a16="http://schemas.microsoft.com/office/drawing/2014/main" id="{E4C22C3A-1B54-4685-305F-D4C1ECE1B892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284057" cy="820441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lnSpc>
                      <a:spcPts val="2833"/>
                    </a:lnSpc>
                    <a:spcBef>
                      <a:spcPct val="0"/>
                    </a:spcBef>
                  </a:pPr>
                  <a:endParaRPr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</p:grpSp>
          <p:grpSp>
            <p:nvGrpSpPr>
              <p:cNvPr id="77" name="Group 13">
                <a:extLst>
                  <a:ext uri="{FF2B5EF4-FFF2-40B4-BE49-F238E27FC236}">
                    <a16:creationId xmlns:a16="http://schemas.microsoft.com/office/drawing/2014/main" id="{B0F3F2FF-DA1F-BC5D-4132-76679F1A9CCC}"/>
                  </a:ext>
                </a:extLst>
              </p:cNvPr>
              <p:cNvGrpSpPr/>
              <p:nvPr/>
            </p:nvGrpSpPr>
            <p:grpSpPr>
              <a:xfrm>
                <a:off x="839495" y="4190568"/>
                <a:ext cx="4875404" cy="848787"/>
                <a:chOff x="0" y="0"/>
                <a:chExt cx="1284057" cy="235018"/>
              </a:xfrm>
            </p:grpSpPr>
            <p:sp>
              <p:nvSpPr>
                <p:cNvPr id="78" name="Freeform 14">
                  <a:extLst>
                    <a:ext uri="{FF2B5EF4-FFF2-40B4-BE49-F238E27FC236}">
                      <a16:creationId xmlns:a16="http://schemas.microsoft.com/office/drawing/2014/main" id="{B102DE06-3FB0-8A38-6B58-9B9DDCD7D8D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84057" cy="2350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4057" h="235018">
                      <a:moveTo>
                        <a:pt x="0" y="0"/>
                      </a:moveTo>
                      <a:lnTo>
                        <a:pt x="1284057" y="0"/>
                      </a:lnTo>
                      <a:lnTo>
                        <a:pt x="1284057" y="235018"/>
                      </a:lnTo>
                      <a:lnTo>
                        <a:pt x="0" y="235018"/>
                      </a:lnTo>
                      <a:close/>
                    </a:path>
                  </a:pathLst>
                </a:custGeom>
                <a:solidFill>
                  <a:srgbClr val="F1F1F1"/>
                </a:solidFill>
                <a:ln w="19050" cap="sq">
                  <a:solidFill>
                    <a:srgbClr val="C8C8C6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  <p:sp>
              <p:nvSpPr>
                <p:cNvPr id="79" name="TextBox 15">
                  <a:extLst>
                    <a:ext uri="{FF2B5EF4-FFF2-40B4-BE49-F238E27FC236}">
                      <a16:creationId xmlns:a16="http://schemas.microsoft.com/office/drawing/2014/main" id="{D39EFB32-73E9-81D3-9107-089D3F7BE3EF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284057" cy="26359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lnSpc>
                      <a:spcPts val="2833"/>
                    </a:lnSpc>
                    <a:spcBef>
                      <a:spcPct val="0"/>
                    </a:spcBef>
                  </a:pPr>
                  <a:endParaRPr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</p:grpSp>
        </p:grpSp>
        <p:sp>
          <p:nvSpPr>
            <p:cNvPr id="74" name="TextBox 16">
              <a:extLst>
                <a:ext uri="{FF2B5EF4-FFF2-40B4-BE49-F238E27FC236}">
                  <a16:creationId xmlns:a16="http://schemas.microsoft.com/office/drawing/2014/main" id="{28D9A0D0-4B20-96D9-2D5D-6C111C610A4D}"/>
                </a:ext>
              </a:extLst>
            </p:cNvPr>
            <p:cNvSpPr txBox="1"/>
            <p:nvPr/>
          </p:nvSpPr>
          <p:spPr>
            <a:xfrm>
              <a:off x="2560504" y="4177192"/>
              <a:ext cx="2422689" cy="7306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98"/>
                </a:lnSpc>
              </a:pPr>
              <a:r>
                <a:rPr lang="en-US" sz="2400" b="1" spc="-160" dirty="0" err="1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ShopSlot</a:t>
              </a:r>
              <a:endParaRPr lang="en-US" sz="2400" b="1" spc="-16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</p:txBody>
        </p:sp>
        <p:sp>
          <p:nvSpPr>
            <p:cNvPr id="75" name="TextBox 17">
              <a:extLst>
                <a:ext uri="{FF2B5EF4-FFF2-40B4-BE49-F238E27FC236}">
                  <a16:creationId xmlns:a16="http://schemas.microsoft.com/office/drawing/2014/main" id="{FF625B52-A429-F89A-7168-E77E46FD1BB8}"/>
                </a:ext>
              </a:extLst>
            </p:cNvPr>
            <p:cNvSpPr txBox="1"/>
            <p:nvPr/>
          </p:nvSpPr>
          <p:spPr>
            <a:xfrm>
              <a:off x="2243221" y="5238223"/>
              <a:ext cx="3057253" cy="15240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lvl="0" indent="-342900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1600" b="1" u="none" strike="noStrike" spc="-73" dirty="0" err="1">
                  <a:solidFill>
                    <a:srgbClr val="4D4D4D">
                      <a:alpha val="61961"/>
                    </a:srgb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SlotID</a:t>
              </a:r>
              <a:endParaRPr lang="en-US" sz="16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  <a:p>
              <a:pPr marL="342900" lvl="0" indent="-342900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1600" b="1" u="none" strike="noStrike" spc="-73" dirty="0" err="1">
                  <a:solidFill>
                    <a:srgbClr val="4D4D4D">
                      <a:alpha val="61961"/>
                    </a:srgb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InstanceID</a:t>
              </a:r>
              <a:r>
                <a:rPr lang="en-US" sz="1600" b="1" u="none" strike="noStrike" spc="-73" dirty="0">
                  <a:solidFill>
                    <a:srgbClr val="4D4D4D">
                      <a:alpha val="61961"/>
                    </a:srgb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 (FK)</a:t>
              </a:r>
            </a:p>
            <a:p>
              <a:pPr marL="342900" lvl="0" indent="-342900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b="1" u="none" strike="noStrike" spc="-73" dirty="0" err="1">
                  <a:solidFill>
                    <a:srgbClr val="4D4D4D">
                      <a:alpha val="61961"/>
                    </a:srgb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DisplayPrice</a:t>
              </a:r>
              <a:r>
                <a:rPr lang="en-US" sz="1600" b="1" u="none" strike="noStrike" spc="-73" dirty="0">
                  <a:solidFill>
                    <a:srgbClr val="4D4D4D">
                      <a:alpha val="61961"/>
                    </a:srgb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 (int)</a:t>
              </a: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0E990346-5D28-BFC8-B99E-2A77C90D8C18}"/>
              </a:ext>
            </a:extLst>
          </p:cNvPr>
          <p:cNvGrpSpPr/>
          <p:nvPr/>
        </p:nvGrpSpPr>
        <p:grpSpPr>
          <a:xfrm>
            <a:off x="8460722" y="7401931"/>
            <a:ext cx="3352700" cy="823402"/>
            <a:chOff x="3543298" y="6195932"/>
            <a:chExt cx="3352700" cy="823402"/>
          </a:xfrm>
        </p:grpSpPr>
        <p:grpSp>
          <p:nvGrpSpPr>
            <p:cNvPr id="83" name="Group 13">
              <a:extLst>
                <a:ext uri="{FF2B5EF4-FFF2-40B4-BE49-F238E27FC236}">
                  <a16:creationId xmlns:a16="http://schemas.microsoft.com/office/drawing/2014/main" id="{F36DCA3E-4282-EB9D-3097-206E9EAB71F9}"/>
                </a:ext>
              </a:extLst>
            </p:cNvPr>
            <p:cNvGrpSpPr/>
            <p:nvPr/>
          </p:nvGrpSpPr>
          <p:grpSpPr>
            <a:xfrm>
              <a:off x="3543298" y="6195932"/>
              <a:ext cx="3352699" cy="823402"/>
              <a:chOff x="0" y="0"/>
              <a:chExt cx="1284057" cy="235018"/>
            </a:xfrm>
          </p:grpSpPr>
          <p:sp>
            <p:nvSpPr>
              <p:cNvPr id="85" name="Freeform 14">
                <a:extLst>
                  <a:ext uri="{FF2B5EF4-FFF2-40B4-BE49-F238E27FC236}">
                    <a16:creationId xmlns:a16="http://schemas.microsoft.com/office/drawing/2014/main" id="{9120DD4B-1E9B-3434-F873-E7DB8911BD4A}"/>
                  </a:ext>
                </a:extLst>
              </p:cNvPr>
              <p:cNvSpPr/>
              <p:nvPr/>
            </p:nvSpPr>
            <p:spPr>
              <a:xfrm>
                <a:off x="0" y="0"/>
                <a:ext cx="1284057" cy="235018"/>
              </a:xfrm>
              <a:custGeom>
                <a:avLst/>
                <a:gdLst/>
                <a:ahLst/>
                <a:cxnLst/>
                <a:rect l="l" t="t" r="r" b="b"/>
                <a:pathLst>
                  <a:path w="1284057" h="235018">
                    <a:moveTo>
                      <a:pt x="0" y="0"/>
                    </a:moveTo>
                    <a:lnTo>
                      <a:pt x="1284057" y="0"/>
                    </a:lnTo>
                    <a:lnTo>
                      <a:pt x="1284057" y="235018"/>
                    </a:lnTo>
                    <a:lnTo>
                      <a:pt x="0" y="235018"/>
                    </a:lnTo>
                    <a:close/>
                  </a:path>
                </a:pathLst>
              </a:custGeom>
              <a:solidFill>
                <a:srgbClr val="F1F1F1"/>
              </a:solidFill>
              <a:ln w="19050" cap="sq">
                <a:solidFill>
                  <a:srgbClr val="C8C8C6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86" name="TextBox 15">
                <a:extLst>
                  <a:ext uri="{FF2B5EF4-FFF2-40B4-BE49-F238E27FC236}">
                    <a16:creationId xmlns:a16="http://schemas.microsoft.com/office/drawing/2014/main" id="{3FF71F8E-C3D6-33BB-00AB-C5329CB47F53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284057" cy="2635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33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84" name="TextBox 16">
              <a:extLst>
                <a:ext uri="{FF2B5EF4-FFF2-40B4-BE49-F238E27FC236}">
                  <a16:creationId xmlns:a16="http://schemas.microsoft.com/office/drawing/2014/main" id="{CA636789-8347-4AD1-C1E6-B8129AE464CD}"/>
                </a:ext>
              </a:extLst>
            </p:cNvPr>
            <p:cNvSpPr txBox="1"/>
            <p:nvPr/>
          </p:nvSpPr>
          <p:spPr>
            <a:xfrm>
              <a:off x="3543298" y="6318758"/>
              <a:ext cx="3352700" cy="5295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459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800" b="1" spc="-160" dirty="0" err="1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ItemInstance</a:t>
              </a:r>
              <a:r>
                <a:rPr lang="en-US" altLang="ko-KR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 ( </a:t>
              </a:r>
              <a:r>
                <a:rPr lang="ko-KR" altLang="en-US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광물 </a:t>
              </a:r>
              <a:r>
                <a:rPr lang="en-US" altLang="ko-KR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)</a:t>
              </a:r>
              <a:endParaRPr kumimoji="0" lang="en-US" sz="2800" b="1" i="0" u="none" strike="noStrike" kern="1200" cap="none" spc="-16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E233B37B-A117-6224-6E81-5ACE462F25F3}"/>
              </a:ext>
            </a:extLst>
          </p:cNvPr>
          <p:cNvGrpSpPr/>
          <p:nvPr/>
        </p:nvGrpSpPr>
        <p:grpSpPr>
          <a:xfrm>
            <a:off x="9626473" y="8428991"/>
            <a:ext cx="3352700" cy="823402"/>
            <a:chOff x="3543298" y="6195932"/>
            <a:chExt cx="3352700" cy="823402"/>
          </a:xfrm>
        </p:grpSpPr>
        <p:grpSp>
          <p:nvGrpSpPr>
            <p:cNvPr id="88" name="Group 13">
              <a:extLst>
                <a:ext uri="{FF2B5EF4-FFF2-40B4-BE49-F238E27FC236}">
                  <a16:creationId xmlns:a16="http://schemas.microsoft.com/office/drawing/2014/main" id="{AFAE934D-7139-6B3F-8838-FA02EED450F3}"/>
                </a:ext>
              </a:extLst>
            </p:cNvPr>
            <p:cNvGrpSpPr/>
            <p:nvPr/>
          </p:nvGrpSpPr>
          <p:grpSpPr>
            <a:xfrm>
              <a:off x="3543298" y="6195932"/>
              <a:ext cx="3352699" cy="823402"/>
              <a:chOff x="0" y="0"/>
              <a:chExt cx="1284057" cy="235018"/>
            </a:xfrm>
          </p:grpSpPr>
          <p:sp>
            <p:nvSpPr>
              <p:cNvPr id="90" name="Freeform 14">
                <a:extLst>
                  <a:ext uri="{FF2B5EF4-FFF2-40B4-BE49-F238E27FC236}">
                    <a16:creationId xmlns:a16="http://schemas.microsoft.com/office/drawing/2014/main" id="{B7D1CF01-84B8-0590-8628-7F406C68AE31}"/>
                  </a:ext>
                </a:extLst>
              </p:cNvPr>
              <p:cNvSpPr/>
              <p:nvPr/>
            </p:nvSpPr>
            <p:spPr>
              <a:xfrm>
                <a:off x="0" y="0"/>
                <a:ext cx="1284057" cy="235018"/>
              </a:xfrm>
              <a:custGeom>
                <a:avLst/>
                <a:gdLst/>
                <a:ahLst/>
                <a:cxnLst/>
                <a:rect l="l" t="t" r="r" b="b"/>
                <a:pathLst>
                  <a:path w="1284057" h="235018">
                    <a:moveTo>
                      <a:pt x="0" y="0"/>
                    </a:moveTo>
                    <a:lnTo>
                      <a:pt x="1284057" y="0"/>
                    </a:lnTo>
                    <a:lnTo>
                      <a:pt x="1284057" y="235018"/>
                    </a:lnTo>
                    <a:lnTo>
                      <a:pt x="0" y="235018"/>
                    </a:lnTo>
                    <a:close/>
                  </a:path>
                </a:pathLst>
              </a:custGeom>
              <a:solidFill>
                <a:srgbClr val="F1F1F1"/>
              </a:solidFill>
              <a:ln w="19050" cap="sq">
                <a:solidFill>
                  <a:srgbClr val="C8C8C6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91" name="TextBox 15">
                <a:extLst>
                  <a:ext uri="{FF2B5EF4-FFF2-40B4-BE49-F238E27FC236}">
                    <a16:creationId xmlns:a16="http://schemas.microsoft.com/office/drawing/2014/main" id="{82490045-A2B9-23B9-6D5E-AF810D5D8137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284057" cy="2635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33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89" name="TextBox 16">
              <a:extLst>
                <a:ext uri="{FF2B5EF4-FFF2-40B4-BE49-F238E27FC236}">
                  <a16:creationId xmlns:a16="http://schemas.microsoft.com/office/drawing/2014/main" id="{A6CA50E8-8AB3-867D-BB04-87962E8C9F8A}"/>
                </a:ext>
              </a:extLst>
            </p:cNvPr>
            <p:cNvSpPr txBox="1"/>
            <p:nvPr/>
          </p:nvSpPr>
          <p:spPr>
            <a:xfrm>
              <a:off x="3543298" y="6318758"/>
              <a:ext cx="3352700" cy="5295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459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800" b="1" spc="-160" dirty="0" err="1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ItemInstance</a:t>
              </a:r>
              <a:r>
                <a:rPr lang="en-US" altLang="ko-KR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 ( </a:t>
              </a:r>
              <a:r>
                <a:rPr lang="ko-KR" altLang="en-US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생선 </a:t>
              </a:r>
              <a:r>
                <a:rPr lang="en-US" altLang="ko-KR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)</a:t>
              </a:r>
              <a:endParaRPr kumimoji="0" lang="en-US" sz="2800" b="1" i="0" u="none" strike="noStrike" kern="1200" cap="none" spc="-16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</p:txBody>
        </p:sp>
      </p:grp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87D5359B-1688-B82E-690C-D00265FE2520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10137071" y="6973564"/>
            <a:ext cx="2207279" cy="457865"/>
          </a:xfrm>
          <a:prstGeom prst="line">
            <a:avLst/>
          </a:prstGeom>
          <a:ln w="28575">
            <a:solidFill>
              <a:srgbClr val="0640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5D9A0FA-088C-BE52-6D7C-D07498F1AAEA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12344350" y="6973564"/>
            <a:ext cx="2590799" cy="533671"/>
          </a:xfrm>
          <a:prstGeom prst="line">
            <a:avLst/>
          </a:prstGeom>
          <a:ln w="28575">
            <a:solidFill>
              <a:srgbClr val="0640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7">
            <a:extLst>
              <a:ext uri="{FF2B5EF4-FFF2-40B4-BE49-F238E27FC236}">
                <a16:creationId xmlns:a16="http://schemas.microsoft.com/office/drawing/2014/main" id="{24C33799-4894-0201-56EA-3210B2BEE98E}"/>
              </a:ext>
            </a:extLst>
          </p:cNvPr>
          <p:cNvSpPr txBox="1"/>
          <p:nvPr/>
        </p:nvSpPr>
        <p:spPr>
          <a:xfrm>
            <a:off x="11813421" y="7207166"/>
            <a:ext cx="1376864" cy="344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1:N</a:t>
            </a:r>
          </a:p>
        </p:txBody>
      </p:sp>
      <p:sp>
        <p:nvSpPr>
          <p:cNvPr id="102" name="TextBox 17">
            <a:extLst>
              <a:ext uri="{FF2B5EF4-FFF2-40B4-BE49-F238E27FC236}">
                <a16:creationId xmlns:a16="http://schemas.microsoft.com/office/drawing/2014/main" id="{8D1E1917-5C72-9E6E-69D9-20F9E642A545}"/>
              </a:ext>
            </a:extLst>
          </p:cNvPr>
          <p:cNvSpPr txBox="1"/>
          <p:nvPr/>
        </p:nvSpPr>
        <p:spPr>
          <a:xfrm>
            <a:off x="4522537" y="7213492"/>
            <a:ext cx="1376864" cy="344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1:N</a:t>
            </a: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079B5BA6-D945-FD0C-B0AF-64CBA8E09766}"/>
              </a:ext>
            </a:extLst>
          </p:cNvPr>
          <p:cNvGrpSpPr/>
          <p:nvPr/>
        </p:nvGrpSpPr>
        <p:grpSpPr>
          <a:xfrm>
            <a:off x="4920160" y="7784728"/>
            <a:ext cx="3352700" cy="823402"/>
            <a:chOff x="3543298" y="6195932"/>
            <a:chExt cx="3352700" cy="823402"/>
          </a:xfrm>
        </p:grpSpPr>
        <p:grpSp>
          <p:nvGrpSpPr>
            <p:cNvPr id="104" name="Group 13">
              <a:extLst>
                <a:ext uri="{FF2B5EF4-FFF2-40B4-BE49-F238E27FC236}">
                  <a16:creationId xmlns:a16="http://schemas.microsoft.com/office/drawing/2014/main" id="{902065B0-8C99-B66B-D044-24B60D788319}"/>
                </a:ext>
              </a:extLst>
            </p:cNvPr>
            <p:cNvGrpSpPr/>
            <p:nvPr/>
          </p:nvGrpSpPr>
          <p:grpSpPr>
            <a:xfrm>
              <a:off x="3543298" y="6195932"/>
              <a:ext cx="3352699" cy="823402"/>
              <a:chOff x="0" y="0"/>
              <a:chExt cx="1284057" cy="235018"/>
            </a:xfrm>
          </p:grpSpPr>
          <p:sp>
            <p:nvSpPr>
              <p:cNvPr id="106" name="Freeform 14">
                <a:extLst>
                  <a:ext uri="{FF2B5EF4-FFF2-40B4-BE49-F238E27FC236}">
                    <a16:creationId xmlns:a16="http://schemas.microsoft.com/office/drawing/2014/main" id="{0901511F-73FC-BAD8-C1B9-678BA2810E24}"/>
                  </a:ext>
                </a:extLst>
              </p:cNvPr>
              <p:cNvSpPr/>
              <p:nvPr/>
            </p:nvSpPr>
            <p:spPr>
              <a:xfrm>
                <a:off x="0" y="0"/>
                <a:ext cx="1284057" cy="235018"/>
              </a:xfrm>
              <a:custGeom>
                <a:avLst/>
                <a:gdLst/>
                <a:ahLst/>
                <a:cxnLst/>
                <a:rect l="l" t="t" r="r" b="b"/>
                <a:pathLst>
                  <a:path w="1284057" h="235018">
                    <a:moveTo>
                      <a:pt x="0" y="0"/>
                    </a:moveTo>
                    <a:lnTo>
                      <a:pt x="1284057" y="0"/>
                    </a:lnTo>
                    <a:lnTo>
                      <a:pt x="1284057" y="235018"/>
                    </a:lnTo>
                    <a:lnTo>
                      <a:pt x="0" y="235018"/>
                    </a:lnTo>
                    <a:close/>
                  </a:path>
                </a:pathLst>
              </a:custGeom>
              <a:solidFill>
                <a:srgbClr val="F1F1F1"/>
              </a:solidFill>
              <a:ln w="19050" cap="sq">
                <a:solidFill>
                  <a:srgbClr val="C8C8C6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107" name="TextBox 15">
                <a:extLst>
                  <a:ext uri="{FF2B5EF4-FFF2-40B4-BE49-F238E27FC236}">
                    <a16:creationId xmlns:a16="http://schemas.microsoft.com/office/drawing/2014/main" id="{CA23DFC4-7380-F9D5-95E8-E86EF2B0EC1D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284057" cy="2635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33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105" name="TextBox 16">
              <a:extLst>
                <a:ext uri="{FF2B5EF4-FFF2-40B4-BE49-F238E27FC236}">
                  <a16:creationId xmlns:a16="http://schemas.microsoft.com/office/drawing/2014/main" id="{91A1C756-2093-1462-B25E-30BB1C1D0423}"/>
                </a:ext>
              </a:extLst>
            </p:cNvPr>
            <p:cNvSpPr txBox="1"/>
            <p:nvPr/>
          </p:nvSpPr>
          <p:spPr>
            <a:xfrm>
              <a:off x="3543298" y="6318758"/>
              <a:ext cx="3352700" cy="5295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459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800" b="1" spc="-160" dirty="0" err="1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ItemInstance</a:t>
              </a:r>
              <a:r>
                <a:rPr lang="en-US" altLang="ko-KR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 ( </a:t>
              </a:r>
              <a:r>
                <a:rPr lang="ko-KR" altLang="en-US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의자 </a:t>
              </a:r>
              <a:r>
                <a:rPr lang="en-US" altLang="ko-KR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)</a:t>
              </a:r>
              <a:endParaRPr kumimoji="0" lang="en-US" sz="2800" b="1" i="0" u="none" strike="noStrike" kern="1200" cap="none" spc="-16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</p:txBody>
        </p: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491D7D18-4330-37E7-2A27-FA4EBEFEA872}"/>
              </a:ext>
            </a:extLst>
          </p:cNvPr>
          <p:cNvGrpSpPr/>
          <p:nvPr/>
        </p:nvGrpSpPr>
        <p:grpSpPr>
          <a:xfrm>
            <a:off x="1358928" y="8499098"/>
            <a:ext cx="3352700" cy="823402"/>
            <a:chOff x="3543298" y="6195932"/>
            <a:chExt cx="3352700" cy="823402"/>
          </a:xfrm>
        </p:grpSpPr>
        <p:grpSp>
          <p:nvGrpSpPr>
            <p:cNvPr id="109" name="Group 13">
              <a:extLst>
                <a:ext uri="{FF2B5EF4-FFF2-40B4-BE49-F238E27FC236}">
                  <a16:creationId xmlns:a16="http://schemas.microsoft.com/office/drawing/2014/main" id="{D960A5CC-2A34-2AE8-FAE5-E9AE42B617DC}"/>
                </a:ext>
              </a:extLst>
            </p:cNvPr>
            <p:cNvGrpSpPr/>
            <p:nvPr/>
          </p:nvGrpSpPr>
          <p:grpSpPr>
            <a:xfrm>
              <a:off x="3543298" y="6195932"/>
              <a:ext cx="3352699" cy="823402"/>
              <a:chOff x="0" y="0"/>
              <a:chExt cx="1284057" cy="235018"/>
            </a:xfrm>
          </p:grpSpPr>
          <p:sp>
            <p:nvSpPr>
              <p:cNvPr id="111" name="Freeform 14">
                <a:extLst>
                  <a:ext uri="{FF2B5EF4-FFF2-40B4-BE49-F238E27FC236}">
                    <a16:creationId xmlns:a16="http://schemas.microsoft.com/office/drawing/2014/main" id="{A75F591D-597D-4841-7BFA-2A6F26FCA7C8}"/>
                  </a:ext>
                </a:extLst>
              </p:cNvPr>
              <p:cNvSpPr/>
              <p:nvPr/>
            </p:nvSpPr>
            <p:spPr>
              <a:xfrm>
                <a:off x="0" y="0"/>
                <a:ext cx="1284057" cy="235018"/>
              </a:xfrm>
              <a:custGeom>
                <a:avLst/>
                <a:gdLst/>
                <a:ahLst/>
                <a:cxnLst/>
                <a:rect l="l" t="t" r="r" b="b"/>
                <a:pathLst>
                  <a:path w="1284057" h="235018">
                    <a:moveTo>
                      <a:pt x="0" y="0"/>
                    </a:moveTo>
                    <a:lnTo>
                      <a:pt x="1284057" y="0"/>
                    </a:lnTo>
                    <a:lnTo>
                      <a:pt x="1284057" y="235018"/>
                    </a:lnTo>
                    <a:lnTo>
                      <a:pt x="0" y="235018"/>
                    </a:lnTo>
                    <a:close/>
                  </a:path>
                </a:pathLst>
              </a:custGeom>
              <a:solidFill>
                <a:srgbClr val="F1F1F1"/>
              </a:solidFill>
              <a:ln w="19050" cap="sq">
                <a:solidFill>
                  <a:srgbClr val="C8C8C6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112" name="TextBox 15">
                <a:extLst>
                  <a:ext uri="{FF2B5EF4-FFF2-40B4-BE49-F238E27FC236}">
                    <a16:creationId xmlns:a16="http://schemas.microsoft.com/office/drawing/2014/main" id="{05F5C327-6F64-CF05-8D7E-07C8873FF651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284057" cy="2635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33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110" name="TextBox 16">
              <a:extLst>
                <a:ext uri="{FF2B5EF4-FFF2-40B4-BE49-F238E27FC236}">
                  <a16:creationId xmlns:a16="http://schemas.microsoft.com/office/drawing/2014/main" id="{77EB9263-97D5-021A-65CB-42A2E42EF8E9}"/>
                </a:ext>
              </a:extLst>
            </p:cNvPr>
            <p:cNvSpPr txBox="1"/>
            <p:nvPr/>
          </p:nvSpPr>
          <p:spPr>
            <a:xfrm>
              <a:off x="3543298" y="6318758"/>
              <a:ext cx="3352700" cy="5171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459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400" b="1" spc="-160" dirty="0" err="1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ItemInstance</a:t>
              </a:r>
              <a:r>
                <a:rPr lang="en-US" altLang="ko-KR" sz="24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 ( </a:t>
              </a:r>
              <a:r>
                <a:rPr lang="ko-KR" altLang="en-US" sz="24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생선구이 </a:t>
              </a:r>
              <a:r>
                <a:rPr lang="en-US" altLang="ko-KR" sz="24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)</a:t>
              </a:r>
              <a:endParaRPr kumimoji="0" lang="en-US" sz="2400" b="1" i="0" u="none" strike="noStrike" kern="1200" cap="none" spc="-16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</p:txBody>
        </p:sp>
      </p:grp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73658EF-8B1D-77A3-4CB5-97E63E469E26}"/>
              </a:ext>
            </a:extLst>
          </p:cNvPr>
          <p:cNvCxnSpPr>
            <a:cxnSpLocks/>
          </p:cNvCxnSpPr>
          <p:nvPr/>
        </p:nvCxnSpPr>
        <p:spPr>
          <a:xfrm>
            <a:off x="5219646" y="7019334"/>
            <a:ext cx="1376863" cy="744240"/>
          </a:xfrm>
          <a:prstGeom prst="line">
            <a:avLst/>
          </a:prstGeom>
          <a:ln w="28575">
            <a:solidFill>
              <a:srgbClr val="0640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C95A6D25-90CF-C72D-93AA-56C7F499FAC2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2645544" y="7019334"/>
            <a:ext cx="2574104" cy="319017"/>
          </a:xfrm>
          <a:prstGeom prst="line">
            <a:avLst/>
          </a:prstGeom>
          <a:ln w="28575">
            <a:solidFill>
              <a:srgbClr val="0640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FEC971DA-17AF-290C-D01D-17B2A97221EE}"/>
              </a:ext>
            </a:extLst>
          </p:cNvPr>
          <p:cNvCxnSpPr>
            <a:cxnSpLocks/>
            <a:endCxn id="71" idx="0"/>
          </p:cNvCxnSpPr>
          <p:nvPr/>
        </p:nvCxnSpPr>
        <p:spPr>
          <a:xfrm>
            <a:off x="1578800" y="6272988"/>
            <a:ext cx="1083388" cy="1002534"/>
          </a:xfrm>
          <a:prstGeom prst="straightConnector1">
            <a:avLst/>
          </a:prstGeom>
          <a:ln w="28575">
            <a:solidFill>
              <a:srgbClr val="06402B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7">
            <a:extLst>
              <a:ext uri="{FF2B5EF4-FFF2-40B4-BE49-F238E27FC236}">
                <a16:creationId xmlns:a16="http://schemas.microsoft.com/office/drawing/2014/main" id="{94361499-333A-8D0E-9EB2-6AC582B21C29}"/>
              </a:ext>
            </a:extLst>
          </p:cNvPr>
          <p:cNvSpPr txBox="1"/>
          <p:nvPr/>
        </p:nvSpPr>
        <p:spPr>
          <a:xfrm>
            <a:off x="397037" y="6358845"/>
            <a:ext cx="1376864" cy="344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1:1</a:t>
            </a:r>
          </a:p>
        </p:txBody>
      </p:sp>
      <p:sp>
        <p:nvSpPr>
          <p:cNvPr id="129" name="TextBox 17">
            <a:extLst>
              <a:ext uri="{FF2B5EF4-FFF2-40B4-BE49-F238E27FC236}">
                <a16:creationId xmlns:a16="http://schemas.microsoft.com/office/drawing/2014/main" id="{F7E8E516-5950-0E27-A747-FE40357C0B7D}"/>
              </a:ext>
            </a:extLst>
          </p:cNvPr>
          <p:cNvSpPr txBox="1"/>
          <p:nvPr/>
        </p:nvSpPr>
        <p:spPr>
          <a:xfrm>
            <a:off x="8130888" y="3645016"/>
            <a:ext cx="1376864" cy="344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ko-KR" altLang="en-US" sz="2100" b="1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구매 판단</a:t>
            </a:r>
            <a:endParaRPr lang="en-US" sz="2100" b="1" u="none" strike="noStrike" spc="-73" dirty="0">
              <a:solidFill>
                <a:srgbClr val="4D4D4D">
                  <a:alpha val="61961"/>
                </a:srgb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97866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10095128"/>
            <a:ext cx="18506923" cy="191872"/>
          </a:xfrm>
          <a:custGeom>
            <a:avLst/>
            <a:gdLst/>
            <a:ahLst/>
            <a:cxnLst/>
            <a:rect l="l" t="t" r="r" b="b"/>
            <a:pathLst>
              <a:path w="18506923" h="191872">
                <a:moveTo>
                  <a:pt x="0" y="0"/>
                </a:moveTo>
                <a:lnTo>
                  <a:pt x="18506923" y="0"/>
                </a:lnTo>
                <a:lnTo>
                  <a:pt x="18506923" y="191872"/>
                </a:lnTo>
                <a:lnTo>
                  <a:pt x="0" y="1918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-139703" y="838200"/>
            <a:ext cx="18580103" cy="12697"/>
            <a:chOff x="0" y="0"/>
            <a:chExt cx="24773471" cy="169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773510" cy="16891"/>
            </a:xfrm>
            <a:custGeom>
              <a:avLst/>
              <a:gdLst/>
              <a:ahLst/>
              <a:cxnLst/>
              <a:rect l="l" t="t" r="r" b="b"/>
              <a:pathLst>
                <a:path w="24773510" h="16891">
                  <a:moveTo>
                    <a:pt x="0" y="0"/>
                  </a:moveTo>
                  <a:lnTo>
                    <a:pt x="24773510" y="0"/>
                  </a:lnTo>
                  <a:lnTo>
                    <a:pt x="24773510" y="16891"/>
                  </a:lnTo>
                  <a:lnTo>
                    <a:pt x="0" y="16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5112" b="-2533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1538" y="1440580"/>
            <a:ext cx="114300" cy="822874"/>
            <a:chOff x="0" y="0"/>
            <a:chExt cx="152400" cy="10971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400" cy="1097153"/>
            </a:xfrm>
            <a:custGeom>
              <a:avLst/>
              <a:gdLst/>
              <a:ahLst/>
              <a:cxnLst/>
              <a:rect l="l" t="t" r="r" b="b"/>
              <a:pathLst>
                <a:path w="152400" h="1097153">
                  <a:moveTo>
                    <a:pt x="0" y="0"/>
                  </a:moveTo>
                  <a:lnTo>
                    <a:pt x="152400" y="0"/>
                  </a:lnTo>
                  <a:lnTo>
                    <a:pt x="152400" y="1097153"/>
                  </a:lnTo>
                  <a:lnTo>
                    <a:pt x="0" y="1097153"/>
                  </a:lnTo>
                  <a:close/>
                </a:path>
              </a:pathLst>
            </a:custGeom>
            <a:solidFill>
              <a:srgbClr val="15704D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39703" y="9423397"/>
            <a:ext cx="18580103" cy="863603"/>
            <a:chOff x="0" y="0"/>
            <a:chExt cx="24773471" cy="11514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773510" cy="1151509"/>
            </a:xfrm>
            <a:custGeom>
              <a:avLst/>
              <a:gdLst/>
              <a:ahLst/>
              <a:cxnLst/>
              <a:rect l="l" t="t" r="r" b="b"/>
              <a:pathLst>
                <a:path w="24773510" h="1151509">
                  <a:moveTo>
                    <a:pt x="0" y="0"/>
                  </a:moveTo>
                  <a:lnTo>
                    <a:pt x="24773510" y="0"/>
                  </a:lnTo>
                  <a:lnTo>
                    <a:pt x="24773510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53" r="-352" b="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35048" y="3131319"/>
            <a:ext cx="2705100" cy="846175"/>
            <a:chOff x="0" y="0"/>
            <a:chExt cx="712454" cy="22286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12454" cy="222861"/>
            </a:xfrm>
            <a:custGeom>
              <a:avLst/>
              <a:gdLst/>
              <a:ahLst/>
              <a:cxnLst/>
              <a:rect l="l" t="t" r="r" b="b"/>
              <a:pathLst>
                <a:path w="712454" h="222861">
                  <a:moveTo>
                    <a:pt x="0" y="0"/>
                  </a:moveTo>
                  <a:lnTo>
                    <a:pt x="712454" y="0"/>
                  </a:lnTo>
                  <a:lnTo>
                    <a:pt x="712454" y="222861"/>
                  </a:lnTo>
                  <a:lnTo>
                    <a:pt x="0" y="222861"/>
                  </a:lnTo>
                  <a:close/>
                </a:path>
              </a:pathLst>
            </a:custGeom>
            <a:solidFill>
              <a:srgbClr val="93B1B2"/>
            </a:solidFill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712454" cy="270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45248" y="3131319"/>
            <a:ext cx="2705100" cy="846175"/>
            <a:chOff x="0" y="0"/>
            <a:chExt cx="712454" cy="22286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12454" cy="222861"/>
            </a:xfrm>
            <a:custGeom>
              <a:avLst/>
              <a:gdLst/>
              <a:ahLst/>
              <a:cxnLst/>
              <a:rect l="l" t="t" r="r" b="b"/>
              <a:pathLst>
                <a:path w="712454" h="222861">
                  <a:moveTo>
                    <a:pt x="0" y="0"/>
                  </a:moveTo>
                  <a:lnTo>
                    <a:pt x="712454" y="0"/>
                  </a:lnTo>
                  <a:lnTo>
                    <a:pt x="712454" y="222861"/>
                  </a:lnTo>
                  <a:lnTo>
                    <a:pt x="0" y="222861"/>
                  </a:lnTo>
                  <a:close/>
                </a:path>
              </a:pathLst>
            </a:custGeom>
            <a:solidFill>
              <a:srgbClr val="5F8883"/>
            </a:solidFill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712454" cy="270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740148" y="3131319"/>
            <a:ext cx="2705100" cy="846175"/>
            <a:chOff x="0" y="0"/>
            <a:chExt cx="712454" cy="22286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2454" cy="222861"/>
            </a:xfrm>
            <a:custGeom>
              <a:avLst/>
              <a:gdLst/>
              <a:ahLst/>
              <a:cxnLst/>
              <a:rect l="l" t="t" r="r" b="b"/>
              <a:pathLst>
                <a:path w="712454" h="222861">
                  <a:moveTo>
                    <a:pt x="0" y="0"/>
                  </a:moveTo>
                  <a:lnTo>
                    <a:pt x="712454" y="0"/>
                  </a:lnTo>
                  <a:lnTo>
                    <a:pt x="712454" y="222861"/>
                  </a:lnTo>
                  <a:lnTo>
                    <a:pt x="0" y="222861"/>
                  </a:lnTo>
                  <a:close/>
                </a:path>
              </a:pathLst>
            </a:custGeom>
            <a:solidFill>
              <a:srgbClr val="9AC4AB"/>
            </a:solidFill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712454" cy="270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150348" y="3131319"/>
            <a:ext cx="2705100" cy="846175"/>
            <a:chOff x="0" y="0"/>
            <a:chExt cx="712454" cy="22286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12454" cy="222861"/>
            </a:xfrm>
            <a:custGeom>
              <a:avLst/>
              <a:gdLst/>
              <a:ahLst/>
              <a:cxnLst/>
              <a:rect l="l" t="t" r="r" b="b"/>
              <a:pathLst>
                <a:path w="712454" h="222861">
                  <a:moveTo>
                    <a:pt x="0" y="0"/>
                  </a:moveTo>
                  <a:lnTo>
                    <a:pt x="712454" y="0"/>
                  </a:lnTo>
                  <a:lnTo>
                    <a:pt x="712454" y="222861"/>
                  </a:lnTo>
                  <a:lnTo>
                    <a:pt x="0" y="222861"/>
                  </a:lnTo>
                  <a:close/>
                </a:path>
              </a:pathLst>
            </a:custGeom>
            <a:solidFill>
              <a:srgbClr val="4E7C7D"/>
            </a:solidFill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712454" cy="270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855448" y="3131319"/>
            <a:ext cx="2705100" cy="846175"/>
            <a:chOff x="0" y="0"/>
            <a:chExt cx="712454" cy="22286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12454" cy="222861"/>
            </a:xfrm>
            <a:custGeom>
              <a:avLst/>
              <a:gdLst/>
              <a:ahLst/>
              <a:cxnLst/>
              <a:rect l="l" t="t" r="r" b="b"/>
              <a:pathLst>
                <a:path w="712454" h="222861">
                  <a:moveTo>
                    <a:pt x="0" y="0"/>
                  </a:moveTo>
                  <a:lnTo>
                    <a:pt x="712454" y="0"/>
                  </a:lnTo>
                  <a:lnTo>
                    <a:pt x="712454" y="222861"/>
                  </a:lnTo>
                  <a:lnTo>
                    <a:pt x="0" y="222861"/>
                  </a:lnTo>
                  <a:close/>
                </a:path>
              </a:pathLst>
            </a:custGeom>
            <a:solidFill>
              <a:srgbClr val="3B5D5A"/>
            </a:solidFill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712454" cy="270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4560548" y="3131319"/>
            <a:ext cx="2705100" cy="846175"/>
            <a:chOff x="0" y="0"/>
            <a:chExt cx="712454" cy="22286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12454" cy="222861"/>
            </a:xfrm>
            <a:custGeom>
              <a:avLst/>
              <a:gdLst/>
              <a:ahLst/>
              <a:cxnLst/>
              <a:rect l="l" t="t" r="r" b="b"/>
              <a:pathLst>
                <a:path w="712454" h="222861">
                  <a:moveTo>
                    <a:pt x="0" y="0"/>
                  </a:moveTo>
                  <a:lnTo>
                    <a:pt x="712454" y="0"/>
                  </a:lnTo>
                  <a:lnTo>
                    <a:pt x="712454" y="222861"/>
                  </a:lnTo>
                  <a:lnTo>
                    <a:pt x="0" y="222861"/>
                  </a:lnTo>
                  <a:close/>
                </a:path>
              </a:pathLst>
            </a:custGeom>
            <a:solidFill>
              <a:srgbClr val="212D37"/>
            </a:solidFill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712454" cy="270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 rot="5400000">
            <a:off x="3542994" y="3408472"/>
            <a:ext cx="667128" cy="291868"/>
            <a:chOff x="0" y="0"/>
            <a:chExt cx="812800" cy="3556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355600"/>
            </a:xfrm>
            <a:custGeom>
              <a:avLst/>
              <a:gdLst/>
              <a:ahLst/>
              <a:cxnLst/>
              <a:rect l="l" t="t" r="r" b="b"/>
              <a:pathLst>
                <a:path w="812800" h="355600">
                  <a:moveTo>
                    <a:pt x="406400" y="0"/>
                  </a:moveTo>
                  <a:lnTo>
                    <a:pt x="812800" y="355600"/>
                  </a:lnTo>
                  <a:lnTo>
                    <a:pt x="0" y="3556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3B1B2"/>
            </a:solidFill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27000" y="117475"/>
              <a:ext cx="558800" cy="212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 rot="5400000">
            <a:off x="6251996" y="3408472"/>
            <a:ext cx="667128" cy="291868"/>
            <a:chOff x="0" y="0"/>
            <a:chExt cx="812800" cy="3556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355600"/>
            </a:xfrm>
            <a:custGeom>
              <a:avLst/>
              <a:gdLst/>
              <a:ahLst/>
              <a:cxnLst/>
              <a:rect l="l" t="t" r="r" b="b"/>
              <a:pathLst>
                <a:path w="812800" h="355600">
                  <a:moveTo>
                    <a:pt x="406400" y="0"/>
                  </a:moveTo>
                  <a:lnTo>
                    <a:pt x="812800" y="355600"/>
                  </a:lnTo>
                  <a:lnTo>
                    <a:pt x="0" y="3556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AC4AB"/>
            </a:solidFill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7000" y="117475"/>
              <a:ext cx="558800" cy="212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 rot="5400000">
            <a:off x="8957096" y="3408472"/>
            <a:ext cx="667128" cy="291868"/>
            <a:chOff x="0" y="0"/>
            <a:chExt cx="812800" cy="3556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355600"/>
            </a:xfrm>
            <a:custGeom>
              <a:avLst/>
              <a:gdLst/>
              <a:ahLst/>
              <a:cxnLst/>
              <a:rect l="l" t="t" r="r" b="b"/>
              <a:pathLst>
                <a:path w="812800" h="355600">
                  <a:moveTo>
                    <a:pt x="406400" y="0"/>
                  </a:moveTo>
                  <a:lnTo>
                    <a:pt x="812800" y="355600"/>
                  </a:lnTo>
                  <a:lnTo>
                    <a:pt x="0" y="3556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F8883"/>
            </a:solidFill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27000" y="117475"/>
              <a:ext cx="558800" cy="212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 rot="5400000">
            <a:off x="11662196" y="3408472"/>
            <a:ext cx="667128" cy="291868"/>
            <a:chOff x="0" y="0"/>
            <a:chExt cx="812800" cy="3556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12800" cy="355600"/>
            </a:xfrm>
            <a:custGeom>
              <a:avLst/>
              <a:gdLst/>
              <a:ahLst/>
              <a:cxnLst/>
              <a:rect l="l" t="t" r="r" b="b"/>
              <a:pathLst>
                <a:path w="812800" h="355600">
                  <a:moveTo>
                    <a:pt x="406400" y="0"/>
                  </a:moveTo>
                  <a:lnTo>
                    <a:pt x="812800" y="355600"/>
                  </a:lnTo>
                  <a:lnTo>
                    <a:pt x="0" y="3556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E7C7D"/>
            </a:solidFill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27000" y="117475"/>
              <a:ext cx="558800" cy="212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 rot="5400000">
            <a:off x="14367296" y="3408472"/>
            <a:ext cx="667128" cy="291868"/>
            <a:chOff x="0" y="0"/>
            <a:chExt cx="812800" cy="3556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12800" cy="355600"/>
            </a:xfrm>
            <a:custGeom>
              <a:avLst/>
              <a:gdLst/>
              <a:ahLst/>
              <a:cxnLst/>
              <a:rect l="l" t="t" r="r" b="b"/>
              <a:pathLst>
                <a:path w="812800" h="355600">
                  <a:moveTo>
                    <a:pt x="406400" y="0"/>
                  </a:moveTo>
                  <a:lnTo>
                    <a:pt x="812800" y="355600"/>
                  </a:lnTo>
                  <a:lnTo>
                    <a:pt x="0" y="3556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B5D5A"/>
            </a:solidFill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27000" y="117475"/>
              <a:ext cx="558800" cy="212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61" name="Freeform 61"/>
          <p:cNvSpPr/>
          <p:nvPr/>
        </p:nvSpPr>
        <p:spPr>
          <a:xfrm>
            <a:off x="1981585" y="4076700"/>
            <a:ext cx="812026" cy="812026"/>
          </a:xfrm>
          <a:custGeom>
            <a:avLst/>
            <a:gdLst/>
            <a:ahLst/>
            <a:cxnLst/>
            <a:rect l="l" t="t" r="r" b="b"/>
            <a:pathLst>
              <a:path w="812026" h="812026">
                <a:moveTo>
                  <a:pt x="0" y="0"/>
                </a:moveTo>
                <a:lnTo>
                  <a:pt x="812026" y="0"/>
                </a:lnTo>
                <a:lnTo>
                  <a:pt x="812026" y="812026"/>
                </a:lnTo>
                <a:lnTo>
                  <a:pt x="0" y="8120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2" name="Freeform 62"/>
          <p:cNvSpPr/>
          <p:nvPr/>
        </p:nvSpPr>
        <p:spPr>
          <a:xfrm>
            <a:off x="4713584" y="4076700"/>
            <a:ext cx="758229" cy="812026"/>
          </a:xfrm>
          <a:custGeom>
            <a:avLst/>
            <a:gdLst/>
            <a:ahLst/>
            <a:cxnLst/>
            <a:rect l="l" t="t" r="r" b="b"/>
            <a:pathLst>
              <a:path w="758229" h="812026">
                <a:moveTo>
                  <a:pt x="0" y="0"/>
                </a:moveTo>
                <a:lnTo>
                  <a:pt x="758229" y="0"/>
                </a:lnTo>
                <a:lnTo>
                  <a:pt x="758229" y="812026"/>
                </a:lnTo>
                <a:lnTo>
                  <a:pt x="0" y="8120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3" name="Freeform 63"/>
          <p:cNvSpPr/>
          <p:nvPr/>
        </p:nvSpPr>
        <p:spPr>
          <a:xfrm>
            <a:off x="7391785" y="4102874"/>
            <a:ext cx="812026" cy="812026"/>
          </a:xfrm>
          <a:custGeom>
            <a:avLst/>
            <a:gdLst/>
            <a:ahLst/>
            <a:cxnLst/>
            <a:rect l="l" t="t" r="r" b="b"/>
            <a:pathLst>
              <a:path w="812026" h="812026">
                <a:moveTo>
                  <a:pt x="0" y="0"/>
                </a:moveTo>
                <a:lnTo>
                  <a:pt x="812026" y="0"/>
                </a:lnTo>
                <a:lnTo>
                  <a:pt x="812026" y="812026"/>
                </a:lnTo>
                <a:lnTo>
                  <a:pt x="0" y="8120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4" name="Freeform 64"/>
          <p:cNvSpPr/>
          <p:nvPr/>
        </p:nvSpPr>
        <p:spPr>
          <a:xfrm>
            <a:off x="10079284" y="4067671"/>
            <a:ext cx="847229" cy="847229"/>
          </a:xfrm>
          <a:custGeom>
            <a:avLst/>
            <a:gdLst/>
            <a:ahLst/>
            <a:cxnLst/>
            <a:rect l="l" t="t" r="r" b="b"/>
            <a:pathLst>
              <a:path w="847229" h="847229">
                <a:moveTo>
                  <a:pt x="0" y="0"/>
                </a:moveTo>
                <a:lnTo>
                  <a:pt x="847229" y="0"/>
                </a:lnTo>
                <a:lnTo>
                  <a:pt x="847229" y="847229"/>
                </a:lnTo>
                <a:lnTo>
                  <a:pt x="0" y="8472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5" name="Freeform 65"/>
          <p:cNvSpPr/>
          <p:nvPr/>
        </p:nvSpPr>
        <p:spPr>
          <a:xfrm>
            <a:off x="12784383" y="4053454"/>
            <a:ext cx="847229" cy="847229"/>
          </a:xfrm>
          <a:custGeom>
            <a:avLst/>
            <a:gdLst/>
            <a:ahLst/>
            <a:cxnLst/>
            <a:rect l="l" t="t" r="r" b="b"/>
            <a:pathLst>
              <a:path w="847229" h="847229">
                <a:moveTo>
                  <a:pt x="0" y="0"/>
                </a:moveTo>
                <a:lnTo>
                  <a:pt x="847229" y="0"/>
                </a:lnTo>
                <a:lnTo>
                  <a:pt x="847229" y="847229"/>
                </a:lnTo>
                <a:lnTo>
                  <a:pt x="0" y="8472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6" name="Freeform 66"/>
          <p:cNvSpPr/>
          <p:nvPr/>
        </p:nvSpPr>
        <p:spPr>
          <a:xfrm>
            <a:off x="15516159" y="4073838"/>
            <a:ext cx="793878" cy="793878"/>
          </a:xfrm>
          <a:custGeom>
            <a:avLst/>
            <a:gdLst/>
            <a:ahLst/>
            <a:cxnLst/>
            <a:rect l="l" t="t" r="r" b="b"/>
            <a:pathLst>
              <a:path w="793878" h="793878">
                <a:moveTo>
                  <a:pt x="0" y="0"/>
                </a:moveTo>
                <a:lnTo>
                  <a:pt x="793878" y="0"/>
                </a:lnTo>
                <a:lnTo>
                  <a:pt x="793878" y="793877"/>
                </a:lnTo>
                <a:lnTo>
                  <a:pt x="0" y="793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1535971" y="3320547"/>
            <a:ext cx="170325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Be Vietnam Ultra-Bold"/>
              </a:rPr>
              <a:t>1~4주차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241071" y="3320547"/>
            <a:ext cx="170325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Be Vietnam Ultra-Bold"/>
              </a:rPr>
              <a:t>5~8주차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535971" y="5143500"/>
            <a:ext cx="1703255" cy="837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400" b="1" dirty="0">
                <a:solidFill>
                  <a:srgbClr val="212D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Be Vietnam Ultra-Bold"/>
              </a:rPr>
              <a:t>요구사항 분석 및 기본 구현</a:t>
            </a:r>
            <a:endParaRPr lang="en-US" sz="2400" b="1" dirty="0">
              <a:solidFill>
                <a:srgbClr val="212D37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Be Vietnam Ultra-Bold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1214437" y="6110172"/>
            <a:ext cx="2456901" cy="3163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FR 12</a:t>
            </a: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개 </a:t>
            </a: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/ </a:t>
            </a:r>
            <a:r>
              <a:rPr 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NFR 6</a:t>
            </a: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개 도출</a:t>
            </a:r>
            <a:endParaRPr lang="en-US" altLang="ko-KR" sz="1200" dirty="0">
              <a:solidFill>
                <a:srgbClr val="1E2D4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Inter"/>
            </a:endParaRPr>
          </a:p>
          <a:p>
            <a:pPr algn="ctr">
              <a:lnSpc>
                <a:spcPts val="2520"/>
              </a:lnSpc>
            </a:pPr>
            <a:r>
              <a:rPr lang="en-US" sz="12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IInteractable</a:t>
            </a:r>
            <a:r>
              <a:rPr 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인터페이스 설계</a:t>
            </a:r>
          </a:p>
          <a:p>
            <a:pPr algn="ctr">
              <a:lnSpc>
                <a:spcPts val="2520"/>
              </a:lnSpc>
            </a:pP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 </a:t>
            </a:r>
            <a:r>
              <a:rPr lang="en-US" sz="12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ScriptableObject</a:t>
            </a:r>
            <a:r>
              <a:rPr 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데이터 구조 정의</a:t>
            </a:r>
          </a:p>
          <a:p>
            <a:pPr algn="ctr">
              <a:lnSpc>
                <a:spcPts val="2520"/>
              </a:lnSpc>
            </a:pP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    </a:t>
            </a:r>
            <a:r>
              <a:rPr lang="en-US" sz="12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ItemData</a:t>
            </a:r>
            <a:r>
              <a:rPr 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· </a:t>
            </a:r>
            <a:r>
              <a:rPr lang="en-US" sz="12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RecipeData</a:t>
            </a:r>
            <a:r>
              <a:rPr 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· </a:t>
            </a:r>
            <a:r>
              <a:rPr lang="en-US" sz="12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TierDefinition</a:t>
            </a:r>
            <a:endParaRPr lang="en-US" sz="1200" dirty="0">
              <a:solidFill>
                <a:srgbClr val="1E2D4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Inter"/>
            </a:endParaRPr>
          </a:p>
          <a:p>
            <a:pPr algn="ctr">
              <a:lnSpc>
                <a:spcPts val="2520"/>
              </a:lnSpc>
            </a:pP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en-US" sz="12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PlayerController</a:t>
            </a:r>
            <a:r>
              <a:rPr 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(</a:t>
            </a: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이동 </a:t>
            </a: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+ </a:t>
            </a: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중력</a:t>
            </a: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)</a:t>
            </a:r>
          </a:p>
          <a:p>
            <a:pPr algn="ctr">
              <a:lnSpc>
                <a:spcPts val="2520"/>
              </a:lnSpc>
            </a:pP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 </a:t>
            </a:r>
            <a:r>
              <a:rPr lang="en-US" sz="12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PlayerInteraction</a:t>
            </a:r>
            <a:r>
              <a:rPr 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(</a:t>
            </a:r>
            <a:r>
              <a:rPr lang="en-US" sz="12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SphereCast</a:t>
            </a:r>
            <a:r>
              <a:rPr 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)</a:t>
            </a:r>
          </a:p>
          <a:p>
            <a:pPr algn="ctr">
              <a:lnSpc>
                <a:spcPts val="2520"/>
              </a:lnSpc>
            </a:pPr>
            <a:r>
              <a:rPr 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Inventory + </a:t>
            </a:r>
            <a:r>
              <a:rPr lang="en-US" sz="12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HotbarUI</a:t>
            </a:r>
            <a:endParaRPr lang="en-US" sz="1200" dirty="0">
              <a:solidFill>
                <a:srgbClr val="1E2D4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Inter"/>
            </a:endParaRPr>
          </a:p>
          <a:p>
            <a:pPr algn="ctr">
              <a:lnSpc>
                <a:spcPts val="2520"/>
              </a:lnSpc>
            </a:pPr>
            <a:r>
              <a:rPr 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 </a:t>
            </a:r>
            <a:r>
              <a:rPr lang="en-US" sz="12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EconomyService</a:t>
            </a:r>
            <a:r>
              <a:rPr 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+ </a:t>
            </a:r>
            <a:r>
              <a:rPr lang="en-US" sz="12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TierService</a:t>
            </a:r>
            <a:endParaRPr lang="en-US" sz="1200" dirty="0">
              <a:solidFill>
                <a:srgbClr val="1E2D4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Inter"/>
            </a:endParaRPr>
          </a:p>
          <a:p>
            <a:pPr algn="ctr">
              <a:lnSpc>
                <a:spcPts val="2520"/>
              </a:lnSpc>
            </a:pPr>
            <a:r>
              <a:rPr lang="en-US" sz="12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MoneyHUD</a:t>
            </a:r>
            <a:r>
              <a:rPr 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(</a:t>
            </a: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재화 </a:t>
            </a:r>
            <a:r>
              <a:rPr 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HUD)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241071" y="5143500"/>
            <a:ext cx="1703255" cy="837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 dirty="0">
                <a:solidFill>
                  <a:srgbClr val="212D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Be Vietnam Ultra-Bold"/>
              </a:rPr>
              <a:t>NPC AI </a:t>
            </a:r>
            <a:r>
              <a:rPr lang="ko-KR" altLang="en-US" sz="2400" b="1" dirty="0">
                <a:solidFill>
                  <a:srgbClr val="212D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Be Vietnam Ultra-Bold"/>
              </a:rPr>
              <a:t>및 </a:t>
            </a:r>
            <a:r>
              <a:rPr lang="en-US" sz="2400" b="1" dirty="0">
                <a:solidFill>
                  <a:srgbClr val="212D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Be Vietnam Ultra-Bold"/>
              </a:rPr>
              <a:t>FSM </a:t>
            </a:r>
            <a:r>
              <a:rPr lang="ko-KR" altLang="en-US" sz="2400" b="1" dirty="0">
                <a:solidFill>
                  <a:srgbClr val="212D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Be Vietnam Ultra-Bold"/>
              </a:rPr>
              <a:t>구축</a:t>
            </a:r>
            <a:endParaRPr lang="en-US" sz="2400" b="1" dirty="0">
              <a:solidFill>
                <a:srgbClr val="212D37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Be Vietnam Ultra-Bold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4042172" y="6110172"/>
            <a:ext cx="2101053" cy="3160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IdleState</a:t>
            </a: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→ </a:t>
            </a:r>
            <a:r>
              <a:rPr 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WanderState</a:t>
            </a:r>
            <a:endParaRPr lang="en-US" sz="1100" dirty="0">
              <a:solidFill>
                <a:srgbClr val="1E2D4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Inter"/>
            </a:endParaRPr>
          </a:p>
          <a:p>
            <a:pPr algn="ctr">
              <a:lnSpc>
                <a:spcPts val="2520"/>
              </a:lnSpc>
            </a:pP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EvaluateState</a:t>
            </a: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(</a:t>
            </a:r>
            <a:r>
              <a:rPr 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ShopSlot</a:t>
            </a: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방문</a:t>
            </a:r>
            <a:r>
              <a:rPr lang="en-US" altLang="ko-KR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)</a:t>
            </a:r>
          </a:p>
          <a:p>
            <a:pPr algn="ctr">
              <a:lnSpc>
                <a:spcPts val="2520"/>
              </a:lnSpc>
            </a:pPr>
            <a:r>
              <a:rPr lang="en-US" altLang="ko-KR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PurchaseState</a:t>
            </a: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+ </a:t>
            </a:r>
            <a:r>
              <a:rPr 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LeaveState</a:t>
            </a:r>
            <a:endParaRPr lang="en-US" sz="1100" dirty="0">
              <a:solidFill>
                <a:srgbClr val="1E2D4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Inter"/>
            </a:endParaRPr>
          </a:p>
          <a:p>
            <a:pPr algn="ctr">
              <a:lnSpc>
                <a:spcPts val="2520"/>
              </a:lnSpc>
            </a:pP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 </a:t>
            </a:r>
            <a:r>
              <a:rPr 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PurchaseEvaluator</a:t>
            </a:r>
            <a:endParaRPr lang="en-US" sz="1100" dirty="0">
              <a:solidFill>
                <a:srgbClr val="1E2D4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Inter"/>
            </a:endParaRPr>
          </a:p>
          <a:p>
            <a:pPr algn="ctr">
              <a:lnSpc>
                <a:spcPts val="2520"/>
              </a:lnSpc>
            </a:pP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    EI / SN / TF / JP 4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축 </a:t>
            </a:r>
            <a:r>
              <a:rPr lang="en-US" altLang="ko-KR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[-1,+1]</a:t>
            </a:r>
          </a:p>
          <a:p>
            <a:pPr algn="ctr">
              <a:lnSpc>
                <a:spcPts val="2520"/>
              </a:lnSpc>
            </a:pPr>
            <a:r>
              <a:rPr lang="en-US" altLang="ko-KR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NpcCandidateData</a:t>
            </a: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(SO)</a:t>
            </a:r>
          </a:p>
          <a:p>
            <a:pPr algn="ctr">
              <a:lnSpc>
                <a:spcPts val="2520"/>
              </a:lnSpc>
            </a:pPr>
            <a:r>
              <a:rPr 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NpcController</a:t>
            </a: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완성</a:t>
            </a:r>
          </a:p>
          <a:p>
            <a:pPr algn="ctr">
              <a:lnSpc>
                <a:spcPts val="2520"/>
              </a:lnSpc>
            </a:pP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 </a:t>
            </a:r>
            <a:r>
              <a:rPr 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ShopSlot</a:t>
            </a: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(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진열대 단위</a:t>
            </a:r>
            <a:r>
              <a:rPr lang="en-US" altLang="ko-KR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)</a:t>
            </a:r>
          </a:p>
          <a:p>
            <a:pPr algn="ctr">
              <a:lnSpc>
                <a:spcPts val="2520"/>
              </a:lnSpc>
            </a:pPr>
            <a:r>
              <a:rPr lang="en-US" altLang="ko-KR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ShopPriceUI</a:t>
            </a: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(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가격 조정 </a:t>
            </a: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UI)</a:t>
            </a:r>
          </a:p>
          <a:p>
            <a:pPr algn="ctr">
              <a:lnSpc>
                <a:spcPts val="2520"/>
              </a:lnSpc>
            </a:pP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NavMesh</a:t>
            </a: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에이전트 이동 연결</a:t>
            </a:r>
            <a:endParaRPr lang="en-US" sz="1100" dirty="0">
              <a:solidFill>
                <a:srgbClr val="1E2D4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Inter"/>
            </a:endParaRPr>
          </a:p>
        </p:txBody>
      </p:sp>
      <p:sp>
        <p:nvSpPr>
          <p:cNvPr id="73" name="TextBox 73"/>
          <p:cNvSpPr txBox="1"/>
          <p:nvPr/>
        </p:nvSpPr>
        <p:spPr>
          <a:xfrm>
            <a:off x="6946171" y="5143500"/>
            <a:ext cx="1703255" cy="825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200" b="1" dirty="0">
                <a:solidFill>
                  <a:srgbClr val="212D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Be Vietnam Ultra-Bold"/>
              </a:rPr>
              <a:t>상점 매입 및 소비 로직 검증</a:t>
            </a:r>
            <a:endParaRPr lang="en-US" sz="2200" b="1" dirty="0">
              <a:solidFill>
                <a:srgbClr val="212D37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Be Vietnam Ultra-Bold"/>
            </a:endParaRPr>
          </a:p>
        </p:txBody>
      </p:sp>
      <p:sp>
        <p:nvSpPr>
          <p:cNvPr id="74" name="TextBox 74"/>
          <p:cNvSpPr txBox="1"/>
          <p:nvPr/>
        </p:nvSpPr>
        <p:spPr>
          <a:xfrm>
            <a:off x="6763485" y="6110172"/>
            <a:ext cx="2101053" cy="4763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InteractPromptUI</a:t>
            </a:r>
            <a:endParaRPr lang="en-US" sz="1100" dirty="0">
              <a:solidFill>
                <a:srgbClr val="1E2D4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Inter"/>
            </a:endParaRPr>
          </a:p>
          <a:p>
            <a:pPr algn="ctr">
              <a:lnSpc>
                <a:spcPts val="2520"/>
              </a:lnSpc>
            </a:pP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    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화면 중앙 </a:t>
            </a:r>
            <a:r>
              <a:rPr lang="en-US" altLang="ko-KR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[</a:t>
            </a: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Space] 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프롬프트</a:t>
            </a:r>
          </a:p>
          <a:p>
            <a:pPr algn="ctr">
              <a:lnSpc>
                <a:spcPts val="2520"/>
              </a:lnSpc>
            </a:pP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DialogueUI</a:t>
            </a: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구현</a:t>
            </a:r>
          </a:p>
          <a:p>
            <a:pPr algn="ctr">
              <a:lnSpc>
                <a:spcPts val="2520"/>
              </a:lnSpc>
            </a:pP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NpcDialogue</a:t>
            </a: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씬 연결</a:t>
            </a:r>
          </a:p>
          <a:p>
            <a:pPr algn="ctr">
              <a:lnSpc>
                <a:spcPts val="2520"/>
              </a:lnSpc>
            </a:pPr>
            <a:r>
              <a:rPr 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HiringUI</a:t>
            </a: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(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채용 </a:t>
            </a: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UI)</a:t>
            </a:r>
          </a:p>
          <a:p>
            <a:pPr algn="ctr">
              <a:lnSpc>
                <a:spcPts val="2520"/>
              </a:lnSpc>
            </a:pPr>
            <a:r>
              <a:rPr 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NpcBubbleUI</a:t>
            </a: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(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말풍선</a:t>
            </a:r>
            <a:r>
              <a:rPr lang="en-US" altLang="ko-KR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)</a:t>
            </a:r>
          </a:p>
          <a:p>
            <a:pPr algn="ctr">
              <a:lnSpc>
                <a:spcPts val="2520"/>
              </a:lnSpc>
            </a:pPr>
            <a:r>
              <a:rPr 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SmartphoneUI</a:t>
            </a: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4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탭 완성</a:t>
            </a:r>
          </a:p>
          <a:p>
            <a:pPr algn="ctr">
              <a:lnSpc>
                <a:spcPts val="2520"/>
              </a:lnSpc>
            </a:pP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SO </a:t>
            </a:r>
            <a:r>
              <a:rPr lang="ko-KR" alt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에셋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en-US" altLang="ko-KR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26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개 생성</a:t>
            </a:r>
          </a:p>
          <a:p>
            <a:pPr algn="ctr">
              <a:lnSpc>
                <a:spcPts val="2520"/>
              </a:lnSpc>
            </a:pPr>
            <a:r>
              <a:rPr 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PA_DataBootstrapper</a:t>
            </a: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실행</a:t>
            </a:r>
          </a:p>
          <a:p>
            <a:pPr algn="ctr">
              <a:lnSpc>
                <a:spcPts val="2520"/>
              </a:lnSpc>
            </a:pPr>
            <a:r>
              <a:rPr 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TierService</a:t>
            </a: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/</a:t>
            </a:r>
            <a:r>
              <a:rPr 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ItemRegistry</a:t>
            </a:r>
            <a:endParaRPr lang="en-US" sz="1100" dirty="0">
              <a:solidFill>
                <a:srgbClr val="1E2D4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Inter"/>
            </a:endParaRPr>
          </a:p>
          <a:p>
            <a:pPr algn="ctr">
              <a:lnSpc>
                <a:spcPts val="2520"/>
              </a:lnSpc>
            </a:pP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    Inspector 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연결</a:t>
            </a:r>
          </a:p>
          <a:p>
            <a:pPr algn="ctr">
              <a:lnSpc>
                <a:spcPts val="2520"/>
              </a:lnSpc>
            </a:pPr>
            <a:r>
              <a:rPr 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ShopSlot</a:t>
            </a: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씬 배치</a:t>
            </a:r>
          </a:p>
          <a:p>
            <a:pPr algn="ctr">
              <a:lnSpc>
                <a:spcPts val="2520"/>
              </a:lnSpc>
            </a:pPr>
            <a:r>
              <a:rPr 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CraftingUI</a:t>
            </a: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Inspector 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연결</a:t>
            </a:r>
            <a:endParaRPr lang="en-US" altLang="ko-KR" sz="1100" dirty="0">
              <a:solidFill>
                <a:srgbClr val="1E2D4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Inter"/>
            </a:endParaRPr>
          </a:p>
          <a:p>
            <a:pPr algn="ctr">
              <a:lnSpc>
                <a:spcPts val="2520"/>
              </a:lnSpc>
            </a:pPr>
            <a:r>
              <a:rPr 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ScreenFader</a:t>
            </a: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+ </a:t>
            </a:r>
            <a:r>
              <a:rPr 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BuildingEntrance</a:t>
            </a:r>
            <a:endParaRPr lang="en-US" sz="1100" dirty="0">
              <a:solidFill>
                <a:srgbClr val="1E2D4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Inter"/>
            </a:endParaRPr>
          </a:p>
          <a:p>
            <a:pPr algn="ctr">
              <a:lnSpc>
                <a:spcPts val="2520"/>
              </a:lnSpc>
            </a:pPr>
            <a:r>
              <a:rPr 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    </a:t>
            </a:r>
            <a:r>
              <a:rPr lang="ko-KR" alt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씬전환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통합 검증</a:t>
            </a:r>
            <a:endParaRPr lang="en-US" sz="1100" dirty="0">
              <a:solidFill>
                <a:srgbClr val="1E2D4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Inter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9455148" y="5143500"/>
            <a:ext cx="2095500" cy="837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altLang="ko-KR" sz="2400" b="1" dirty="0">
                <a:solidFill>
                  <a:srgbClr val="212D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Be Vietnam Ultra-Bold"/>
              </a:rPr>
              <a:t>JSON </a:t>
            </a:r>
            <a:r>
              <a:rPr lang="ko-KR" altLang="en-US" sz="2400" b="1" dirty="0">
                <a:solidFill>
                  <a:srgbClr val="212D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Be Vietnam Ultra-Bold"/>
              </a:rPr>
              <a:t>세이브 및 로드 데모</a:t>
            </a:r>
            <a:endParaRPr lang="en-US" sz="2400" b="1" dirty="0">
              <a:solidFill>
                <a:srgbClr val="212D37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Be Vietnam Ultra-Bold"/>
            </a:endParaRPr>
          </a:p>
        </p:txBody>
      </p:sp>
      <p:sp>
        <p:nvSpPr>
          <p:cNvPr id="76" name="TextBox 76"/>
          <p:cNvSpPr txBox="1"/>
          <p:nvPr/>
        </p:nvSpPr>
        <p:spPr>
          <a:xfrm>
            <a:off x="9452371" y="6080906"/>
            <a:ext cx="2101053" cy="3163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altLang="ko-KR" sz="12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NavMesh</a:t>
            </a: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Bake (</a:t>
            </a: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최종</a:t>
            </a: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) </a:t>
            </a:r>
            <a:r>
              <a:rPr lang="en-US" altLang="ko-KR" sz="12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FriendshipSaveData</a:t>
            </a: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구현</a:t>
            </a:r>
          </a:p>
          <a:p>
            <a:pPr algn="ctr">
              <a:lnSpc>
                <a:spcPts val="2520"/>
              </a:lnSpc>
            </a:pP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en-US" altLang="ko-KR" sz="12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HiringSaveData</a:t>
            </a: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구현</a:t>
            </a:r>
          </a:p>
          <a:p>
            <a:pPr algn="ctr">
              <a:lnSpc>
                <a:spcPts val="2520"/>
              </a:lnSpc>
            </a:pP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en-US" altLang="ko-KR" sz="12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SaveManager</a:t>
            </a: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F5/F9 </a:t>
            </a: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검증</a:t>
            </a:r>
          </a:p>
          <a:p>
            <a:pPr algn="ctr">
              <a:lnSpc>
                <a:spcPts val="2520"/>
              </a:lnSpc>
            </a:pP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 </a:t>
            </a:r>
            <a:r>
              <a:rPr lang="en-US" altLang="ko-KR" sz="12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ISaveRepository</a:t>
            </a:r>
            <a:endParaRPr lang="en-US" altLang="ko-KR" sz="1200" dirty="0">
              <a:solidFill>
                <a:srgbClr val="1E2D4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Inter"/>
            </a:endParaRPr>
          </a:p>
          <a:p>
            <a:pPr algn="ctr">
              <a:lnSpc>
                <a:spcPts val="2520"/>
              </a:lnSpc>
            </a:pP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    </a:t>
            </a: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로컬 </a:t>
            </a: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JSON </a:t>
            </a: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저장</a:t>
            </a: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/</a:t>
            </a: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로드 테스트</a:t>
            </a:r>
          </a:p>
          <a:p>
            <a:pPr algn="ctr">
              <a:lnSpc>
                <a:spcPts val="2520"/>
              </a:lnSpc>
            </a:pPr>
            <a:endParaRPr lang="ko-KR" altLang="en-US" sz="1200" dirty="0">
              <a:solidFill>
                <a:srgbClr val="1E2D4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Inter"/>
            </a:endParaRPr>
          </a:p>
          <a:p>
            <a:pPr algn="ctr">
              <a:lnSpc>
                <a:spcPts val="2520"/>
              </a:lnSpc>
            </a:pP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마일스톤</a:t>
            </a: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:</a:t>
            </a:r>
          </a:p>
          <a:p>
            <a:pPr algn="ctr">
              <a:lnSpc>
                <a:spcPts val="2520"/>
              </a:lnSpc>
            </a:pP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"</a:t>
            </a:r>
            <a:r>
              <a:rPr lang="ko-KR" altLang="en-US" sz="12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저장→종료→재실행→복원</a:t>
            </a: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"</a:t>
            </a:r>
          </a:p>
          <a:p>
            <a:pPr algn="ctr">
              <a:lnSpc>
                <a:spcPts val="2520"/>
              </a:lnSpc>
            </a:pP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   </a:t>
            </a: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전 플로우 </a:t>
            </a: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1</a:t>
            </a: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회 통과</a:t>
            </a:r>
            <a:endParaRPr lang="en-US" sz="1200" dirty="0">
              <a:solidFill>
                <a:srgbClr val="1E2D4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Inter"/>
            </a:endParaRPr>
          </a:p>
        </p:txBody>
      </p:sp>
      <p:sp>
        <p:nvSpPr>
          <p:cNvPr id="77" name="TextBox 77"/>
          <p:cNvSpPr txBox="1"/>
          <p:nvPr/>
        </p:nvSpPr>
        <p:spPr>
          <a:xfrm>
            <a:off x="12157472" y="5143500"/>
            <a:ext cx="2101053" cy="837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400" b="1" dirty="0">
                <a:solidFill>
                  <a:srgbClr val="212D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Be Vietnam Ultra-Bold"/>
              </a:rPr>
              <a:t>가공 시스템 개발 시작</a:t>
            </a:r>
            <a:endParaRPr lang="en-US" sz="2400" b="1" dirty="0">
              <a:solidFill>
                <a:srgbClr val="212D37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Be Vietnam Ultra-Bold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12141257" y="5942701"/>
            <a:ext cx="2101053" cy="3480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altLang="ko-KR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C-01 Tripo3D </a:t>
            </a:r>
            <a:r>
              <a:rPr lang="ko-KR" alt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리깅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완성</a:t>
            </a:r>
          </a:p>
          <a:p>
            <a:pPr algn="ctr">
              <a:lnSpc>
                <a:spcPts val="2520"/>
              </a:lnSpc>
            </a:pP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 </a:t>
            </a:r>
            <a:r>
              <a:rPr lang="en-US" altLang="ko-KR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Mixamo</a:t>
            </a:r>
            <a:r>
              <a:rPr lang="en-US" altLang="ko-KR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Idle/Walk 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클립 </a:t>
            </a:r>
            <a:r>
              <a:rPr lang="ko-KR" alt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임포트</a:t>
            </a:r>
            <a:endParaRPr lang="ko-KR" altLang="en-US" sz="1100" dirty="0">
              <a:solidFill>
                <a:srgbClr val="1E2D4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Inter"/>
            </a:endParaRPr>
          </a:p>
          <a:p>
            <a:pPr algn="ctr">
              <a:lnSpc>
                <a:spcPts val="2520"/>
              </a:lnSpc>
            </a:pP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en-US" altLang="ko-KR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Animator Controller 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연결</a:t>
            </a:r>
          </a:p>
          <a:p>
            <a:pPr algn="ctr">
              <a:lnSpc>
                <a:spcPts val="2520"/>
              </a:lnSpc>
            </a:pP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 </a:t>
            </a:r>
            <a:r>
              <a:rPr lang="en-US" altLang="ko-KR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Workbench 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씬 배치</a:t>
            </a:r>
          </a:p>
          <a:p>
            <a:pPr algn="ctr">
              <a:lnSpc>
                <a:spcPts val="2520"/>
              </a:lnSpc>
            </a:pPr>
            <a:r>
              <a:rPr lang="en-US" altLang="ko-KR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CraftingService</a:t>
            </a:r>
            <a:r>
              <a:rPr lang="en-US" altLang="ko-KR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통합 테스트</a:t>
            </a:r>
          </a:p>
          <a:p>
            <a:pPr algn="ctr">
              <a:lnSpc>
                <a:spcPts val="2520"/>
              </a:lnSpc>
            </a:pPr>
            <a:r>
              <a:rPr lang="en-US" altLang="ko-KR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RecipeData</a:t>
            </a:r>
            <a:r>
              <a:rPr lang="en-US" altLang="ko-KR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ko-KR" altLang="en-US" sz="11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에셋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완성</a:t>
            </a:r>
          </a:p>
          <a:p>
            <a:pPr algn="ctr">
              <a:lnSpc>
                <a:spcPts val="2520"/>
              </a:lnSpc>
            </a:pP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en-US" altLang="ko-KR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FR 10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개 시나리오 통합 테스트</a:t>
            </a:r>
          </a:p>
          <a:p>
            <a:pPr algn="ctr">
              <a:lnSpc>
                <a:spcPts val="2520"/>
              </a:lnSpc>
            </a:pPr>
            <a:r>
              <a:rPr lang="en-US" altLang="ko-KR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NFR 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수치 측정</a:t>
            </a:r>
          </a:p>
          <a:p>
            <a:pPr algn="ctr">
              <a:lnSpc>
                <a:spcPts val="2520"/>
              </a:lnSpc>
            </a:pP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    </a:t>
            </a:r>
            <a:r>
              <a:rPr lang="en-US" altLang="ko-KR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(60fps @1080p, 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저장 </a:t>
            </a:r>
            <a:r>
              <a:rPr lang="en-US" altLang="ko-KR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3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초 이내</a:t>
            </a:r>
            <a:r>
              <a:rPr lang="en-US" altLang="ko-KR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)</a:t>
            </a:r>
          </a:p>
          <a:p>
            <a:pPr algn="ctr">
              <a:lnSpc>
                <a:spcPts val="2520"/>
              </a:lnSpc>
            </a:pP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마일스톤</a:t>
            </a:r>
            <a:r>
              <a:rPr lang="en-US" altLang="ko-KR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:</a:t>
            </a:r>
          </a:p>
          <a:p>
            <a:pPr algn="ctr">
              <a:lnSpc>
                <a:spcPts val="2520"/>
              </a:lnSpc>
            </a:pPr>
            <a:r>
              <a:rPr lang="en-US" altLang="ko-KR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   FR </a:t>
            </a:r>
            <a:r>
              <a:rPr lang="ko-KR" altLang="en-US" sz="11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전 시나리오 통과 확인</a:t>
            </a:r>
            <a:endParaRPr lang="en-US" sz="1100" dirty="0">
              <a:solidFill>
                <a:srgbClr val="1E2D4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Inter"/>
            </a:endParaRPr>
          </a:p>
        </p:txBody>
      </p:sp>
      <p:sp>
        <p:nvSpPr>
          <p:cNvPr id="79" name="TextBox 79"/>
          <p:cNvSpPr txBox="1"/>
          <p:nvPr/>
        </p:nvSpPr>
        <p:spPr>
          <a:xfrm>
            <a:off x="15067956" y="5141492"/>
            <a:ext cx="1703255" cy="837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400" b="1" dirty="0">
                <a:solidFill>
                  <a:srgbClr val="212D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Be Vietnam Ultra-Bold"/>
              </a:rPr>
              <a:t>조명 최적화 작업 진행</a:t>
            </a:r>
            <a:endParaRPr lang="en-US" sz="2400" b="1" dirty="0">
              <a:solidFill>
                <a:srgbClr val="212D37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Be Vietnam Ultra-Bold"/>
            </a:endParaRPr>
          </a:p>
        </p:txBody>
      </p:sp>
      <p:sp>
        <p:nvSpPr>
          <p:cNvPr id="80" name="TextBox 80"/>
          <p:cNvSpPr txBox="1"/>
          <p:nvPr/>
        </p:nvSpPr>
        <p:spPr>
          <a:xfrm>
            <a:off x="14846794" y="6110172"/>
            <a:ext cx="2101053" cy="3163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URP </a:t>
            </a: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조명 세팅 최적화</a:t>
            </a:r>
          </a:p>
          <a:p>
            <a:pPr algn="ctr">
              <a:lnSpc>
                <a:spcPts val="2520"/>
              </a:lnSpc>
            </a:pP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en-US" altLang="ko-KR" sz="12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DayNight</a:t>
            </a: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시스템 연결</a:t>
            </a:r>
          </a:p>
          <a:p>
            <a:pPr algn="ctr">
              <a:lnSpc>
                <a:spcPts val="2520"/>
              </a:lnSpc>
            </a:pP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en-US" altLang="ko-KR" sz="12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AudioManager</a:t>
            </a: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구현</a:t>
            </a:r>
          </a:p>
          <a:p>
            <a:pPr algn="ctr">
              <a:lnSpc>
                <a:spcPts val="2520"/>
              </a:lnSpc>
            </a:pP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    </a:t>
            </a: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BGM + SFX </a:t>
            </a: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채널 분리</a:t>
            </a:r>
          </a:p>
          <a:p>
            <a:pPr algn="ctr">
              <a:lnSpc>
                <a:spcPts val="2520"/>
              </a:lnSpc>
            </a:pP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캐릭터 </a:t>
            </a: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C-02~09 </a:t>
            </a: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기초 배치</a:t>
            </a:r>
          </a:p>
          <a:p>
            <a:pPr algn="ctr">
              <a:lnSpc>
                <a:spcPts val="2520"/>
              </a:lnSpc>
            </a:pP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건물 모델 배치</a:t>
            </a:r>
          </a:p>
          <a:p>
            <a:pPr algn="ctr">
              <a:lnSpc>
                <a:spcPts val="2520"/>
              </a:lnSpc>
            </a:pP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</a:t>
            </a:r>
            <a:r>
              <a:rPr lang="ko-KR" altLang="en-US" sz="1200" dirty="0" err="1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데모씬</a:t>
            </a: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최종 정리</a:t>
            </a:r>
          </a:p>
          <a:p>
            <a:pPr algn="ctr">
              <a:lnSpc>
                <a:spcPts val="2520"/>
              </a:lnSpc>
            </a:pP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 최종 마일스톤</a:t>
            </a: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:</a:t>
            </a:r>
          </a:p>
          <a:p>
            <a:pPr algn="ctr">
              <a:lnSpc>
                <a:spcPts val="2520"/>
              </a:lnSpc>
            </a:pP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   </a:t>
            </a: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발표용 데모 플레이</a:t>
            </a:r>
          </a:p>
          <a:p>
            <a:pPr algn="ctr">
              <a:lnSpc>
                <a:spcPts val="2520"/>
              </a:lnSpc>
            </a:pP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    </a:t>
            </a: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5</a:t>
            </a: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분 연속 플레이 버그 </a:t>
            </a:r>
            <a:r>
              <a:rPr lang="en-US" altLang="ko-KR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0</a:t>
            </a:r>
            <a:r>
              <a:rPr lang="ko-KR" altLang="en-US" sz="1200" dirty="0">
                <a:solidFill>
                  <a:srgbClr val="1E2D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Inter"/>
              </a:rPr>
              <a:t>건</a:t>
            </a:r>
            <a:endParaRPr lang="en-US" sz="1200" dirty="0">
              <a:solidFill>
                <a:srgbClr val="1E2D4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Inter"/>
            </a:endParaRPr>
          </a:p>
        </p:txBody>
      </p:sp>
      <p:sp>
        <p:nvSpPr>
          <p:cNvPr id="81" name="TextBox 81"/>
          <p:cNvSpPr txBox="1"/>
          <p:nvPr/>
        </p:nvSpPr>
        <p:spPr>
          <a:xfrm>
            <a:off x="6946171" y="3320547"/>
            <a:ext cx="170325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Be Vietnam Ultra-Bold"/>
              </a:rPr>
              <a:t>9~12주차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651271" y="3320547"/>
            <a:ext cx="170325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Be Vietnam Ultra-Bold"/>
              </a:rPr>
              <a:t>13주차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2356371" y="3320547"/>
            <a:ext cx="170325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Be Vietnam Ultra-Bold"/>
              </a:rPr>
              <a:t>14~15주차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5061471" y="3320547"/>
            <a:ext cx="170325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Be Vietnam Ultra-Bold"/>
              </a:rPr>
              <a:t>16주차</a:t>
            </a:r>
          </a:p>
        </p:txBody>
      </p:sp>
      <p:sp>
        <p:nvSpPr>
          <p:cNvPr id="85" name="Google Shape;123;p16">
            <a:extLst>
              <a:ext uri="{FF2B5EF4-FFF2-40B4-BE49-F238E27FC236}">
                <a16:creationId xmlns:a16="http://schemas.microsoft.com/office/drawing/2014/main" id="{17743F07-4022-1CD1-EE7D-B2B16BAE96DA}"/>
              </a:ext>
            </a:extLst>
          </p:cNvPr>
          <p:cNvSpPr txBox="1"/>
          <p:nvPr/>
        </p:nvSpPr>
        <p:spPr>
          <a:xfrm>
            <a:off x="1214438" y="1409700"/>
            <a:ext cx="17012126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1</a:t>
            </a:r>
            <a:r>
              <a:rPr lang="ko-KR" alt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학기 개발 로드맵</a:t>
            </a:r>
            <a:endParaRPr sz="2700" dirty="0">
              <a:solidFill>
                <a:srgbClr val="15704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657AC62C-1C9D-B327-B3F5-DC2FBA237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DD1E872-0F0F-13A0-039E-19E969D4F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CB41D8A-AA5E-8811-60F7-8CABC43B9D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  <p:sp>
        <p:nvSpPr>
          <p:cNvPr id="15" name="Rectangle 4">
            <a:extLst>
              <a:ext uri="{FF2B5EF4-FFF2-40B4-BE49-F238E27FC236}">
                <a16:creationId xmlns:a16="http://schemas.microsoft.com/office/drawing/2014/main" id="{5EAD1F9F-7194-50BC-63BF-62FD175A1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487" y="3559937"/>
            <a:ext cx="3601597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EA2251-58D1-FA6A-FB4B-072138B2FE54}"/>
              </a:ext>
            </a:extLst>
          </p:cNvPr>
          <p:cNvSpPr txBox="1"/>
          <p:nvPr/>
        </p:nvSpPr>
        <p:spPr>
          <a:xfrm>
            <a:off x="2178050" y="2628900"/>
            <a:ext cx="139446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/>
              <a:t>1. [</a:t>
            </a:r>
            <a:r>
              <a:rPr lang="ko-KR" altLang="en-US" sz="2800" dirty="0"/>
              <a:t>코드 </a:t>
            </a:r>
            <a:r>
              <a:rPr lang="en-US" altLang="ko-KR" sz="2800" dirty="0"/>
              <a:t>— </a:t>
            </a:r>
            <a:r>
              <a:rPr lang="ko-KR" altLang="en-US" sz="2800" dirty="0"/>
              <a:t>게임플레이 시스템</a:t>
            </a:r>
            <a:r>
              <a:rPr lang="en-US" altLang="ko-KR" sz="2800" dirty="0"/>
              <a:t>](</a:t>
            </a:r>
            <a:r>
              <a:rPr lang="en-US" altLang="ko-KR" sz="2800" u="sng" dirty="0"/>
              <a:t>#1-</a:t>
            </a:r>
            <a:r>
              <a:rPr lang="ko-KR" altLang="en-US" sz="2800" u="sng" dirty="0"/>
              <a:t>코드</a:t>
            </a:r>
            <a:r>
              <a:rPr lang="en-US" altLang="ko-KR" sz="2800" u="sng" dirty="0"/>
              <a:t>--</a:t>
            </a:r>
            <a:r>
              <a:rPr lang="ko-KR" altLang="en-US" sz="2800" u="sng" dirty="0"/>
              <a:t>게임플레이</a:t>
            </a:r>
            <a:r>
              <a:rPr lang="en-US" altLang="ko-KR" sz="2800" u="sng" dirty="0"/>
              <a:t>-</a:t>
            </a:r>
            <a:r>
              <a:rPr lang="ko-KR" altLang="en-US" sz="2800" u="sng" dirty="0"/>
              <a:t>시스템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2. [</a:t>
            </a:r>
            <a:r>
              <a:rPr lang="ko-KR" altLang="en-US" sz="2800" dirty="0"/>
              <a:t>코드 </a:t>
            </a:r>
            <a:r>
              <a:rPr lang="en-US" altLang="ko-KR" sz="2800" dirty="0"/>
              <a:t>— UI </a:t>
            </a:r>
            <a:r>
              <a:rPr lang="ko-KR" altLang="en-US" sz="2800" dirty="0"/>
              <a:t>스크립트</a:t>
            </a:r>
            <a:r>
              <a:rPr lang="en-US" altLang="ko-KR" sz="2800" dirty="0"/>
              <a:t>](</a:t>
            </a:r>
            <a:r>
              <a:rPr lang="en-US" altLang="ko-KR" sz="2800" u="sng" dirty="0"/>
              <a:t>#2-</a:t>
            </a:r>
            <a:r>
              <a:rPr lang="ko-KR" altLang="en-US" sz="2800" u="sng" dirty="0"/>
              <a:t>코드</a:t>
            </a:r>
            <a:r>
              <a:rPr lang="en-US" altLang="ko-KR" sz="2800" u="sng" dirty="0"/>
              <a:t>--</a:t>
            </a:r>
            <a:r>
              <a:rPr lang="en-US" altLang="ko-KR" sz="2800" u="sng" dirty="0" err="1"/>
              <a:t>ui</a:t>
            </a:r>
            <a:r>
              <a:rPr lang="en-US" altLang="ko-KR" sz="2800" u="sng" dirty="0"/>
              <a:t>-</a:t>
            </a:r>
            <a:r>
              <a:rPr lang="ko-KR" altLang="en-US" sz="2800" u="sng" dirty="0"/>
              <a:t>스크립트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3. [</a:t>
            </a:r>
            <a:r>
              <a:rPr lang="ko-KR" altLang="en-US" sz="2800" dirty="0"/>
              <a:t>코드 </a:t>
            </a:r>
            <a:r>
              <a:rPr lang="en-US" altLang="ko-KR" sz="2800" dirty="0"/>
              <a:t>— </a:t>
            </a:r>
            <a:r>
              <a:rPr lang="en-US" altLang="ko-KR" sz="2800" dirty="0" err="1"/>
              <a:t>ScriptableObject</a:t>
            </a:r>
            <a:r>
              <a:rPr lang="en-US" altLang="ko-KR" sz="2800" dirty="0"/>
              <a:t> </a:t>
            </a:r>
            <a:r>
              <a:rPr lang="ko-KR" altLang="en-US" sz="2800" dirty="0"/>
              <a:t>클래스</a:t>
            </a:r>
            <a:r>
              <a:rPr lang="en-US" altLang="ko-KR" sz="2800" dirty="0"/>
              <a:t>](</a:t>
            </a:r>
            <a:r>
              <a:rPr lang="en-US" altLang="ko-KR" sz="2800" u="sng" dirty="0"/>
              <a:t>#3-</a:t>
            </a:r>
            <a:r>
              <a:rPr lang="ko-KR" altLang="en-US" sz="2800" u="sng" dirty="0"/>
              <a:t>코드</a:t>
            </a:r>
            <a:r>
              <a:rPr lang="en-US" altLang="ko-KR" sz="2800" u="sng" dirty="0"/>
              <a:t>--</a:t>
            </a:r>
            <a:r>
              <a:rPr lang="en-US" altLang="ko-KR" sz="2800" u="sng" dirty="0" err="1"/>
              <a:t>scriptableobject</a:t>
            </a:r>
            <a:r>
              <a:rPr lang="en-US" altLang="ko-KR" sz="2800" u="sng" dirty="0"/>
              <a:t>-</a:t>
            </a:r>
            <a:r>
              <a:rPr lang="ko-KR" altLang="en-US" sz="2800" u="sng" dirty="0"/>
              <a:t>클래스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4. [</a:t>
            </a:r>
            <a:r>
              <a:rPr lang="ko-KR" altLang="en-US" sz="2800" dirty="0"/>
              <a:t>코드 </a:t>
            </a:r>
            <a:r>
              <a:rPr lang="en-US" altLang="ko-KR" sz="2800" dirty="0"/>
              <a:t>— </a:t>
            </a:r>
            <a:r>
              <a:rPr lang="ko-KR" altLang="en-US" sz="2800" dirty="0"/>
              <a:t>에디터 도구</a:t>
            </a:r>
            <a:r>
              <a:rPr lang="en-US" altLang="ko-KR" sz="2800" dirty="0"/>
              <a:t>](</a:t>
            </a:r>
            <a:r>
              <a:rPr lang="en-US" altLang="ko-KR" sz="2800" u="sng" dirty="0"/>
              <a:t>#4-</a:t>
            </a:r>
            <a:r>
              <a:rPr lang="ko-KR" altLang="en-US" sz="2800" u="sng" dirty="0"/>
              <a:t>코드</a:t>
            </a:r>
            <a:r>
              <a:rPr lang="en-US" altLang="ko-KR" sz="2800" u="sng" dirty="0"/>
              <a:t>--</a:t>
            </a:r>
            <a:r>
              <a:rPr lang="ko-KR" altLang="en-US" sz="2800" u="sng" dirty="0"/>
              <a:t>에디터</a:t>
            </a:r>
            <a:r>
              <a:rPr lang="en-US" altLang="ko-KR" sz="2800" u="sng" dirty="0"/>
              <a:t>-</a:t>
            </a:r>
            <a:r>
              <a:rPr lang="ko-KR" altLang="en-US" sz="2800" u="sng" dirty="0"/>
              <a:t>도구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5. [</a:t>
            </a:r>
            <a:r>
              <a:rPr lang="ko-KR" altLang="en-US" sz="2800" dirty="0"/>
              <a:t>씬 구성 </a:t>
            </a:r>
            <a:r>
              <a:rPr lang="en-US" altLang="ko-KR" sz="2800" dirty="0"/>
              <a:t>— </a:t>
            </a:r>
            <a:r>
              <a:rPr lang="en-US" altLang="ko-KR" sz="2800" dirty="0" err="1"/>
              <a:t>GameObject</a:t>
            </a:r>
            <a:r>
              <a:rPr lang="en-US" altLang="ko-KR" sz="2800" dirty="0"/>
              <a:t> </a:t>
            </a:r>
            <a:r>
              <a:rPr lang="ko-KR" altLang="en-US" sz="2800" dirty="0"/>
              <a:t>배치 </a:t>
            </a:r>
            <a:r>
              <a:rPr lang="en-US" altLang="ko-KR" sz="2800" dirty="0"/>
              <a:t>&amp; </a:t>
            </a:r>
            <a:r>
              <a:rPr lang="ko-KR" altLang="en-US" sz="2800" dirty="0"/>
              <a:t>컴포넌트 연결</a:t>
            </a:r>
            <a:r>
              <a:rPr lang="en-US" altLang="ko-KR" sz="2800" dirty="0"/>
              <a:t>](</a:t>
            </a:r>
            <a:r>
              <a:rPr lang="en-US" altLang="ko-KR" sz="2800" u="sng" dirty="0"/>
              <a:t>#5-</a:t>
            </a:r>
            <a:r>
              <a:rPr lang="ko-KR" altLang="en-US" sz="2800" u="sng" dirty="0"/>
              <a:t>씬</a:t>
            </a:r>
            <a:r>
              <a:rPr lang="en-US" altLang="ko-KR" sz="2800" u="sng" dirty="0"/>
              <a:t>-</a:t>
            </a:r>
            <a:r>
              <a:rPr lang="ko-KR" altLang="en-US" sz="2800" u="sng" dirty="0"/>
              <a:t>구성</a:t>
            </a:r>
            <a:r>
              <a:rPr lang="en-US" altLang="ko-KR" sz="2800" u="sng" dirty="0"/>
              <a:t>--</a:t>
            </a:r>
            <a:r>
              <a:rPr lang="en-US" altLang="ko-KR" sz="2800" u="sng" dirty="0" err="1"/>
              <a:t>gameobject</a:t>
            </a:r>
            <a:r>
              <a:rPr lang="en-US" altLang="ko-KR" sz="2800" u="sng" dirty="0"/>
              <a:t>-</a:t>
            </a:r>
            <a:r>
              <a:rPr lang="ko-KR" altLang="en-US" sz="2800" u="sng" dirty="0"/>
              <a:t>배치</a:t>
            </a:r>
            <a:r>
              <a:rPr lang="en-US" altLang="ko-KR" sz="2800" u="sng" dirty="0"/>
              <a:t>--</a:t>
            </a:r>
            <a:r>
              <a:rPr lang="ko-KR" altLang="en-US" sz="2800" u="sng" dirty="0"/>
              <a:t>컴포넌트</a:t>
            </a:r>
            <a:r>
              <a:rPr lang="en-US" altLang="ko-KR" sz="2800" u="sng" dirty="0"/>
              <a:t>-</a:t>
            </a:r>
            <a:r>
              <a:rPr lang="ko-KR" altLang="en-US" sz="2800" u="sng" dirty="0"/>
              <a:t>연결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6. [UI — Canvas </a:t>
            </a:r>
            <a:r>
              <a:rPr lang="ko-KR" altLang="en-US" sz="2800" dirty="0"/>
              <a:t>계층 </a:t>
            </a:r>
            <a:r>
              <a:rPr lang="en-US" altLang="ko-KR" sz="2800" dirty="0"/>
              <a:t>&amp; </a:t>
            </a:r>
            <a:r>
              <a:rPr lang="ko-KR" altLang="en-US" sz="2800" dirty="0"/>
              <a:t>레이아웃</a:t>
            </a:r>
            <a:r>
              <a:rPr lang="en-US" altLang="ko-KR" sz="2800" dirty="0"/>
              <a:t>](</a:t>
            </a:r>
            <a:r>
              <a:rPr lang="en-US" altLang="ko-KR" sz="2800" u="sng" dirty="0"/>
              <a:t>#6-ui--canvas-</a:t>
            </a:r>
            <a:r>
              <a:rPr lang="ko-KR" altLang="en-US" sz="2800" u="sng" dirty="0"/>
              <a:t>계층</a:t>
            </a:r>
            <a:r>
              <a:rPr lang="en-US" altLang="ko-KR" sz="2800" u="sng" dirty="0"/>
              <a:t>--</a:t>
            </a:r>
            <a:r>
              <a:rPr lang="ko-KR" altLang="en-US" sz="2800" u="sng" dirty="0"/>
              <a:t>레이아웃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7. [</a:t>
            </a:r>
            <a:r>
              <a:rPr lang="ko-KR" altLang="en-US" sz="2800" dirty="0" err="1"/>
              <a:t>에셋</a:t>
            </a:r>
            <a:r>
              <a:rPr lang="ko-KR" altLang="en-US" sz="2800" dirty="0"/>
              <a:t> </a:t>
            </a:r>
            <a:r>
              <a:rPr lang="en-US" altLang="ko-KR" sz="2800" dirty="0"/>
              <a:t>— </a:t>
            </a:r>
            <a:r>
              <a:rPr lang="en-US" altLang="ko-KR" sz="2800" dirty="0" err="1"/>
              <a:t>ScriptableObject</a:t>
            </a:r>
            <a:r>
              <a:rPr lang="en-US" altLang="ko-KR" sz="2800" dirty="0"/>
              <a:t> </a:t>
            </a:r>
            <a:r>
              <a:rPr lang="ko-KR" altLang="en-US" sz="2800" dirty="0"/>
              <a:t>인스턴스 </a:t>
            </a:r>
            <a:r>
              <a:rPr lang="en-US" altLang="ko-KR" sz="2800" dirty="0"/>
              <a:t>(</a:t>
            </a:r>
            <a:r>
              <a:rPr lang="ko-KR" altLang="en-US" sz="2800" dirty="0"/>
              <a:t>데이터 입력</a:t>
            </a:r>
            <a:r>
              <a:rPr lang="en-US" altLang="ko-KR" sz="2800" dirty="0"/>
              <a:t>)](</a:t>
            </a:r>
            <a:r>
              <a:rPr lang="en-US" altLang="ko-KR" sz="2800" u="sng" dirty="0"/>
              <a:t>#7-</a:t>
            </a:r>
            <a:r>
              <a:rPr lang="ko-KR" altLang="en-US" sz="2800" u="sng" dirty="0" err="1"/>
              <a:t>에셋</a:t>
            </a:r>
            <a:r>
              <a:rPr lang="en-US" altLang="ko-KR" sz="2800" u="sng" dirty="0"/>
              <a:t>--</a:t>
            </a:r>
            <a:r>
              <a:rPr lang="en-US" altLang="ko-KR" sz="2800" u="sng" dirty="0" err="1"/>
              <a:t>scriptableobject</a:t>
            </a:r>
            <a:r>
              <a:rPr lang="en-US" altLang="ko-KR" sz="2800" u="sng" dirty="0"/>
              <a:t>-</a:t>
            </a:r>
            <a:r>
              <a:rPr lang="ko-KR" altLang="en-US" sz="2800" u="sng" dirty="0"/>
              <a:t>인스턴스</a:t>
            </a:r>
            <a:r>
              <a:rPr lang="en-US" altLang="ko-KR" sz="2800" u="sng" dirty="0"/>
              <a:t>-</a:t>
            </a:r>
            <a:r>
              <a:rPr lang="ko-KR" altLang="en-US" sz="2800" u="sng" dirty="0"/>
              <a:t>데이터</a:t>
            </a:r>
            <a:r>
              <a:rPr lang="en-US" altLang="ko-KR" sz="2800" u="sng" dirty="0"/>
              <a:t>-</a:t>
            </a:r>
            <a:r>
              <a:rPr lang="ko-KR" altLang="en-US" sz="2800" u="sng" dirty="0"/>
              <a:t>입력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8. [</a:t>
            </a:r>
            <a:r>
              <a:rPr lang="ko-KR" altLang="en-US" sz="2800" dirty="0" err="1"/>
              <a:t>에셋</a:t>
            </a:r>
            <a:r>
              <a:rPr lang="ko-KR" altLang="en-US" sz="2800" dirty="0"/>
              <a:t> </a:t>
            </a:r>
            <a:r>
              <a:rPr lang="en-US" altLang="ko-KR" sz="2800" dirty="0"/>
              <a:t>— 3D </a:t>
            </a:r>
            <a:r>
              <a:rPr lang="ko-KR" altLang="en-US" sz="2800" dirty="0"/>
              <a:t>모델 </a:t>
            </a:r>
            <a:r>
              <a:rPr lang="en-US" altLang="ko-KR" sz="2800" dirty="0"/>
              <a:t>(</a:t>
            </a:r>
            <a:r>
              <a:rPr lang="ko-KR" altLang="en-US" sz="2800" dirty="0"/>
              <a:t>캐릭터</a:t>
            </a:r>
            <a:r>
              <a:rPr lang="en-US" altLang="ko-KR" sz="2800" dirty="0"/>
              <a:t>)](</a:t>
            </a:r>
            <a:r>
              <a:rPr lang="en-US" altLang="ko-KR" sz="2800" u="sng" dirty="0"/>
              <a:t>#8-</a:t>
            </a:r>
            <a:r>
              <a:rPr lang="ko-KR" altLang="en-US" sz="2800" u="sng" dirty="0" err="1"/>
              <a:t>에셋</a:t>
            </a:r>
            <a:r>
              <a:rPr lang="en-US" altLang="ko-KR" sz="2800" u="sng" dirty="0"/>
              <a:t>--3d-</a:t>
            </a:r>
            <a:r>
              <a:rPr lang="ko-KR" altLang="en-US" sz="2800" u="sng" dirty="0"/>
              <a:t>모델</a:t>
            </a:r>
            <a:r>
              <a:rPr lang="en-US" altLang="ko-KR" sz="2800" u="sng" dirty="0"/>
              <a:t>-</a:t>
            </a:r>
            <a:r>
              <a:rPr lang="ko-KR" altLang="en-US" sz="2800" u="sng" dirty="0"/>
              <a:t>캐릭터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9. [</a:t>
            </a:r>
            <a:r>
              <a:rPr lang="ko-KR" altLang="en-US" sz="2800" dirty="0" err="1"/>
              <a:t>에셋</a:t>
            </a:r>
            <a:r>
              <a:rPr lang="ko-KR" altLang="en-US" sz="2800" dirty="0"/>
              <a:t> </a:t>
            </a:r>
            <a:r>
              <a:rPr lang="en-US" altLang="ko-KR" sz="2800" dirty="0"/>
              <a:t>— 3D </a:t>
            </a:r>
            <a:r>
              <a:rPr lang="ko-KR" altLang="en-US" sz="2800" dirty="0"/>
              <a:t>모델 </a:t>
            </a:r>
            <a:r>
              <a:rPr lang="en-US" altLang="ko-KR" sz="2800" dirty="0"/>
              <a:t>(</a:t>
            </a:r>
            <a:r>
              <a:rPr lang="ko-KR" altLang="en-US" sz="2800" dirty="0"/>
              <a:t>건물</a:t>
            </a:r>
            <a:r>
              <a:rPr lang="en-US" altLang="ko-KR" sz="2800" dirty="0"/>
              <a:t>·</a:t>
            </a:r>
            <a:r>
              <a:rPr lang="ko-KR" altLang="en-US" sz="2800" dirty="0"/>
              <a:t>환경</a:t>
            </a:r>
            <a:r>
              <a:rPr lang="en-US" altLang="ko-KR" sz="2800" dirty="0"/>
              <a:t>·</a:t>
            </a:r>
            <a:r>
              <a:rPr lang="ko-KR" altLang="en-US" sz="2800" dirty="0"/>
              <a:t>소품</a:t>
            </a:r>
            <a:r>
              <a:rPr lang="en-US" altLang="ko-KR" sz="2800" dirty="0"/>
              <a:t>)](</a:t>
            </a:r>
            <a:r>
              <a:rPr lang="en-US" altLang="ko-KR" sz="2800" u="sng" dirty="0"/>
              <a:t>#9-</a:t>
            </a:r>
            <a:r>
              <a:rPr lang="ko-KR" altLang="en-US" sz="2800" u="sng" dirty="0" err="1"/>
              <a:t>에셋</a:t>
            </a:r>
            <a:r>
              <a:rPr lang="en-US" altLang="ko-KR" sz="2800" u="sng" dirty="0"/>
              <a:t>--3d-</a:t>
            </a:r>
            <a:r>
              <a:rPr lang="ko-KR" altLang="en-US" sz="2800" u="sng" dirty="0"/>
              <a:t>모델</a:t>
            </a:r>
            <a:r>
              <a:rPr lang="en-US" altLang="ko-KR" sz="2800" u="sng" dirty="0"/>
              <a:t>-</a:t>
            </a:r>
            <a:r>
              <a:rPr lang="ko-KR" altLang="en-US" sz="2800" u="sng" dirty="0"/>
              <a:t>건물환경소품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10. [</a:t>
            </a:r>
            <a:r>
              <a:rPr lang="ko-KR" altLang="en-US" sz="2800" dirty="0" err="1"/>
              <a:t>에셋</a:t>
            </a:r>
            <a:r>
              <a:rPr lang="ko-KR" altLang="en-US" sz="2800" dirty="0"/>
              <a:t> </a:t>
            </a:r>
            <a:r>
              <a:rPr lang="en-US" altLang="ko-KR" sz="2800" dirty="0"/>
              <a:t>— UI </a:t>
            </a:r>
            <a:r>
              <a:rPr lang="ko-KR" altLang="en-US" sz="2800" dirty="0" err="1"/>
              <a:t>스프라이트</a:t>
            </a:r>
            <a:r>
              <a:rPr lang="en-US" altLang="ko-KR" sz="2800" dirty="0"/>
              <a:t>](</a:t>
            </a:r>
            <a:r>
              <a:rPr lang="en-US" altLang="ko-KR" sz="2800" u="sng" dirty="0"/>
              <a:t>#10-</a:t>
            </a:r>
            <a:r>
              <a:rPr lang="ko-KR" altLang="en-US" sz="2800" u="sng" dirty="0" err="1"/>
              <a:t>에셋</a:t>
            </a:r>
            <a:r>
              <a:rPr lang="en-US" altLang="ko-KR" sz="2800" u="sng" dirty="0"/>
              <a:t>--</a:t>
            </a:r>
            <a:r>
              <a:rPr lang="en-US" altLang="ko-KR" sz="2800" u="sng" dirty="0" err="1"/>
              <a:t>ui</a:t>
            </a:r>
            <a:r>
              <a:rPr lang="en-US" altLang="ko-KR" sz="2800" u="sng" dirty="0"/>
              <a:t>-</a:t>
            </a:r>
            <a:r>
              <a:rPr lang="ko-KR" altLang="en-US" sz="2800" u="sng" dirty="0" err="1"/>
              <a:t>스프라이트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11. [</a:t>
            </a:r>
            <a:r>
              <a:rPr lang="ko-KR" altLang="en-US" sz="2800" dirty="0" err="1"/>
              <a:t>에셋</a:t>
            </a:r>
            <a:r>
              <a:rPr lang="ko-KR" altLang="en-US" sz="2800" dirty="0"/>
              <a:t> </a:t>
            </a:r>
            <a:r>
              <a:rPr lang="en-US" altLang="ko-KR" sz="2800" dirty="0"/>
              <a:t>— </a:t>
            </a:r>
            <a:r>
              <a:rPr lang="ko-KR" altLang="en-US" sz="2800" dirty="0"/>
              <a:t>아이템 아이콘 </a:t>
            </a:r>
            <a:r>
              <a:rPr lang="en-US" altLang="ko-KR" sz="2800" dirty="0"/>
              <a:t>&amp; </a:t>
            </a:r>
            <a:r>
              <a:rPr lang="ko-KR" altLang="en-US" sz="2800" dirty="0"/>
              <a:t>오디오</a:t>
            </a:r>
            <a:r>
              <a:rPr lang="en-US" altLang="ko-KR" sz="2800" dirty="0"/>
              <a:t>](</a:t>
            </a:r>
            <a:r>
              <a:rPr lang="en-US" altLang="ko-KR" sz="2800" u="sng" dirty="0"/>
              <a:t>#11-</a:t>
            </a:r>
            <a:r>
              <a:rPr lang="ko-KR" altLang="en-US" sz="2800" u="sng" dirty="0" err="1"/>
              <a:t>에셋</a:t>
            </a:r>
            <a:r>
              <a:rPr lang="en-US" altLang="ko-KR" sz="2800" u="sng" dirty="0"/>
              <a:t>--</a:t>
            </a:r>
            <a:r>
              <a:rPr lang="ko-KR" altLang="en-US" sz="2800" u="sng" dirty="0"/>
              <a:t>아이템</a:t>
            </a:r>
            <a:r>
              <a:rPr lang="en-US" altLang="ko-KR" sz="2800" u="sng" dirty="0"/>
              <a:t>-</a:t>
            </a:r>
            <a:r>
              <a:rPr lang="ko-KR" altLang="en-US" sz="2800" u="sng" dirty="0"/>
              <a:t>아이콘</a:t>
            </a:r>
            <a:r>
              <a:rPr lang="en-US" altLang="ko-KR" sz="2800" u="sng" dirty="0"/>
              <a:t>--</a:t>
            </a:r>
            <a:r>
              <a:rPr lang="ko-KR" altLang="en-US" sz="2800" u="sng" dirty="0"/>
              <a:t>오디오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12. [</a:t>
            </a:r>
            <a:r>
              <a:rPr lang="ko-KR" altLang="en-US" sz="2800" dirty="0"/>
              <a:t>애니메이션 </a:t>
            </a:r>
            <a:r>
              <a:rPr lang="en-US" altLang="ko-KR" sz="2800" dirty="0"/>
              <a:t>— </a:t>
            </a:r>
            <a:r>
              <a:rPr lang="ko-KR" altLang="en-US" sz="2800" dirty="0"/>
              <a:t>클립 </a:t>
            </a:r>
            <a:r>
              <a:rPr lang="en-US" altLang="ko-KR" sz="2800" dirty="0"/>
              <a:t>&amp; </a:t>
            </a:r>
            <a:r>
              <a:rPr lang="ko-KR" altLang="en-US" sz="2800" dirty="0"/>
              <a:t>컨트롤러</a:t>
            </a:r>
            <a:r>
              <a:rPr lang="en-US" altLang="ko-KR" sz="2800" dirty="0"/>
              <a:t>](</a:t>
            </a:r>
            <a:r>
              <a:rPr lang="en-US" altLang="ko-KR" sz="2800" u="sng" dirty="0"/>
              <a:t>#12-</a:t>
            </a:r>
            <a:r>
              <a:rPr lang="ko-KR" altLang="en-US" sz="2800" u="sng" dirty="0"/>
              <a:t>애니메이션</a:t>
            </a:r>
            <a:r>
              <a:rPr lang="en-US" altLang="ko-KR" sz="2800" u="sng" dirty="0"/>
              <a:t>--</a:t>
            </a:r>
            <a:r>
              <a:rPr lang="ko-KR" altLang="en-US" sz="2800" u="sng" dirty="0"/>
              <a:t>클립</a:t>
            </a:r>
            <a:r>
              <a:rPr lang="en-US" altLang="ko-KR" sz="2800" u="sng" dirty="0"/>
              <a:t>--</a:t>
            </a:r>
            <a:r>
              <a:rPr lang="ko-KR" altLang="en-US" sz="2800" u="sng" dirty="0"/>
              <a:t>컨트롤러</a:t>
            </a:r>
            <a:r>
              <a:rPr lang="en-US" altLang="ko-KR" sz="2800" dirty="0"/>
              <a:t>)</a:t>
            </a:r>
          </a:p>
        </p:txBody>
      </p:sp>
      <p:sp>
        <p:nvSpPr>
          <p:cNvPr id="5" name="Google Shape;124;p16">
            <a:extLst>
              <a:ext uri="{FF2B5EF4-FFF2-40B4-BE49-F238E27FC236}">
                <a16:creationId xmlns:a16="http://schemas.microsoft.com/office/drawing/2014/main" id="{647BD459-EE9E-23FD-CB16-985DB3FD1FAD}"/>
              </a:ext>
            </a:extLst>
          </p:cNvPr>
          <p:cNvSpPr/>
          <p:nvPr/>
        </p:nvSpPr>
        <p:spPr>
          <a:xfrm>
            <a:off x="871538" y="1440581"/>
            <a:ext cx="114300" cy="822870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sp>
        <p:nvSpPr>
          <p:cNvPr id="6" name="Google Shape;123;p16">
            <a:extLst>
              <a:ext uri="{FF2B5EF4-FFF2-40B4-BE49-F238E27FC236}">
                <a16:creationId xmlns:a16="http://schemas.microsoft.com/office/drawing/2014/main" id="{5327FD1A-35E2-EBAF-9344-966E24D74220}"/>
              </a:ext>
            </a:extLst>
          </p:cNvPr>
          <p:cNvSpPr txBox="1"/>
          <p:nvPr/>
        </p:nvSpPr>
        <p:spPr>
          <a:xfrm>
            <a:off x="1214438" y="1409700"/>
            <a:ext cx="17012126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상세 기능 명세서 </a:t>
            </a:r>
            <a:r>
              <a:rPr lang="en-US" altLang="ko-KR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- </a:t>
            </a:r>
            <a:r>
              <a:rPr lang="ko-KR" alt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목차</a:t>
            </a:r>
            <a:endParaRPr sz="2700" dirty="0">
              <a:solidFill>
                <a:srgbClr val="15704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6444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8483926F-712A-2F37-FE15-BC6AF8414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361E9B2-7522-F040-3C6F-64F94AD1D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837A653C-6C27-1E96-9899-B07C4F9BC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  <p:sp>
        <p:nvSpPr>
          <p:cNvPr id="15" name="Rectangle 4">
            <a:extLst>
              <a:ext uri="{FF2B5EF4-FFF2-40B4-BE49-F238E27FC236}">
                <a16:creationId xmlns:a16="http://schemas.microsoft.com/office/drawing/2014/main" id="{91EAA9D9-A44D-A375-2496-25E34451F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487" y="3559937"/>
            <a:ext cx="3601597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BC7191-48CA-208C-E28E-607676DB3513}"/>
              </a:ext>
            </a:extLst>
          </p:cNvPr>
          <p:cNvSpPr txBox="1"/>
          <p:nvPr/>
        </p:nvSpPr>
        <p:spPr>
          <a:xfrm>
            <a:off x="2178050" y="2628900"/>
            <a:ext cx="139446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/>
              <a:t>1. [</a:t>
            </a:r>
            <a:r>
              <a:rPr lang="ko-KR" altLang="en-US" sz="2800" dirty="0"/>
              <a:t>코드 </a:t>
            </a:r>
            <a:r>
              <a:rPr lang="en-US" altLang="ko-KR" sz="2800" dirty="0"/>
              <a:t>— </a:t>
            </a:r>
            <a:r>
              <a:rPr lang="ko-KR" altLang="en-US" sz="2800" dirty="0"/>
              <a:t>게임플레이 시스템</a:t>
            </a:r>
            <a:r>
              <a:rPr lang="en-US" altLang="ko-KR" sz="2800" dirty="0"/>
              <a:t>](</a:t>
            </a:r>
            <a:r>
              <a:rPr lang="en-US" altLang="ko-KR" sz="2800" u="sng" dirty="0"/>
              <a:t>#1-</a:t>
            </a:r>
            <a:r>
              <a:rPr lang="ko-KR" altLang="en-US" sz="2800" u="sng" dirty="0"/>
              <a:t>코드</a:t>
            </a:r>
            <a:r>
              <a:rPr lang="en-US" altLang="ko-KR" sz="2800" u="sng" dirty="0"/>
              <a:t>--</a:t>
            </a:r>
            <a:r>
              <a:rPr lang="ko-KR" altLang="en-US" sz="2800" u="sng" dirty="0"/>
              <a:t>게임플레이</a:t>
            </a:r>
            <a:r>
              <a:rPr lang="en-US" altLang="ko-KR" sz="2800" u="sng" dirty="0"/>
              <a:t>-</a:t>
            </a:r>
            <a:r>
              <a:rPr lang="ko-KR" altLang="en-US" sz="2800" u="sng" dirty="0"/>
              <a:t>시스템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2. [</a:t>
            </a:r>
            <a:r>
              <a:rPr lang="ko-KR" altLang="en-US" sz="2800" dirty="0"/>
              <a:t>코드 </a:t>
            </a:r>
            <a:r>
              <a:rPr lang="en-US" altLang="ko-KR" sz="2800" dirty="0"/>
              <a:t>— UI </a:t>
            </a:r>
            <a:r>
              <a:rPr lang="ko-KR" altLang="en-US" sz="2800" dirty="0"/>
              <a:t>스크립트</a:t>
            </a:r>
            <a:r>
              <a:rPr lang="en-US" altLang="ko-KR" sz="2800" dirty="0"/>
              <a:t>](</a:t>
            </a:r>
            <a:r>
              <a:rPr lang="en-US" altLang="ko-KR" sz="2800" u="sng" dirty="0"/>
              <a:t>#2-</a:t>
            </a:r>
            <a:r>
              <a:rPr lang="ko-KR" altLang="en-US" sz="2800" u="sng" dirty="0"/>
              <a:t>코드</a:t>
            </a:r>
            <a:r>
              <a:rPr lang="en-US" altLang="ko-KR" sz="2800" u="sng" dirty="0"/>
              <a:t>--</a:t>
            </a:r>
            <a:r>
              <a:rPr lang="en-US" altLang="ko-KR" sz="2800" u="sng" dirty="0" err="1"/>
              <a:t>ui</a:t>
            </a:r>
            <a:r>
              <a:rPr lang="en-US" altLang="ko-KR" sz="2800" u="sng" dirty="0"/>
              <a:t>-</a:t>
            </a:r>
            <a:r>
              <a:rPr lang="ko-KR" altLang="en-US" sz="2800" u="sng" dirty="0"/>
              <a:t>스크립트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3. [</a:t>
            </a:r>
            <a:r>
              <a:rPr lang="ko-KR" altLang="en-US" sz="2800" dirty="0"/>
              <a:t>코드 </a:t>
            </a:r>
            <a:r>
              <a:rPr lang="en-US" altLang="ko-KR" sz="2800" dirty="0"/>
              <a:t>— </a:t>
            </a:r>
            <a:r>
              <a:rPr lang="en-US" altLang="ko-KR" sz="2800" dirty="0" err="1"/>
              <a:t>ScriptableObject</a:t>
            </a:r>
            <a:r>
              <a:rPr lang="en-US" altLang="ko-KR" sz="2800" dirty="0"/>
              <a:t> </a:t>
            </a:r>
            <a:r>
              <a:rPr lang="ko-KR" altLang="en-US" sz="2800" dirty="0"/>
              <a:t>클래스</a:t>
            </a:r>
            <a:r>
              <a:rPr lang="en-US" altLang="ko-KR" sz="2800" dirty="0"/>
              <a:t>](</a:t>
            </a:r>
            <a:r>
              <a:rPr lang="en-US" altLang="ko-KR" sz="2800" u="sng" dirty="0"/>
              <a:t>#3-</a:t>
            </a:r>
            <a:r>
              <a:rPr lang="ko-KR" altLang="en-US" sz="2800" u="sng" dirty="0"/>
              <a:t>코드</a:t>
            </a:r>
            <a:r>
              <a:rPr lang="en-US" altLang="ko-KR" sz="2800" u="sng" dirty="0"/>
              <a:t>--</a:t>
            </a:r>
            <a:r>
              <a:rPr lang="en-US" altLang="ko-KR" sz="2800" u="sng" dirty="0" err="1"/>
              <a:t>scriptableobject</a:t>
            </a:r>
            <a:r>
              <a:rPr lang="en-US" altLang="ko-KR" sz="2800" u="sng" dirty="0"/>
              <a:t>-</a:t>
            </a:r>
            <a:r>
              <a:rPr lang="ko-KR" altLang="en-US" sz="2800" u="sng" dirty="0"/>
              <a:t>클래스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4. [</a:t>
            </a:r>
            <a:r>
              <a:rPr lang="ko-KR" altLang="en-US" sz="2800" dirty="0"/>
              <a:t>코드 </a:t>
            </a:r>
            <a:r>
              <a:rPr lang="en-US" altLang="ko-KR" sz="2800" dirty="0"/>
              <a:t>— </a:t>
            </a:r>
            <a:r>
              <a:rPr lang="ko-KR" altLang="en-US" sz="2800" dirty="0"/>
              <a:t>에디터 도구</a:t>
            </a:r>
            <a:r>
              <a:rPr lang="en-US" altLang="ko-KR" sz="2800" dirty="0"/>
              <a:t>](</a:t>
            </a:r>
            <a:r>
              <a:rPr lang="en-US" altLang="ko-KR" sz="2800" u="sng" dirty="0"/>
              <a:t>#4-</a:t>
            </a:r>
            <a:r>
              <a:rPr lang="ko-KR" altLang="en-US" sz="2800" u="sng" dirty="0"/>
              <a:t>코드</a:t>
            </a:r>
            <a:r>
              <a:rPr lang="en-US" altLang="ko-KR" sz="2800" u="sng" dirty="0"/>
              <a:t>--</a:t>
            </a:r>
            <a:r>
              <a:rPr lang="ko-KR" altLang="en-US" sz="2800" u="sng" dirty="0"/>
              <a:t>에디터</a:t>
            </a:r>
            <a:r>
              <a:rPr lang="en-US" altLang="ko-KR" sz="2800" u="sng" dirty="0"/>
              <a:t>-</a:t>
            </a:r>
            <a:r>
              <a:rPr lang="ko-KR" altLang="en-US" sz="2800" u="sng" dirty="0"/>
              <a:t>도구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5. [</a:t>
            </a:r>
            <a:r>
              <a:rPr lang="ko-KR" altLang="en-US" sz="2800" dirty="0"/>
              <a:t>씬 구성 </a:t>
            </a:r>
            <a:r>
              <a:rPr lang="en-US" altLang="ko-KR" sz="2800" dirty="0"/>
              <a:t>— </a:t>
            </a:r>
            <a:r>
              <a:rPr lang="en-US" altLang="ko-KR" sz="2800" dirty="0" err="1"/>
              <a:t>GameObject</a:t>
            </a:r>
            <a:r>
              <a:rPr lang="en-US" altLang="ko-KR" sz="2800" dirty="0"/>
              <a:t> </a:t>
            </a:r>
            <a:r>
              <a:rPr lang="ko-KR" altLang="en-US" sz="2800" dirty="0"/>
              <a:t>배치 </a:t>
            </a:r>
            <a:r>
              <a:rPr lang="en-US" altLang="ko-KR" sz="2800" dirty="0"/>
              <a:t>&amp; </a:t>
            </a:r>
            <a:r>
              <a:rPr lang="ko-KR" altLang="en-US" sz="2800" dirty="0"/>
              <a:t>컴포넌트 연결</a:t>
            </a:r>
            <a:r>
              <a:rPr lang="en-US" altLang="ko-KR" sz="2800" dirty="0"/>
              <a:t>](</a:t>
            </a:r>
            <a:r>
              <a:rPr lang="en-US" altLang="ko-KR" sz="2800" u="sng" dirty="0"/>
              <a:t>#5-</a:t>
            </a:r>
            <a:r>
              <a:rPr lang="ko-KR" altLang="en-US" sz="2800" u="sng" dirty="0"/>
              <a:t>씬</a:t>
            </a:r>
            <a:r>
              <a:rPr lang="en-US" altLang="ko-KR" sz="2800" u="sng" dirty="0"/>
              <a:t>-</a:t>
            </a:r>
            <a:r>
              <a:rPr lang="ko-KR" altLang="en-US" sz="2800" u="sng" dirty="0"/>
              <a:t>구성</a:t>
            </a:r>
            <a:r>
              <a:rPr lang="en-US" altLang="ko-KR" sz="2800" u="sng" dirty="0"/>
              <a:t>--</a:t>
            </a:r>
            <a:r>
              <a:rPr lang="en-US" altLang="ko-KR" sz="2800" u="sng" dirty="0" err="1"/>
              <a:t>gameobject</a:t>
            </a:r>
            <a:r>
              <a:rPr lang="en-US" altLang="ko-KR" sz="2800" u="sng" dirty="0"/>
              <a:t>-</a:t>
            </a:r>
            <a:r>
              <a:rPr lang="ko-KR" altLang="en-US" sz="2800" u="sng" dirty="0"/>
              <a:t>배치</a:t>
            </a:r>
            <a:r>
              <a:rPr lang="en-US" altLang="ko-KR" sz="2800" u="sng" dirty="0"/>
              <a:t>--</a:t>
            </a:r>
            <a:r>
              <a:rPr lang="ko-KR" altLang="en-US" sz="2800" u="sng" dirty="0"/>
              <a:t>컴포넌트</a:t>
            </a:r>
            <a:r>
              <a:rPr lang="en-US" altLang="ko-KR" sz="2800" u="sng" dirty="0"/>
              <a:t>-</a:t>
            </a:r>
            <a:r>
              <a:rPr lang="ko-KR" altLang="en-US" sz="2800" u="sng" dirty="0"/>
              <a:t>연결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6. [UI — Canvas </a:t>
            </a:r>
            <a:r>
              <a:rPr lang="ko-KR" altLang="en-US" sz="2800" dirty="0"/>
              <a:t>계층 </a:t>
            </a:r>
            <a:r>
              <a:rPr lang="en-US" altLang="ko-KR" sz="2800" dirty="0"/>
              <a:t>&amp; </a:t>
            </a:r>
            <a:r>
              <a:rPr lang="ko-KR" altLang="en-US" sz="2800" dirty="0"/>
              <a:t>레이아웃</a:t>
            </a:r>
            <a:r>
              <a:rPr lang="en-US" altLang="ko-KR" sz="2800" dirty="0"/>
              <a:t>](</a:t>
            </a:r>
            <a:r>
              <a:rPr lang="en-US" altLang="ko-KR" sz="2800" u="sng" dirty="0"/>
              <a:t>#6-ui--canvas-</a:t>
            </a:r>
            <a:r>
              <a:rPr lang="ko-KR" altLang="en-US" sz="2800" u="sng" dirty="0"/>
              <a:t>계층</a:t>
            </a:r>
            <a:r>
              <a:rPr lang="en-US" altLang="ko-KR" sz="2800" u="sng" dirty="0"/>
              <a:t>--</a:t>
            </a:r>
            <a:r>
              <a:rPr lang="ko-KR" altLang="en-US" sz="2800" u="sng" dirty="0"/>
              <a:t>레이아웃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7. [</a:t>
            </a:r>
            <a:r>
              <a:rPr lang="ko-KR" altLang="en-US" sz="2800" dirty="0" err="1"/>
              <a:t>에셋</a:t>
            </a:r>
            <a:r>
              <a:rPr lang="ko-KR" altLang="en-US" sz="2800" dirty="0"/>
              <a:t> </a:t>
            </a:r>
            <a:r>
              <a:rPr lang="en-US" altLang="ko-KR" sz="2800" dirty="0"/>
              <a:t>— </a:t>
            </a:r>
            <a:r>
              <a:rPr lang="en-US" altLang="ko-KR" sz="2800" dirty="0" err="1"/>
              <a:t>ScriptableObject</a:t>
            </a:r>
            <a:r>
              <a:rPr lang="en-US" altLang="ko-KR" sz="2800" dirty="0"/>
              <a:t> </a:t>
            </a:r>
            <a:r>
              <a:rPr lang="ko-KR" altLang="en-US" sz="2800" dirty="0"/>
              <a:t>인스턴스 </a:t>
            </a:r>
            <a:r>
              <a:rPr lang="en-US" altLang="ko-KR" sz="2800" dirty="0"/>
              <a:t>(</a:t>
            </a:r>
            <a:r>
              <a:rPr lang="ko-KR" altLang="en-US" sz="2800" dirty="0"/>
              <a:t>데이터 입력</a:t>
            </a:r>
            <a:r>
              <a:rPr lang="en-US" altLang="ko-KR" sz="2800" dirty="0"/>
              <a:t>)](</a:t>
            </a:r>
            <a:r>
              <a:rPr lang="en-US" altLang="ko-KR" sz="2800" u="sng" dirty="0"/>
              <a:t>#7-</a:t>
            </a:r>
            <a:r>
              <a:rPr lang="ko-KR" altLang="en-US" sz="2800" u="sng" dirty="0" err="1"/>
              <a:t>에셋</a:t>
            </a:r>
            <a:r>
              <a:rPr lang="en-US" altLang="ko-KR" sz="2800" u="sng" dirty="0"/>
              <a:t>--</a:t>
            </a:r>
            <a:r>
              <a:rPr lang="en-US" altLang="ko-KR" sz="2800" u="sng" dirty="0" err="1"/>
              <a:t>scriptableobject</a:t>
            </a:r>
            <a:r>
              <a:rPr lang="en-US" altLang="ko-KR" sz="2800" u="sng" dirty="0"/>
              <a:t>-</a:t>
            </a:r>
            <a:r>
              <a:rPr lang="ko-KR" altLang="en-US" sz="2800" u="sng" dirty="0"/>
              <a:t>인스턴스</a:t>
            </a:r>
            <a:r>
              <a:rPr lang="en-US" altLang="ko-KR" sz="2800" u="sng" dirty="0"/>
              <a:t>-</a:t>
            </a:r>
            <a:r>
              <a:rPr lang="ko-KR" altLang="en-US" sz="2800" u="sng" dirty="0"/>
              <a:t>데이터</a:t>
            </a:r>
            <a:r>
              <a:rPr lang="en-US" altLang="ko-KR" sz="2800" u="sng" dirty="0"/>
              <a:t>-</a:t>
            </a:r>
            <a:r>
              <a:rPr lang="ko-KR" altLang="en-US" sz="2800" u="sng" dirty="0"/>
              <a:t>입력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8. [</a:t>
            </a:r>
            <a:r>
              <a:rPr lang="ko-KR" altLang="en-US" sz="2800" dirty="0" err="1"/>
              <a:t>에셋</a:t>
            </a:r>
            <a:r>
              <a:rPr lang="ko-KR" altLang="en-US" sz="2800" dirty="0"/>
              <a:t> </a:t>
            </a:r>
            <a:r>
              <a:rPr lang="en-US" altLang="ko-KR" sz="2800" dirty="0"/>
              <a:t>— 3D </a:t>
            </a:r>
            <a:r>
              <a:rPr lang="ko-KR" altLang="en-US" sz="2800" dirty="0"/>
              <a:t>모델 </a:t>
            </a:r>
            <a:r>
              <a:rPr lang="en-US" altLang="ko-KR" sz="2800" dirty="0"/>
              <a:t>(</a:t>
            </a:r>
            <a:r>
              <a:rPr lang="ko-KR" altLang="en-US" sz="2800" dirty="0"/>
              <a:t>캐릭터</a:t>
            </a:r>
            <a:r>
              <a:rPr lang="en-US" altLang="ko-KR" sz="2800" dirty="0"/>
              <a:t>)](</a:t>
            </a:r>
            <a:r>
              <a:rPr lang="en-US" altLang="ko-KR" sz="2800" u="sng" dirty="0"/>
              <a:t>#8-</a:t>
            </a:r>
            <a:r>
              <a:rPr lang="ko-KR" altLang="en-US" sz="2800" u="sng" dirty="0" err="1"/>
              <a:t>에셋</a:t>
            </a:r>
            <a:r>
              <a:rPr lang="en-US" altLang="ko-KR" sz="2800" u="sng" dirty="0"/>
              <a:t>--3d-</a:t>
            </a:r>
            <a:r>
              <a:rPr lang="ko-KR" altLang="en-US" sz="2800" u="sng" dirty="0"/>
              <a:t>모델</a:t>
            </a:r>
            <a:r>
              <a:rPr lang="en-US" altLang="ko-KR" sz="2800" u="sng" dirty="0"/>
              <a:t>-</a:t>
            </a:r>
            <a:r>
              <a:rPr lang="ko-KR" altLang="en-US" sz="2800" u="sng" dirty="0"/>
              <a:t>캐릭터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9. [</a:t>
            </a:r>
            <a:r>
              <a:rPr lang="ko-KR" altLang="en-US" sz="2800" dirty="0" err="1"/>
              <a:t>에셋</a:t>
            </a:r>
            <a:r>
              <a:rPr lang="ko-KR" altLang="en-US" sz="2800" dirty="0"/>
              <a:t> </a:t>
            </a:r>
            <a:r>
              <a:rPr lang="en-US" altLang="ko-KR" sz="2800" dirty="0"/>
              <a:t>— 3D </a:t>
            </a:r>
            <a:r>
              <a:rPr lang="ko-KR" altLang="en-US" sz="2800" dirty="0"/>
              <a:t>모델 </a:t>
            </a:r>
            <a:r>
              <a:rPr lang="en-US" altLang="ko-KR" sz="2800" dirty="0"/>
              <a:t>(</a:t>
            </a:r>
            <a:r>
              <a:rPr lang="ko-KR" altLang="en-US" sz="2800" dirty="0"/>
              <a:t>건물</a:t>
            </a:r>
            <a:r>
              <a:rPr lang="en-US" altLang="ko-KR" sz="2800" dirty="0"/>
              <a:t>·</a:t>
            </a:r>
            <a:r>
              <a:rPr lang="ko-KR" altLang="en-US" sz="2800" dirty="0"/>
              <a:t>환경</a:t>
            </a:r>
            <a:r>
              <a:rPr lang="en-US" altLang="ko-KR" sz="2800" dirty="0"/>
              <a:t>·</a:t>
            </a:r>
            <a:r>
              <a:rPr lang="ko-KR" altLang="en-US" sz="2800" dirty="0"/>
              <a:t>소품</a:t>
            </a:r>
            <a:r>
              <a:rPr lang="en-US" altLang="ko-KR" sz="2800" dirty="0"/>
              <a:t>)](</a:t>
            </a:r>
            <a:r>
              <a:rPr lang="en-US" altLang="ko-KR" sz="2800" u="sng" dirty="0"/>
              <a:t>#9-</a:t>
            </a:r>
            <a:r>
              <a:rPr lang="ko-KR" altLang="en-US" sz="2800" u="sng" dirty="0" err="1"/>
              <a:t>에셋</a:t>
            </a:r>
            <a:r>
              <a:rPr lang="en-US" altLang="ko-KR" sz="2800" u="sng" dirty="0"/>
              <a:t>--3d-</a:t>
            </a:r>
            <a:r>
              <a:rPr lang="ko-KR" altLang="en-US" sz="2800" u="sng" dirty="0"/>
              <a:t>모델</a:t>
            </a:r>
            <a:r>
              <a:rPr lang="en-US" altLang="ko-KR" sz="2800" u="sng" dirty="0"/>
              <a:t>-</a:t>
            </a:r>
            <a:r>
              <a:rPr lang="ko-KR" altLang="en-US" sz="2800" u="sng" dirty="0"/>
              <a:t>건물환경소품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10. [</a:t>
            </a:r>
            <a:r>
              <a:rPr lang="ko-KR" altLang="en-US" sz="2800" dirty="0" err="1"/>
              <a:t>에셋</a:t>
            </a:r>
            <a:r>
              <a:rPr lang="ko-KR" altLang="en-US" sz="2800" dirty="0"/>
              <a:t> </a:t>
            </a:r>
            <a:r>
              <a:rPr lang="en-US" altLang="ko-KR" sz="2800" dirty="0"/>
              <a:t>— UI </a:t>
            </a:r>
            <a:r>
              <a:rPr lang="ko-KR" altLang="en-US" sz="2800" dirty="0" err="1"/>
              <a:t>스프라이트</a:t>
            </a:r>
            <a:r>
              <a:rPr lang="en-US" altLang="ko-KR" sz="2800" dirty="0"/>
              <a:t>](</a:t>
            </a:r>
            <a:r>
              <a:rPr lang="en-US" altLang="ko-KR" sz="2800" u="sng" dirty="0"/>
              <a:t>#10-</a:t>
            </a:r>
            <a:r>
              <a:rPr lang="ko-KR" altLang="en-US" sz="2800" u="sng" dirty="0" err="1"/>
              <a:t>에셋</a:t>
            </a:r>
            <a:r>
              <a:rPr lang="en-US" altLang="ko-KR" sz="2800" u="sng" dirty="0"/>
              <a:t>--</a:t>
            </a:r>
            <a:r>
              <a:rPr lang="en-US" altLang="ko-KR" sz="2800" u="sng" dirty="0" err="1"/>
              <a:t>ui</a:t>
            </a:r>
            <a:r>
              <a:rPr lang="en-US" altLang="ko-KR" sz="2800" u="sng" dirty="0"/>
              <a:t>-</a:t>
            </a:r>
            <a:r>
              <a:rPr lang="ko-KR" altLang="en-US" sz="2800" u="sng" dirty="0" err="1"/>
              <a:t>스프라이트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11. [</a:t>
            </a:r>
            <a:r>
              <a:rPr lang="ko-KR" altLang="en-US" sz="2800" dirty="0" err="1"/>
              <a:t>에셋</a:t>
            </a:r>
            <a:r>
              <a:rPr lang="ko-KR" altLang="en-US" sz="2800" dirty="0"/>
              <a:t> </a:t>
            </a:r>
            <a:r>
              <a:rPr lang="en-US" altLang="ko-KR" sz="2800" dirty="0"/>
              <a:t>— </a:t>
            </a:r>
            <a:r>
              <a:rPr lang="ko-KR" altLang="en-US" sz="2800" dirty="0"/>
              <a:t>아이템 아이콘 </a:t>
            </a:r>
            <a:r>
              <a:rPr lang="en-US" altLang="ko-KR" sz="2800" dirty="0"/>
              <a:t>&amp; </a:t>
            </a:r>
            <a:r>
              <a:rPr lang="ko-KR" altLang="en-US" sz="2800" dirty="0"/>
              <a:t>오디오</a:t>
            </a:r>
            <a:r>
              <a:rPr lang="en-US" altLang="ko-KR" sz="2800" dirty="0"/>
              <a:t>](</a:t>
            </a:r>
            <a:r>
              <a:rPr lang="en-US" altLang="ko-KR" sz="2800" u="sng" dirty="0"/>
              <a:t>#11-</a:t>
            </a:r>
            <a:r>
              <a:rPr lang="ko-KR" altLang="en-US" sz="2800" u="sng" dirty="0" err="1"/>
              <a:t>에셋</a:t>
            </a:r>
            <a:r>
              <a:rPr lang="en-US" altLang="ko-KR" sz="2800" u="sng" dirty="0"/>
              <a:t>--</a:t>
            </a:r>
            <a:r>
              <a:rPr lang="ko-KR" altLang="en-US" sz="2800" u="sng" dirty="0"/>
              <a:t>아이템</a:t>
            </a:r>
            <a:r>
              <a:rPr lang="en-US" altLang="ko-KR" sz="2800" u="sng" dirty="0"/>
              <a:t>-</a:t>
            </a:r>
            <a:r>
              <a:rPr lang="ko-KR" altLang="en-US" sz="2800" u="sng" dirty="0"/>
              <a:t>아이콘</a:t>
            </a:r>
            <a:r>
              <a:rPr lang="en-US" altLang="ko-KR" sz="2800" u="sng" dirty="0"/>
              <a:t>--</a:t>
            </a:r>
            <a:r>
              <a:rPr lang="ko-KR" altLang="en-US" sz="2800" u="sng" dirty="0"/>
              <a:t>오디오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12. [</a:t>
            </a:r>
            <a:r>
              <a:rPr lang="ko-KR" altLang="en-US" sz="2800" dirty="0"/>
              <a:t>애니메이션 </a:t>
            </a:r>
            <a:r>
              <a:rPr lang="en-US" altLang="ko-KR" sz="2800" dirty="0"/>
              <a:t>— </a:t>
            </a:r>
            <a:r>
              <a:rPr lang="ko-KR" altLang="en-US" sz="2800" dirty="0"/>
              <a:t>클립 </a:t>
            </a:r>
            <a:r>
              <a:rPr lang="en-US" altLang="ko-KR" sz="2800" dirty="0"/>
              <a:t>&amp; </a:t>
            </a:r>
            <a:r>
              <a:rPr lang="ko-KR" altLang="en-US" sz="2800" dirty="0"/>
              <a:t>컨트롤러</a:t>
            </a:r>
            <a:r>
              <a:rPr lang="en-US" altLang="ko-KR" sz="2800" dirty="0"/>
              <a:t>](</a:t>
            </a:r>
            <a:r>
              <a:rPr lang="en-US" altLang="ko-KR" sz="2800" u="sng" dirty="0"/>
              <a:t>#12-</a:t>
            </a:r>
            <a:r>
              <a:rPr lang="ko-KR" altLang="en-US" sz="2800" u="sng" dirty="0"/>
              <a:t>애니메이션</a:t>
            </a:r>
            <a:r>
              <a:rPr lang="en-US" altLang="ko-KR" sz="2800" u="sng" dirty="0"/>
              <a:t>--</a:t>
            </a:r>
            <a:r>
              <a:rPr lang="ko-KR" altLang="en-US" sz="2800" u="sng" dirty="0"/>
              <a:t>클립</a:t>
            </a:r>
            <a:r>
              <a:rPr lang="en-US" altLang="ko-KR" sz="2800" u="sng" dirty="0"/>
              <a:t>--</a:t>
            </a:r>
            <a:r>
              <a:rPr lang="ko-KR" altLang="en-US" sz="2800" u="sng" dirty="0"/>
              <a:t>컨트롤러</a:t>
            </a:r>
            <a:r>
              <a:rPr lang="en-US" altLang="ko-KR" sz="2800" dirty="0"/>
              <a:t>)</a:t>
            </a:r>
          </a:p>
        </p:txBody>
      </p:sp>
      <p:sp>
        <p:nvSpPr>
          <p:cNvPr id="5" name="Google Shape;124;p16">
            <a:extLst>
              <a:ext uri="{FF2B5EF4-FFF2-40B4-BE49-F238E27FC236}">
                <a16:creationId xmlns:a16="http://schemas.microsoft.com/office/drawing/2014/main" id="{B9736634-D50C-401F-0566-BC598D26DE12}"/>
              </a:ext>
            </a:extLst>
          </p:cNvPr>
          <p:cNvSpPr/>
          <p:nvPr/>
        </p:nvSpPr>
        <p:spPr>
          <a:xfrm>
            <a:off x="871538" y="1440581"/>
            <a:ext cx="114300" cy="822870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sp>
        <p:nvSpPr>
          <p:cNvPr id="6" name="Google Shape;123;p16">
            <a:extLst>
              <a:ext uri="{FF2B5EF4-FFF2-40B4-BE49-F238E27FC236}">
                <a16:creationId xmlns:a16="http://schemas.microsoft.com/office/drawing/2014/main" id="{8510BC0A-24A3-28DC-B361-8703B4095B54}"/>
              </a:ext>
            </a:extLst>
          </p:cNvPr>
          <p:cNvSpPr txBox="1"/>
          <p:nvPr/>
        </p:nvSpPr>
        <p:spPr>
          <a:xfrm>
            <a:off x="1214438" y="1409700"/>
            <a:ext cx="17012126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상세 기능 명세서</a:t>
            </a:r>
            <a:endParaRPr lang="en-US" altLang="ko-KR" sz="5400" b="1" dirty="0">
              <a:solidFill>
                <a:srgbClr val="15704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5885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</TotalTime>
  <Words>1632</Words>
  <Application>Microsoft Office PowerPoint</Application>
  <PresentationFormat>사용자 지정</PresentationFormat>
  <Paragraphs>306</Paragraphs>
  <Slides>10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GangwonEduPower</vt:lpstr>
      <vt:lpstr>Pretendard</vt:lpstr>
      <vt:lpstr>Arial</vt:lpstr>
      <vt:lpstr>맑은 고딕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신동준</dc:creator>
  <cp:lastModifiedBy>동준 신</cp:lastModifiedBy>
  <cp:revision>17</cp:revision>
  <cp:lastPrinted>2026-04-07T02:39:34Z</cp:lastPrinted>
  <dcterms:created xsi:type="dcterms:W3CDTF">2006-08-16T00:00:00Z</dcterms:created>
  <dcterms:modified xsi:type="dcterms:W3CDTF">2026-04-28T04:29:21Z</dcterms:modified>
</cp:coreProperties>
</file>